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 ·  NAIROBI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Locally-led funding, at network speed.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products. Four live tenants. Built for the Global South, by the Global South.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 ·  July 2026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aid system has been rebuilt in real time.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that define the next decade of locally-led funding.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−23.1%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54864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ODA real-terms decline in 2025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annual decline ever recorded. Germany overtook the US as the #1 donor.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8000" dirty="0"/>
          </a:p>
        </p:txBody>
      </p:sp>
      <p:sp>
        <p:nvSpPr>
          <p:cNvPr id="13" name="Shape 11"/>
          <p:cNvSpPr/>
          <p:nvPr/>
        </p:nvSpPr>
        <p:spPr>
          <a:xfrm>
            <a:off x="4338218" y="4754880"/>
            <a:ext cx="548640" cy="228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USAID programs terminated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8218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5,341 contracts cancelled · $75.9B in program value · USAID closed July 2025.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$32B</a:t>
            </a:r>
            <a:endParaRPr lang="en-US" sz="8000" dirty="0"/>
          </a:p>
        </p:txBody>
      </p:sp>
      <p:sp>
        <p:nvSpPr>
          <p:cNvPr id="17" name="Shape 15"/>
          <p:cNvSpPr/>
          <p:nvPr/>
        </p:nvSpPr>
        <p:spPr>
          <a:xfrm>
            <a:off x="8036357" y="4754880"/>
            <a:ext cx="54864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 foreign aid 2025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36357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~$68B in 2024. Bilateral cuts of 33–56% across UK, Sweden, Canada.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Apr 2026 · Donor Tracker · Reuters · House of Commons Library CBP-10243 · CBC News.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 has failed.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pledges. The numbers have not moved.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5272888" cy="283464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100584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Bargain target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funding to local &amp; national actors. Signed by 60+ donors in 2016.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8728" y="3108960"/>
            <a:ext cx="5272888" cy="283464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44488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13000" dirty="0"/>
          </a:p>
        </p:txBody>
      </p:sp>
      <p:sp>
        <p:nvSpPr>
          <p:cNvPr id="16" name="Text 14"/>
          <p:cNvSpPr/>
          <p:nvPr/>
        </p:nvSpPr>
        <p:spPr>
          <a:xfrm>
            <a:off x="6644488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direct funding in 2024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4488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roughly one-third from 2023 as international actors deprioritized localization.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Development Initiatives — Falling Short: Funding to LNAs (2025); ALNAP GHA Report 2025.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is the operating system for locally-led funding.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371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927480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AI-native platform. Three integrated products. Shared customer record, shared Trust Profile, shared AI memory, shared audit chain.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166360"/>
            <a:ext cx="927480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Global South, FOR the Global South. Adeso runs its own operations on it today.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products. One flywheel.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sells the next. The integration is the value — not the sum of the parts.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457200" cy="365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33628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trust. NGOs build a networked profile with a verified Trust Profile; donors find good-fit organizations with AI-grounded recommendations. Creates the supply of trusted orgs.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760720"/>
            <a:ext cx="3454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961888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· paid Trust Profile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68698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3429000"/>
            <a:ext cx="4572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8698" y="356616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68698" y="4160520"/>
            <a:ext cx="33628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lifecycle. AI-grounded scoring, six-language reporting, hash-anchored audit trail. 35+ AI surfaces in production. Monetizes the funding relationship.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68698" y="5760720"/>
            <a:ext cx="3454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68698" y="5961888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by org type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7317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7317" y="3429000"/>
            <a:ext cx="457200" cy="36576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7317" y="356616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097317" y="4160520"/>
            <a:ext cx="33628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procurement backbone. The ledger feeds grant compliance reporting automatically and live operations data updates the Trust Profile — donors never have to adopt it.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97317" y="5760720"/>
            <a:ext cx="3454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97317" y="5961888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Donor-sponsored primary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77900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  ·  Trust Profile  ·  Audit chain  ·  Customer record  ·  Identity  ·  Six-language parity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  ·  KUJA GRANT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grant lifecycle, AI-grounded.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designs. NGO applies. Reviewers score. Reports are evaluated. Every step grounded with citations.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configures rubrics, criteria, eligibility — wizard-driven.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applies with AI co-author drafting from their own profile.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4526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4526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panels score per criterion with evidence citations.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5029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Hard-gated rules enforced at submit. Audit-anchored decisions.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5532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77440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AI-evaluated against agreement; per-requirement structured signals.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4967935" cy="32918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383280"/>
            <a:ext cx="4419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749040"/>
            <a:ext cx="44192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9000" dirty="0"/>
          </a:p>
        </p:txBody>
      </p:sp>
      <p:sp>
        <p:nvSpPr>
          <p:cNvPr id="27" name="Text 25"/>
          <p:cNvSpPr/>
          <p:nvPr/>
        </p:nvSpPr>
        <p:spPr>
          <a:xfrm>
            <a:off x="6949440" y="4937760"/>
            <a:ext cx="4419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539496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5532120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Voice-to-report  ·  Photo-as-evidence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5733288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scoring with citations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5934456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6135624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54/54 prod regression  ·  19/19 UAT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·  TRUST SPECTRUM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engine. The full trust spectrum.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tenants on the same codebase — the flavor changes how trust is established, never the engine.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2556434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2556434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82112"/>
            <a:ext cx="2190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MARKETPLACE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56432"/>
            <a:ext cx="21906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·  DOCUMENT TRUST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3730752"/>
            <a:ext cx="219067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NGO registers. Trust Profile, AI rubric scoring and automated compliance screening do the vetting.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AI surfaces, six languages.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25114" y="3017520"/>
            <a:ext cx="2556434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5114" y="3017520"/>
            <a:ext cx="2556434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7994" y="3182112"/>
            <a:ext cx="2190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NETWORK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07994" y="3456432"/>
            <a:ext cx="21906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 ·  FORMAL VETTING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07994" y="3730752"/>
            <a:ext cx="219067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vetted at the gate: capacity assessment, multi-sig emergency declarations, pooled funds and windows.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07994" y="493776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network funding.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0148" y="3017520"/>
            <a:ext cx="2556434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0148" y="3017520"/>
            <a:ext cx="2556434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3028" y="3182112"/>
            <a:ext cx="2190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FUND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93028" y="3456432"/>
            <a:ext cx="21906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 ·  RELATIONAL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93028" y="3730752"/>
            <a:ext cx="219067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Sudan, live. Community endorsers vouch where no registry exists. Arabic-first, zero-login voice reporting, hawala + mobile money.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93028" y="493776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paperwork-first systems fail.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95181" y="3017520"/>
            <a:ext cx="2556434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95181" y="3017520"/>
            <a:ext cx="2556434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8061" y="3182112"/>
            <a:ext cx="2190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SAXANSAXO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78061" y="3456432"/>
            <a:ext cx="21906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 ·  SCLR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178061" y="3730752"/>
            <a:ext cx="219067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Somalia, live. Survivor and community-led micro-grants: groups write their own proposals in Somali on any phone; a visible 10-day clock to money in hand.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78061" y="493776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community. Record the story.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5577840"/>
            <a:ext cx="10911535" cy="6858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669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DONOR-COMPLIANCE LOOP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1920" y="5650992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signed donor agreement → AI extracts obligations → restrictions enforced at disbursement → reports scored per requirement → one-click donor pack. Adeso complies with its own institutional funders on the engine it sells.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·  CLIENT PROOF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clients. Two opposite SOPs. One engine.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demanded MORE control than any incumbent offers. Saxansaxo demanded LESS. Kuja Grant runs both — configured, not forked.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5295748" cy="251460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54864" cy="2514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08960"/>
            <a:ext cx="4747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FUND — SUDAN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392424"/>
            <a:ext cx="47471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COMPLIANCE-STRICT  ·  ACTIVE CONFLICT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3685032"/>
            <a:ext cx="47471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endorsement replaces registry paperwork — neighbors vouch, reputation is scored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Multi-signature co-sign ladder scales approvals with disbursement size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Hawala + mobile money as first-class payment rails, with Plan-B fallback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report by phone: zero-login token link, voice notes in Arabic, photos as evidence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compiles donor reports in English AND Arabic; hash-chained audit trail on every decision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5868" y="2971800"/>
            <a:ext cx="5295748" cy="251460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2971800"/>
            <a:ext cx="54864" cy="2514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0188" y="3108960"/>
            <a:ext cx="4747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SAXANSAXO — SOMALIA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0188" y="3392424"/>
            <a:ext cx="47471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LIGHT  ·  SCLR DOCTRINE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30188" y="3685032"/>
            <a:ext cx="47471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Eight-step survivor and community-led cycle: permission from elders first, always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write their OWN proposals in Somali — a shareable link, no login, any phone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10-day clock from selection to money in hand — the one metric that matters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receipts, no spend policing by design — the system records decisions, not suspicion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Political-interference pause register: when officials push, withdrawal is principled and on the record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5623560"/>
            <a:ext cx="10911535" cy="658368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70585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GLOBAL SOUTH, BY THE GLOBAL SOUTH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5687568"/>
            <a:ext cx="6065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 in active conflict. Somalia’s hardest-to-reach districts. Where connectivity, registries and banking cannot be assumed — the system still delivers. That is the barrier Kuja exists to remove.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3  ·  KUJA ERP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Standalone backbone. Integrated upgrade.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NGO each choose. Both paths are AI-driven. ERP makes the financial data real-time.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AI  (no ERP)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84568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Kuja ERP  (integrated)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NGO submissions, per criterion, with citations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84568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 — real-time burn rate &amp; variance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4640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point-in-time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4568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 spend events flow 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34640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84568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every spend event, at the moment of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49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 flags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reports come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84568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day a line crosses threshold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— the wedge no competitor has. </a:t>
            </a:r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NGO owns its tenant; donors get a role-aware cross-tenant view of the grant-scoped spend across their funded grantees.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pillars. One tamper-evident chain.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funder asks the same question: how do I know? The answer is a URL.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Registration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African registries pre-mapped. AI-confidence score on the verification.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8218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38218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OpenSanctions live, UN/OFAC/EU fallback. Re-screened on cadence.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36357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Adverse Media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36357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24-month lookback. Per-finding source citations.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Verification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+ IBAN + microdeposit. Country-specific where the rail exists.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38218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8218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8218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of Interest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38218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per signature step. Audit-anchored. OB recusal flow.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36357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36357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36357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Assessment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36357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5-framework. Reusable. Publishable as a tamper-evident Trust Passport.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96188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chain.  </a:t>
            </a:r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governance action links to the previous one. Tamper an entry — every row after breaks.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barely use AI. The window is open.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foundations NOT using AI to screen applications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29658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1000" dirty="0"/>
          </a:p>
        </p:txBody>
      </p:sp>
      <p:sp>
        <p:nvSpPr>
          <p:cNvPr id="10" name="Shape 8"/>
          <p:cNvSpPr/>
          <p:nvPr/>
        </p:nvSpPr>
        <p:spPr>
          <a:xfrm>
            <a:off x="4429658" y="4892040"/>
            <a:ext cx="36576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9658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funders would accept AI-generated proposal content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19237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11000" dirty="0"/>
          </a:p>
        </p:txBody>
      </p:sp>
      <p:sp>
        <p:nvSpPr>
          <p:cNvPr id="13" name="Shape 11"/>
          <p:cNvSpPr/>
          <p:nvPr/>
        </p:nvSpPr>
        <p:spPr>
          <a:xfrm>
            <a:off x="8219237" y="4892040"/>
            <a:ext cx="365760" cy="228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9237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African languages unsupported by mainstream LLMs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bolting AI onto rigid data models. Kuja was built AI-native from day 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Virtuous + Fundraising.AI 2026 · Candid 2024 · Plinth 2025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$35–40B funding gap meets a 150,000-NGO market.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buyer. The funding shock is the demand signal.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454298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478K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Form 990 filers (Candid)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897K active CSOs in Brazil (IPEA 2024)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187K NGOs on Darpan India (2023)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bands (country-level budgets): medium $2–10M and large $10–20M CSOs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3017520"/>
            <a:ext cx="3454298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3018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3018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15K–35K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4643018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3018" y="48920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applied: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3018" y="51206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(Africa, MENA, Asia-Pacific, LatAm)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3018" y="53492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Grant-making or grant-receiving at scale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3018" y="55778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spend OR donor sponsorship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7317" y="3017520"/>
            <a:ext cx="3454298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1637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MARKET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71637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$2.6B→$4.2B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371637" y="44805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management software, 2025 → 2030 (Mordor Intelligence)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71637" y="480060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1637" y="49377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2030 target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71637" y="521208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$8.9M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371637" y="5715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needed: &lt;0.5%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all five — and the platform incumbents would need to rewrite their data models to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one customer record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 in module 4 auto-updates the obligation tracker in module 5, surfaces in module 9, rolls into module 10. Stitched stack does none of this without paid integrations.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7288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7368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not AI-bolted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27368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INSIDE every module — extraction, summarization, drafting, evaluation. Incumbents (Submittable, Salesforce Einstein, Bonterra) layer AI onto data models built before the AI era.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South-built, six languages parity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FR, AR, SW, SO, ES at the workflow level. Seven African registries pre-mapped. Donor-compliance regimes encoded. Mobile-first.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7288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7368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Adeso runs on it today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27368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user guide is something we operate — not a roadmap. The company building the platform depends on the platform.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+ Advisory together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596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commercial offering that sells the SaaS plus the deployment-and-adoption service as one motion. Buyers don't coordinate six vendors plus a consultant.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motions. One flywheel.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builds both sides of the marketplace. Grant monetizes. White-label tenants are live today. Trust licensing is exploratory.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2036003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NGOs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+ large CSOs and networks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→ paid Trust Profile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Low-touch, near-passive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58963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8963" y="2926080"/>
            <a:ext cx="2036003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1843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41843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41843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donors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041843" y="425196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1843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41843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and intermediaries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41843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41843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portfolio discovery + full trust 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1843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41843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77846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7846" y="2926080"/>
            <a:ext cx="2036003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60726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60726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60726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Grant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260726" y="425196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60726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60726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and re-granting funds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60726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60726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C1–C4 ladder: Grant, then ERP sponsorship or subscription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60726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60726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$25K–$50K pilot entry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96729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96729" y="2926080"/>
            <a:ext cx="2036003" cy="5029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79609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79609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4 TENANTS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79609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479609" y="4251960"/>
            <a:ext cx="365760" cy="1828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79609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79609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INGOs, BPO and fiscal sponsors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79609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79609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D1–D3: closed tenant, + Grant, + ERP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79609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79609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$200K+ Year 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515612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15612" y="2926080"/>
            <a:ext cx="2036003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98492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698492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698492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Profile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licensing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698492" y="425196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98492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698492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Due-diligence providers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698492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698492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to the Trust Profile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698492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698492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feasibility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with a pilot. Expand along the ladder.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 or re-granting intermediary is the paying customer. Price points are pilot-validation targets, not commitments.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$25K–$50K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 entry: 90-day Grant pilot — one funding round live end-to-end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218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01752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2538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2538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$50K–$150K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12538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2538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annual subscription + ERP sponsorship for a first grantee cohort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01752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10677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$100K–$250K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310677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10677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C4 ladder: Grant + ERP for the customer + sponsored grantees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10911535" cy="5486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donor LTV target: $175K–$450K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tenants (Motion D): $200K+ Year 1  ·  </a:t>
            </a:r>
            <a:pPr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 points subject to willingness-to-pay validation during pilots.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Conservative: $5.6M by 2029. Break-even H2 2029.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land-and-expand as the primary motion. White-label tenants and Marketplace freemium as compounding layers.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3063240"/>
            <a:ext cx="48903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40543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3685032"/>
            <a:ext cx="66019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1830" y="3639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$810K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611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4306824"/>
            <a:ext cx="2037622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9262" y="42611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828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4928616"/>
            <a:ext cx="4564274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5914" y="4882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04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54480" y="5550408"/>
            <a:ext cx="7253935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45575" y="5504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39935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39935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39935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(ambitious)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39935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39935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(conservative)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39935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39935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on ~$9M ARR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Ambitious: $1.6M in 2027, $9.5M in 2029, $14M in 2030. Re-based on the three-product focus; subject to pilot pricing validation.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ADESO / 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Production-deployed today. Adeso runs on it.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we ship at a pace incumbents cannot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5029200" cy="34747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00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 COVERAGE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67/67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health probes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05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surfaces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09067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92608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runs its own operations, grants, and donor compliance on the Kuja engine. We are not selling theory.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3657600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493008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co-founded NEAR in 2016. NEAR is the reference architecture for the Networks motion.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4224528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059936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parity. Seven country registries pre-mapped. Mobile-first.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4791456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626864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 is integral — not bolted on. Competitors would rewrite their data model to match.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89320" y="5358384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5193792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deploys. 100+ commits in the last sprint.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592531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76072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the truth about risks. NEAR_BACKLOG.md is the open gap list.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MATRIX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has the combination.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capabilities verified absent across seven leading grant management systems — Submittable, Foundant (now incl. SmartSimple), Fluxx, Salesforce Grantmaking, Blackbaud, GivingData. Detail in the Kuja Grant Market Analysis.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6369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78347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(+SmartS.)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93001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0765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2308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36962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88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Closed-network governance + multi-sig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369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78347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93001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0765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2308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36962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127248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1729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report evaluation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369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78347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93001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0765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2308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36962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3511296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55701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 for NGOs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6369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78347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93001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0765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322308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436962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3895344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39410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voice / photo accessibility stack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6369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78347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93001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20765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322308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436962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" y="4279392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4325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workflow parity (incl. Somali)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86369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978347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093001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20765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322308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436962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40080" y="4663440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4709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86369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978347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093001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20765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322308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0436962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40080" y="5047488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" y="5093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registry verification (7 countries)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486369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978347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7093001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820765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9322308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10436962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40080" y="5431536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54772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ERP for real-time donor visibility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486369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5978347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7093001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20765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9322308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10436962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6400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C59"/>
                </a:solidFill>
              </a:rPr>
              <a:t>●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86868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5544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</a:rPr>
              <a:t>◐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1783080" y="59801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limited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324612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4BE"/>
                </a:solidFill>
              </a:rPr>
              <a:t>○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347472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297680" y="5980176"/>
            <a:ext cx="72539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June 2026. Acknowledged precedents: Glific, Turn.io (WhatsApp middleware); Kobo + CLEAR Global (voice); CommCare (mobile). None do grant lifecycle.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 depends on who you are.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3152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run a network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to walk you through our architecture. Then a 6-week tenant pilot.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fund the Global South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90-day Grant Pilot ($25K–$50K). Expand to ERP sponsorship for your grantees.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73152" cy="6858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Global South CSO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Marketplace free. Build your Trust Profile. Get discovered by good-fit donors.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73152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growth-stage funder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44068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$1.5M–$2.5M over 18 months. Break-even H2 2029; profitable 2030 on ~$9M ARR (Conservative).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11535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kuja@adeso.org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65215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— Locally-led funding, at network speed</dc:title>
  <dc:subject>Professional Pitch Deck V12 — July 2026</dc:subject>
  <dc:creator>PptxGenJS</dc:creator>
  <cp:lastModifiedBy>PptxGenJS</cp:lastModifiedBy>
  <cp:revision>1</cp:revision>
  <dcterms:created xsi:type="dcterms:W3CDTF">2026-08-10T01:03:14Z</dcterms:created>
  <dcterms:modified xsi:type="dcterms:W3CDTF">2026-08-10T01:03:14Z</dcterms:modified>
</cp:coreProperties>
</file>