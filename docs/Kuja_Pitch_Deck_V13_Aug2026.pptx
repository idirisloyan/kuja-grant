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 ·   NAIROBI, KENYA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locally-led funding.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Four products.  </a:t>
            </a:r>
            <a:pPr indent="0" marL="0">
              <a:buNone/>
            </a:pPr>
            <a:r>
              <a:rPr lang="en-US" sz="18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 ·  Built by the Global South, for the Global South  ·  Production-deployed across four live tenants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10424160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2026–2028  ·  V13  ·  August 2026  ·  Confidential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11135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was dismantled and rebuilt in twenty-four months.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funding shock in modern history — and the demand signal for infrastructure that does more with less.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−23.1%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fall,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annual decline on record. Germany overtook the US as the #1 DAC donor. Less money is chasing the same need.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9010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$75.9B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9010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program value terminated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9010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USAID programs cancelled; the agency was closed on 1 July 2025. US foreign aid fell to ~$32B from ~$68B in 2024.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331720"/>
            <a:ext cx="354573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9069" y="258775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99069" y="352044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reaching local actors, 2024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9069" y="42245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25% Grand Bargain target signed by 60+ donors in 2016. The gap is no longer political will — it is usable, trusted infrastructure.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6692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(Apr 2026) · Reuters / Donor Tracker (2025) · ALNAP GHA Report (2025).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infrastructure exists, the money already flows.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make this a one-time architectural opening for an AI-native, Global-Majority-built platform.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5576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30632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87752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IS AN INFRASTRUCTURE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90088"/>
            <a:ext cx="4815688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22.8% → 34%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Local-NGO share of OCHA Country-Based Pooled Funds, 2016 → 2021. Where a governed system exists, local delivery more than holds. The diagnosis shifted from “more political will” to “infrastructure local actors can use, that donors will trust.”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5455768" cy="3063240"/>
          </a:xfrm>
          <a:prstGeom prst="roundRect">
            <a:avLst>
              <a:gd name="adj" fmla="val 2687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3008" y="2331720"/>
            <a:ext cx="82296" cy="306324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2587752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GREENFIELD ON THE FUNDER SIDE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3048" y="2990088"/>
            <a:ext cx="4815688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do not use AI to screen applications, and only 1 in 10 funders would accept AI-generated proposal content. Legacy vendors bolt AI onto rigid data models; none ships per-claim provenance. Kuja is AI-native and grounds every output in the customer’s own data.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OCHA CBPF data · Candid (2024) · Fundraising.AI (2026).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00200" y="3017520"/>
            <a:ext cx="899129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platform, sold as four products that sell each other. </a:t>
            </a:r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one customer record, one Trust Profile, one AI memory, and one audit chain</a:t>
            </a:r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a feature shipped for one customer reaches every customer on the next deploy.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43788" y="4434840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271A11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3788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92628" y="44348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95548" y="4434840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271A11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5548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44388" y="44348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47308" y="4434840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271A11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7308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96148" y="44348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99068" y="4434840"/>
            <a:ext cx="2148840" cy="658368"/>
          </a:xfrm>
          <a:prstGeom prst="roundRect">
            <a:avLst>
              <a:gd name="adj" fmla="val 50000"/>
            </a:avLst>
          </a:prstGeom>
          <a:solidFill>
            <a:srgbClr val="271A11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9068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54406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operations, grants and donor compliance on Kuja today.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products. One trust loop.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lands on its own and makes the next more valuable. No competitor owns the full loop from discovery to verification to funding to operations.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604440" cy="278892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78892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2448992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31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1781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LINK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80944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the front door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547872"/>
            <a:ext cx="21015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messaging, forums, resources and free grant listings. Builds the pool of trusted organizations.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599432"/>
            <a:ext cx="2055800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6344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 </a:t>
            </a:r>
            <a:pPr indent="0" marL="0">
              <a:buNone/>
            </a:pPr>
            <a:r>
              <a:rPr lang="en-US" sz="9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63392" y="2377440"/>
            <a:ext cx="2604440" cy="278892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3392" y="2377440"/>
            <a:ext cx="82296" cy="278892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9464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31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37712" y="2633472"/>
            <a:ext cx="1781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TRUST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7712" y="2980944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portable Trust Passport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37712" y="3547872"/>
            <a:ext cx="21015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due diligence &amp; capacity that travels with the NGO to any donor. Kuja’s central asset — and licensable.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37712" y="4599432"/>
            <a:ext cx="2055800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7712" y="466344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 </a:t>
            </a:r>
            <a:pPr indent="0" marL="0">
              <a:buNone/>
            </a:pPr>
            <a:r>
              <a:rPr lang="en-US" sz="9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/ sponsor · DD-licensable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23864" y="2377440"/>
            <a:ext cx="2604440" cy="278892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3864" y="2377440"/>
            <a:ext cx="82296" cy="278892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4" name="Text 22"/>
          <p:cNvSpPr/>
          <p:nvPr/>
        </p:nvSpPr>
        <p:spPr>
          <a:xfrm>
            <a:off x="8169935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31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8184" y="2633472"/>
            <a:ext cx="1781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8184" y="2980944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8184" y="3547872"/>
            <a:ext cx="21015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apply, review, award, monitor, report, comply. AI-graded, evidence-cited, six languages.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8184" y="4599432"/>
            <a:ext cx="2055800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8184" y="466344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 </a:t>
            </a:r>
            <a:pPr indent="0" marL="0">
              <a:buNone/>
            </a:pPr>
            <a:r>
              <a:rPr lang="en-US" sz="9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funder — NGOs never pay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84335" y="2377440"/>
            <a:ext cx="2604440" cy="2788920"/>
          </a:xfrm>
          <a:prstGeom prst="roundRect">
            <a:avLst>
              <a:gd name="adj" fmla="val 316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84335" y="2377440"/>
            <a:ext cx="82296" cy="278892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11030407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31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358655" y="2633472"/>
            <a:ext cx="1781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58655" y="2980944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nonprofit operating system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58655" y="3547872"/>
            <a:ext cx="21015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finance, procurement &amp; HR plus governance, grants-compliance and M&amp;E modules. Feeds Trust + Fund by API.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58655" y="4599432"/>
            <a:ext cx="2055800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8655" y="466344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 </a:t>
            </a:r>
            <a:pPr indent="0" marL="0">
              <a:buNone/>
            </a:pPr>
            <a:r>
              <a:rPr lang="en-US" sz="9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direct or donor-sponsored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5367528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21130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67528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SUBSTRATE   </a:t>
            </a:r>
            <a:pPr algn="l"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  ·  AI memory  ·  Audit chain  ·  Customer record  ·  Six-language parity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· KUJA 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product. Six pillars, one tamper-evident chain.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 — “how do I know?” The answer is a URL. Verified once, the passport travels to every donor.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560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78608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999232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pre-mapped, with an AI-confidence score.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6882" y="2377440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6882" y="2377440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2560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39842" y="2578608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&amp; PEP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914" y="2999232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live; UN / OFAC / EU fallback. Re-screened on cadence.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0845" y="2377440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845" y="2377440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6877" y="2560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53805" y="2578608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6877" y="2999232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24-month lookback with per-finding source citations.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77056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4059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078224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" y="4498848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microdeposit, country-specific where the rail exists.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16882" y="3877056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6882" y="3877056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914" y="4059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39842" y="4078224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914" y="4498848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 recusal flow.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0845" y="3877056"/>
            <a:ext cx="3557930" cy="1280160"/>
          </a:xfrm>
          <a:prstGeom prst="roundRect">
            <a:avLst>
              <a:gd name="adj" fmla="val 6429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0845" y="3877056"/>
            <a:ext cx="82296" cy="1280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33" name="Text 31"/>
          <p:cNvSpPr/>
          <p:nvPr/>
        </p:nvSpPr>
        <p:spPr>
          <a:xfrm>
            <a:off x="8386877" y="40599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53805" y="4078224"/>
            <a:ext cx="250637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6877" y="4498848"/>
            <a:ext cx="305501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Five-framework, reusable, publishable as a portable passport.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56235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and every row after it breaks. Because Trust is a discrete asset, it can also be licensed to third-party due-diligence providers.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TRUST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· KUJA FUND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 against the agreement. Every step cites its evidence.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061606" cy="1874520"/>
          </a:xfrm>
          <a:prstGeom prst="roundRect">
            <a:avLst>
              <a:gd name="adj" fmla="val 439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615184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218688"/>
            <a:ext cx="160440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3566160"/>
            <a:ext cx="160440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 &amp; eligibility in a wizard.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46238" y="237744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83982" y="2377440"/>
            <a:ext cx="2061606" cy="1874520"/>
          </a:xfrm>
          <a:prstGeom prst="roundRect">
            <a:avLst>
              <a:gd name="adj" fmla="val 439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0014" y="2615184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3040014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40014" y="3218688"/>
            <a:ext cx="160440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40014" y="3566160"/>
            <a:ext cx="160440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an AI co-author — by voice or photo where typing is a barrier.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7300" y="237744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65044" y="2377440"/>
            <a:ext cx="2061606" cy="1874520"/>
          </a:xfrm>
          <a:prstGeom prst="roundRect">
            <a:avLst>
              <a:gd name="adj" fmla="val 439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1076" y="2615184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076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076" y="3218688"/>
            <a:ext cx="160440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21076" y="3566160"/>
            <a:ext cx="160440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anonymous panels score per criterion with citations.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08363" y="237744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46107" y="2377440"/>
            <a:ext cx="2061606" cy="1874520"/>
          </a:xfrm>
          <a:prstGeom prst="roundRect">
            <a:avLst>
              <a:gd name="adj" fmla="val 439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2139" y="2615184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7602139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02139" y="3218688"/>
            <a:ext cx="160440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02139" y="3566160"/>
            <a:ext cx="160440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89425" y="2377440"/>
            <a:ext cx="21945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627169" y="2377440"/>
            <a:ext cx="2061606" cy="1874520"/>
          </a:xfrm>
          <a:prstGeom prst="roundRect">
            <a:avLst>
              <a:gd name="adj" fmla="val 4390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83201" y="2615184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2" name="Text 30"/>
          <p:cNvSpPr/>
          <p:nvPr/>
        </p:nvSpPr>
        <p:spPr>
          <a:xfrm>
            <a:off x="9883201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83201" y="3218688"/>
            <a:ext cx="160440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83201" y="3566160"/>
            <a:ext cx="160440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the agreement, per requirement.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507992"/>
            <a:ext cx="11185855" cy="1234440"/>
          </a:xfrm>
          <a:prstGeom prst="roundRect">
            <a:avLst>
              <a:gd name="adj" fmla="val 7407"/>
            </a:avLst>
          </a:prstGeom>
          <a:solidFill>
            <a:srgbClr val="211308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709160"/>
            <a:ext cx="243070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77240" y="5257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73704" y="4709160"/>
            <a:ext cx="243070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573704" y="5257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at platform parity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9384" y="4736592"/>
            <a:ext cx="0" cy="77724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0168" y="4709160"/>
            <a:ext cx="243070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+ Photo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370168" y="5257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primary evidence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95848" y="4736592"/>
            <a:ext cx="0" cy="77724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66631" y="4709160"/>
            <a:ext cx="243070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166631" y="5257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regression · 19/19 UAT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92311" y="4736592"/>
            <a:ext cx="0" cy="77724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never pay to apply or report — the funder posting the grant is the customer. Every application and report writes back into the Trust Profile.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FOUR LIVE TENANTS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tenants on the same codebase — the flavour changes how trust is established, never the engine.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2147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DOCUMENT TRUST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registers; Trust Profile, AI rubric scoring and automated screening do the vetting.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3392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3392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E8B0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7712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7712" y="3044952"/>
            <a:ext cx="2147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· FORMAL VETTING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37712" y="3538728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vetted at the gate: capacity assessment, multi-sig emergency declarations, pooled funds &amp; windows.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3864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864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8184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8184" y="3044952"/>
            <a:ext cx="2147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· RELATIONAL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8184" y="3538728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live. Community endorsers vouch where no registry exists. Arabic-first, zero-login voice reporting, hawala + mobile money.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84335" y="2331720"/>
            <a:ext cx="2604440" cy="2423160"/>
          </a:xfrm>
          <a:prstGeom prst="roundRect">
            <a:avLst>
              <a:gd name="adj" fmla="val 339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4335" y="233172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9358655" y="2587752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SAXANSAXO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58655" y="3044952"/>
            <a:ext cx="2147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· SCLR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58655" y="3538728"/>
            <a:ext cx="2101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live. Groups write their own proposals in Somali on any phone; a visible 10-day clock to money in hand.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956048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21130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65776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TENANTS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clients. Two opposite playbooks. One engine.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demanded MORE control than any incumbent offers. Saxansaxo demanded LESS. Kuja runs both — configured, not forked.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55768" cy="3200400"/>
          </a:xfrm>
          <a:prstGeom prst="roundRect">
            <a:avLst>
              <a:gd name="adj" fmla="val 2571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320040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569464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 — SUDAN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16936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COMPLIANCE-STRICT · ACTIVE CONFLICT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3300984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endorsement replaces registry paperwork — neighbours vouch; reputation is scored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co-sign ladder scales approvals with disbursement size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rails, with Plan-B fallback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phone: zero-login token link, voice notes in Arabic, photos as evidence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compiles donor reports in English AND Arabic; hash-chained audit on every decision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331720"/>
            <a:ext cx="5455768" cy="3200400"/>
          </a:xfrm>
          <a:prstGeom prst="roundRect">
            <a:avLst>
              <a:gd name="adj" fmla="val 2571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2331720"/>
            <a:ext cx="82296" cy="320040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525616" y="2569464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— SOMALIA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5616" y="2916936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 · SCLR DOCTRINE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5616" y="3300984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Eight-step survivor- and community-led cycle: permission from elders first, always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write their OWN proposals in Somali — a shareable link, no login, any phone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10-day clock from selection to money in hand — the one metric that matters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receipts, no spend policing by design — record decisions, not suspicion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Political-interference pause register: when officials push, withdrawal is on the record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57150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 in active conflict. Somalia’s hardest-to-reach districts. Where connectivity, registries and banking cannot be assumed — the system still delivers.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PROOF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 · KUJA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that makes a funded org verifiably stronger.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Odoo financial core plus the governance and delivery modules an NGO runs on — feeding Trust and Fund by API, at the org’s consent.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545576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615184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999232"/>
            <a:ext cx="488884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accounting, grant budgeting, procurement, HR, payroll, assets.
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modules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contracts, SOPs, KPIs, initiatives, grants-compliance, CRM and M&amp;E — sold in modules, priority order first.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377440"/>
            <a:ext cx="545576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3008" y="237744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6525616" y="2615184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FEEDS THE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25616" y="2999232"/>
            <a:ext cx="488884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 runs Build for its own back office. Its live operational and financial data flows — by API, not multi-tenancy — into its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Rating on Link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into grant-scoped compliance on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donor sees the benefit through Fund and never has to adopt an ERP. Any org on Build carries a live, self-updating Trust Rating at no extra charge.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direct to the NGO (Motion F) or sponsored by a donor for its grantees (Motion G — the realistic 2026 revenue motion).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barely use AI. The window is open.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bolt AI onto rigid data models. Kuja was built AI-native from day one — grounded, cited, and multilingual.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3545738" cy="2468880"/>
          </a:xfrm>
          <a:prstGeom prst="roundRect">
            <a:avLst>
              <a:gd name="adj" fmla="val 333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72491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365760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screening with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37673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funder side is greenfield for an AI-native challenger.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468880"/>
            <a:ext cx="3545738" cy="2468880"/>
          </a:xfrm>
          <a:prstGeom prst="roundRect">
            <a:avLst>
              <a:gd name="adj" fmla="val 333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9010" y="272491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9010" y="365760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would accept AI-written proposals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9010" y="37673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drafts and cites; people accept, reject and 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468880"/>
            <a:ext cx="3545738" cy="2468880"/>
          </a:xfrm>
          <a:prstGeom prst="roundRect">
            <a:avLst>
              <a:gd name="adj" fmla="val 333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9069" y="272491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99069" y="365760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African languages unsupported by LLMs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9069" y="376732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parity + Whisper fallback is a real moat.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25780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Candid (2024) · Fundraising.AI (2026) · language-coverage auditing studies (2025).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distinct AI surfaces run in production today — grounded, action-oriented, tenant-specific, fallback-aware, auditable and cost-gated.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funding shock meets a 150,000-NGO market.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buyer; the funding shock is the demand signal.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58952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 (US 990 filers)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+897K CSOs in Brazil, 187K on Darpan India. The addressable base is enormous and under-served.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9010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9010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 (SAM)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9010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geography, grant-making or -receiving at scale, and discretionary spend or donor sponsorship.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3037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9069" y="2633472"/>
            <a:ext cx="3033674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$2.6→4.2B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99069" y="3566160"/>
            <a:ext cx="303367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grant-management software, 2025→2030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9069" y="4041648"/>
            <a:ext cx="3033674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2030 target needs a capture rate under 0.5% of this market (Mordor Intelligence).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one record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signed in one module updates the obligation tracker, the dashboard and the audit chain — no paid integrations.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6882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6882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39842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not AI-bolted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914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drafting, evaluation. Incumbents layer AI on pre-AI data models.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0845" y="2331720"/>
            <a:ext cx="3557930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845" y="2331720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8386877" y="25328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53805" y="2551176"/>
            <a:ext cx="250637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Global-South-built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6877" y="3081528"/>
            <a:ext cx="305501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workflow parity, seven African registries pre-mapped, donor-compliance encoded, mobile-first.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14216"/>
            <a:ext cx="5464912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14216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4215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233672"/>
            <a:ext cx="4413352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" y="4764024"/>
            <a:ext cx="496199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something we operate — grants, compliance and operations — not a roadmap.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23864" y="4014216"/>
            <a:ext cx="5464912" cy="1463040"/>
          </a:xfrm>
          <a:prstGeom prst="roundRect">
            <a:avLst>
              <a:gd name="adj" fmla="val 5625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3864" y="4014216"/>
            <a:ext cx="82296" cy="14630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28" name="Text 26"/>
          <p:cNvSpPr/>
          <p:nvPr/>
        </p:nvSpPr>
        <p:spPr>
          <a:xfrm>
            <a:off x="6479896" y="4215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46824" y="4233672"/>
            <a:ext cx="4413352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moat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79896" y="4764024"/>
            <a:ext cx="496199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portable Trust Profile, one AI memory, one audit chain across all four products. A rival must rebuild all four.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four products, seven ways they get bought.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never changes; what changes is who signs, what they pay for, and which product they land 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5212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26771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10328" y="226771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93608" y="2267712"/>
            <a:ext cx="3349447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11185855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70048"/>
            <a:ext cx="11185855" cy="457200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" y="27432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7432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52728" y="26700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Link for orgs &amp; networks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2670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large CSOs &amp; networks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93608" y="26700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freemium + paid Trust Rating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" y="32004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2004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52728" y="3127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Link for donors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0328" y="31272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&amp; sub-granting institutions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3608" y="31272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+ paid AI discovery + trust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584448"/>
            <a:ext cx="11185855" cy="457200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" y="36576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6576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52728" y="35844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Link + Fund (revenue ladder)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10328" y="3584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intermediaries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93608" y="35844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Link+Fund · C2 +Build sponsorship · C3/C4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" y="41148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4114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52728" y="40416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white-labeled tenants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10328" y="4041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pooled funds, INGOs, BPOs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93608" y="40416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Link · D2 +Fund · D3 +Build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498848"/>
            <a:ext cx="11185855" cy="457200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" y="45720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" y="45720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52728" y="44988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Trust licensing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10328" y="44988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 providers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93608" y="44988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/ white-label Trust Rating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" y="50292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" y="50292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52728" y="49560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 direct to NGO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10328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CSOs buying the operating system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93608" y="49560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modules, org-paid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5413248"/>
            <a:ext cx="11185855" cy="457200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45" name="Shape 43"/>
          <p:cNvSpPr/>
          <p:nvPr/>
        </p:nvSpPr>
        <p:spPr>
          <a:xfrm>
            <a:off x="576072" y="54864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/>
        </p:spPr>
      </p:sp>
      <p:sp>
        <p:nvSpPr>
          <p:cNvPr id="46" name="Text 44"/>
          <p:cNvSpPr/>
          <p:nvPr/>
        </p:nvSpPr>
        <p:spPr>
          <a:xfrm>
            <a:off x="576072" y="54864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52728" y="54132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 donor-sponsored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910328" y="54132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sponsoring grantees’ ops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93608" y="5413248"/>
            <a:ext cx="330372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modules, donor-paid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G — donor-sponsored Build — is the realistic 2026 revenue motion. Motion B opens once the Link pool is deep enough (H2 2027).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UNIT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budget. Keep supply free. Price on value.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and networks hold the budget and pay a flat annual fee per tier. NGOs never pay to apply, report, or hold a core passport.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96896"/>
            <a:ext cx="30428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FUND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fee, by grant volume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14218" y="331012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602736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14218" y="360273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895344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14218" y="389534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187952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14218" y="41879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14218" y="44805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77316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14218" y="47731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22978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2978" y="237744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F0A4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97298" y="2596896"/>
            <a:ext cx="30428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TRUST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97298" y="2907792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free · funder by portfolio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97298" y="331012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34277" y="331012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97298" y="3602736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Rating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34277" y="360273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$250–1.5K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97298" y="3895344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34277" y="389534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97298" y="4187952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34277" y="41879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97298" y="4480560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34277" y="44805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97298" y="477316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34277" y="47731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$40K+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43037" y="2377440"/>
            <a:ext cx="3545738" cy="2834640"/>
          </a:xfrm>
          <a:prstGeom prst="roundRect">
            <a:avLst>
              <a:gd name="adj" fmla="val 2903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3037" y="237744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A78BF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7357" y="2596896"/>
            <a:ext cx="30428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BUILD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417357" y="2907792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org size · direct / sponsored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17357" y="331012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454335" y="331012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417357" y="3602736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454335" y="360273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$10–16K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417357" y="3895344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454335" y="389534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$24–40K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417357" y="4187952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sponsored 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54335" y="41879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417357" y="4480560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(G)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54335" y="44805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$8K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17357" y="4773168"/>
            <a:ext cx="217413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(G)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454335" y="47731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$16K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pilot-validation targets, not a public rate card. A flat fee per tier — never a percentage of grants or disbursements. Suite bundles 7–20% off.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in 2026. Convert in 2027. Scale in 2028.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Re-based, conservative. 2026 revenue comes essentially from donor-sponsored Build plus paid pilots — reference-building, not a revenue number.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803349" y="4950170"/>
            <a:ext cx="1371600" cy="17047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346149" y="449297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46149" y="5212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6149" y="5522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10048" y="4400877"/>
            <a:ext cx="1371600" cy="71976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52848" y="394367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$0.7–1.2M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52848" y="5212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2848" y="5522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6746" y="2961350"/>
            <a:ext cx="1371600" cy="2159290"/>
          </a:xfrm>
          <a:prstGeom prst="rect">
            <a:avLst/>
          </a:prstGeom>
          <a:solidFill>
            <a:srgbClr val="F0A44A"/>
          </a:solidFill>
          <a:ln/>
        </p:spPr>
      </p:sp>
      <p:sp>
        <p:nvSpPr>
          <p:cNvPr id="15" name="Text 13"/>
          <p:cNvSpPr/>
          <p:nvPr/>
        </p:nvSpPr>
        <p:spPr>
          <a:xfrm>
            <a:off x="8559546" y="250415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$2.2–3.5M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59546" y="5212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59546" y="5522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10820095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case (total ARR range). Unit-economics guardrails: 75%+ blended gross margin, CAC payback under 15 months, net revenue retention above 110%. Break-even on the software-heavy margin base by 2029.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OUTLOOK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and not a roadmap — a platform in daily production, built at a pace incumbents cannot match.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tenants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6882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1202" y="2496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45682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0845" y="2331720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5165" y="24963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959645" y="2331720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673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331720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at parity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16882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1202" y="37673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5682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registries mapped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0845" y="3602736"/>
            <a:ext cx="3557930" cy="1051560"/>
          </a:xfrm>
          <a:prstGeom prst="roundRect">
            <a:avLst>
              <a:gd name="adj" fmla="val 7826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5165" y="37673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959645" y="3602736"/>
            <a:ext cx="154625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18888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E2E regression · 19/19 UAT · 67/67 logic invariants · 50/50 sustained health probes.   Adeso co-founded NEAR in 2016 — the reference architecture for closed networks.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capabilities, verified against seven leading grant-management systems. Kuja competes on the integrated loop no single vendor matches.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2286000"/>
            <a:ext cx="984025" cy="3648456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84625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Submit­table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8650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52675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36700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Grants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720725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Black­baud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04750" y="2286000"/>
            <a:ext cx="98402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Giving­Data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11185855" cy="0"/>
          </a:xfrm>
          <a:prstGeom prst="line">
            <a:avLst/>
          </a:prstGeom>
          <a:noFill/>
          <a:ln w="12700">
            <a:solidFill>
              <a:srgbClr val="4A31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06624"/>
            <a:ext cx="4297680" cy="402336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70662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84625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8650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52675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6700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0725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04750" y="270662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" y="310896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84625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8650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52675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36700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20725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704750" y="310896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3511296"/>
            <a:ext cx="4297680" cy="402336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" y="351129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84625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8650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52675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36700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20725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04750" y="351129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2648" y="391363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 stack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84625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8650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52675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36700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720725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704750" y="3913632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02920" y="4315968"/>
            <a:ext cx="4297680" cy="402336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" y="4315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00600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784625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768650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752675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736700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720725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704750" y="4315968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12648" y="471830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800600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784625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768650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752675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736700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720725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704750" y="4718304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02920" y="5120640"/>
            <a:ext cx="4297680" cy="402336"/>
          </a:xfrm>
          <a:prstGeom prst="rect">
            <a:avLst/>
          </a:prstGeom>
          <a:solidFill>
            <a:srgbClr val="271A11"/>
          </a:solidFill>
          <a:ln/>
        </p:spPr>
      </p:sp>
      <p:sp>
        <p:nvSpPr>
          <p:cNvPr id="68" name="Text 66"/>
          <p:cNvSpPr/>
          <p:nvPr/>
        </p:nvSpPr>
        <p:spPr>
          <a:xfrm>
            <a:off x="612648" y="51206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800600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784625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8650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752675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736700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720725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704750" y="5120640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12648" y="552297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Build for real-time donor visibility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800600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784625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6768650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7752675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8736700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9720725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10704750" y="5522976"/>
            <a:ext cx="98402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Yes    ◐ Partial / limited    ○ No        Verified 2026 · detail in the Kuja Grant Market Analysis.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pPr algn="l" indent="0" marL="0">
              <a:buNone/>
            </a:pPr>
            <a:r>
              <a:rPr lang="en-US" sz="1200" spc="250" kern="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A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you start depends on who you are.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40280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E8B04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478024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network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90088"/>
            <a:ext cx="4888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on the architecture, then a 6-week closed-tenant pilot.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2240280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2240280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6525616" y="2478024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fund the Global South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5616" y="2990088"/>
            <a:ext cx="4888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Fund pilot ($7.5K), or sponsor Build for ~5 grantees.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050792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50792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4288536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 Global South CSO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4800600"/>
            <a:ext cx="4888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Kuja Link free, build your Trust Passport, get discovered by good-fit donors.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4050792"/>
            <a:ext cx="5455768" cy="1554480"/>
          </a:xfrm>
          <a:prstGeom prst="roundRect">
            <a:avLst>
              <a:gd name="adj" fmla="val 5294"/>
            </a:avLst>
          </a:prstGeom>
          <a:solidFill>
            <a:srgbClr val="271A11"/>
          </a:solidFill>
          <a:ln w="12700">
            <a:solidFill>
              <a:srgbClr val="4A31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4050792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525616" y="4288536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 growth-stage funder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5616" y="4800600"/>
            <a:ext cx="4888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Break-even 2029 on a software-heavy margin base.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pPr algn="ctr" indent="0" marL="0">
              <a:buNone/>
            </a:pPr>
            <a:r>
              <a:rPr lang="en-US" sz="13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Adeso · Nairobi, Kenya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264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9525">
            <a:solidFill>
              <a:srgbClr val="4A312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Adeso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One platform. Four products.</dc:title>
  <dc:subject>PptxGenJS Presentation</dc:subject>
  <dc:creator>Adeso / Kuja</dc:creator>
  <cp:lastModifiedBy>Adeso / Kuja</cp:lastModifiedBy>
  <cp:revision>1</cp:revision>
  <dcterms:created xsi:type="dcterms:W3CDTF">2026-08-17T20:39:37Z</dcterms:created>
  <dcterms:modified xsi:type="dcterms:W3CDTF">2026-08-17T20:39:37Z</dcterms:modified>
</cp:coreProperties>
</file>