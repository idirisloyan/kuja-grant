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6012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KUJA PRODUCT   ·   BUILT BY ADESO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0" b="1" spc="100" kern="0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FUND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end-to-end grant system, AI-grounded.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→ apply → review → award → report → comply.  </a:t>
            </a:r>
            <a:pPr indent="0" marL="0">
              <a:buNone/>
            </a:pPr>
            <a:r>
              <a:rPr lang="en-US" sz="170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four live tenants, Trust built in.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389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 ·  Six languages  ·  Built BY and FOR the Global South  ·  Production-deployed today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10607040" cy="0"/>
          </a:xfrm>
          <a:prstGeom prst="line">
            <a:avLst/>
          </a:prstGeom>
          <a:noFill/>
          <a:ln w="12700">
            <a:solidFill>
              <a:srgbClr val="4A31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257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Pitch Deck V6  ·  August 2026  ·  Confidential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11135" y="5257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kuja@adeso.org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lower the floor on who gets funded.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funding shock in modern history meets a one-time AI opening — and the barriers fall hardest where Kuja already ships.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545738" cy="3063240"/>
          </a:xfrm>
          <a:prstGeom prst="roundRect">
            <a:avLst>
              <a:gd name="adj" fmla="val 2687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587752"/>
            <a:ext cx="303367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58952" y="352044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funding reaches local actors, 2024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" y="4224528"/>
            <a:ext cx="3033674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25% Grand Bargain target signed by 60+ donors in 2016 — the system has failed Global South CSOs by a factor of three-plus. The gap is usable, trusted infrastructure.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2978" y="2331720"/>
            <a:ext cx="3545738" cy="3063240"/>
          </a:xfrm>
          <a:prstGeom prst="roundRect">
            <a:avLst>
              <a:gd name="adj" fmla="val 2687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9010" y="2587752"/>
            <a:ext cx="303367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$75.9B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9010" y="352044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USAID program value terminated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9010" y="4224528"/>
            <a:ext cx="3033674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USAID programs cancelled; OECD ODA fell 23.1% in 2025 — the largest decline on record. Less money is chasing the same need.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43037" y="2331720"/>
            <a:ext cx="3545738" cy="3063240"/>
          </a:xfrm>
          <a:prstGeom prst="roundRect">
            <a:avLst>
              <a:gd name="adj" fmla="val 2687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9069" y="2587752"/>
            <a:ext cx="303367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99069" y="352044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foundations don’t screen with 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99069" y="4224528"/>
            <a:ext cx="3033674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only 1 in 10 funders would accept AI-written proposals. The funder side is greenfield for an AI-native system that grounds every output and cites its source.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62356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· literacy · connectivity · channel · cost · compliance burden — Kuja Fund lowers all six.  Sources: ALNAP GHA 2025 · OECD 2026 · Candid 2024.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37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AND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built for the Global South — built FROM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positioning. It is the only reason the product exists — and why every claim is something Adeso operates, not theory.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2604440" cy="2651760"/>
          </a:xfrm>
          <a:prstGeom prst="roundRect">
            <a:avLst>
              <a:gd name="adj" fmla="val 316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77440"/>
            <a:ext cx="82296" cy="265176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33472"/>
            <a:ext cx="210152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3218688"/>
            <a:ext cx="21015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founded in Somalia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21015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Degan Ali — local response, local accountability, local leadership.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3392" y="2377440"/>
            <a:ext cx="2604440" cy="2651760"/>
          </a:xfrm>
          <a:prstGeom prst="roundRect">
            <a:avLst>
              <a:gd name="adj" fmla="val 316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3392" y="2377440"/>
            <a:ext cx="82296" cy="265176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3637712" y="2633472"/>
            <a:ext cx="210152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37712" y="3218688"/>
            <a:ext cx="21015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NEAR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37712" y="3749040"/>
            <a:ext cx="21015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60+ member network of frontline Global South CSOs. The reference architecture for closed networks.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3864" y="2377440"/>
            <a:ext cx="2604440" cy="2651760"/>
          </a:xfrm>
          <a:prstGeom prst="roundRect">
            <a:avLst>
              <a:gd name="adj" fmla="val 316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23864" y="2377440"/>
            <a:ext cx="82296" cy="265176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8184" y="2633472"/>
            <a:ext cx="210152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98184" y="3218688"/>
            <a:ext cx="21015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building Kuja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8184" y="3749040"/>
            <a:ext cx="21015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ran on a stitched stack of tools. We replaced them all with Kuja — out of our own pain.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84335" y="2377440"/>
            <a:ext cx="2604440" cy="2651760"/>
          </a:xfrm>
          <a:prstGeom prst="roundRect">
            <a:avLst>
              <a:gd name="adj" fmla="val 316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84335" y="2377440"/>
            <a:ext cx="82296" cy="265176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23" name="Text 21"/>
          <p:cNvSpPr/>
          <p:nvPr/>
        </p:nvSpPr>
        <p:spPr>
          <a:xfrm>
            <a:off x="9358655" y="2633472"/>
            <a:ext cx="210152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358655" y="3218688"/>
            <a:ext cx="21015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58655" y="3749040"/>
            <a:ext cx="21015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runs its own grants, compliance and operations on Kuja daily. Every product claim is verifiable.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52578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for the field officer with a Tecno phone on 3G — Swahili at home, Somali at work — who has half a day to report, not three, and builds trust through evidence, not application essays.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6437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AND FOR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Design. Apply. Review. Award. Report.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grant — from any tenant — flows through five stages, and AI grounds every step with citations back to the source record.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2061606" cy="2148840"/>
          </a:xfrm>
          <a:prstGeom prst="roundRect">
            <a:avLst>
              <a:gd name="adj" fmla="val 3992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2551176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551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3118104"/>
            <a:ext cx="1604406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8952" y="3392424"/>
            <a:ext cx="1604406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/ NETWORK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58952" y="3648456"/>
            <a:ext cx="1604406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Wizard-driven. AI suggests rubric weights, eligibility and criteria from prior funds.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46238" y="2331720"/>
            <a:ext cx="21945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83982" y="2331720"/>
            <a:ext cx="2061606" cy="2148840"/>
          </a:xfrm>
          <a:prstGeom prst="roundRect">
            <a:avLst>
              <a:gd name="adj" fmla="val 3992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0014" y="2551176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3040014" y="2551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40014" y="3118104"/>
            <a:ext cx="1604406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040014" y="3392424"/>
            <a:ext cx="1604406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40014" y="3648456"/>
            <a:ext cx="1604406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co-author from the Trust Passport. Six languages, voice-to-text, photo-as-evidence.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27300" y="2331720"/>
            <a:ext cx="21945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65044" y="2331720"/>
            <a:ext cx="2061606" cy="2148840"/>
          </a:xfrm>
          <a:prstGeom prst="roundRect">
            <a:avLst>
              <a:gd name="adj" fmla="val 3992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21076" y="2551176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2" name="Text 20"/>
          <p:cNvSpPr/>
          <p:nvPr/>
        </p:nvSpPr>
        <p:spPr>
          <a:xfrm>
            <a:off x="5321076" y="2551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21076" y="3118104"/>
            <a:ext cx="1604406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21076" y="3392424"/>
            <a:ext cx="1604406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PANEL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21076" y="3648456"/>
            <a:ext cx="1604406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per-criterion scoring, AI-grounded with citations. Hard gates at submit.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08363" y="2331720"/>
            <a:ext cx="21945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346107" y="2331720"/>
            <a:ext cx="2061606" cy="2148840"/>
          </a:xfrm>
          <a:prstGeom prst="roundRect">
            <a:avLst>
              <a:gd name="adj" fmla="val 3992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02139" y="2551176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9" name="Text 27"/>
          <p:cNvSpPr/>
          <p:nvPr/>
        </p:nvSpPr>
        <p:spPr>
          <a:xfrm>
            <a:off x="7602139" y="2551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02139" y="3118104"/>
            <a:ext cx="1604406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602139" y="3392424"/>
            <a:ext cx="1604406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/ OB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602139" y="3648456"/>
            <a:ext cx="1604406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signature with COI capture. Agreement upload triggers AI obligation extraction.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389425" y="2331720"/>
            <a:ext cx="21945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627169" y="2331720"/>
            <a:ext cx="2061606" cy="2148840"/>
          </a:xfrm>
          <a:prstGeom prst="roundRect">
            <a:avLst>
              <a:gd name="adj" fmla="val 3992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83201" y="2551176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6" name="Text 34"/>
          <p:cNvSpPr/>
          <p:nvPr/>
        </p:nvSpPr>
        <p:spPr>
          <a:xfrm>
            <a:off x="9883201" y="2551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883201" y="3118104"/>
            <a:ext cx="1604406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883201" y="3392424"/>
            <a:ext cx="1604406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+ DONOR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883201" y="3648456"/>
            <a:ext cx="1604406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against the agreement, per requirement, with risk flags and citations.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4700016"/>
            <a:ext cx="11185855" cy="566928"/>
          </a:xfrm>
          <a:prstGeom prst="roundRect">
            <a:avLst>
              <a:gd name="adj" fmla="val 16129"/>
            </a:avLst>
          </a:prstGeom>
          <a:solidFill>
            <a:srgbClr val="211308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4700016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SPINE THROUGH ALL FIVE   </a:t>
            </a:r>
            <a:pPr indent="0" marL="0">
              <a:buNone/>
            </a:pPr>
            <a:r>
              <a:rPr lang="en-US" sz="12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grounding (50+ surfaces)  ·  portable Trust Passport  ·  hash-anchored audit chain  ·  six-language parity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" y="6437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 AI surfaces. Grounded. Citable. Audited.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woven into every stage — not a chatbot bolted on the side. Every surface cites its source and is telemetered for cost, latency and fallback.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2076237" cy="2697480"/>
          </a:xfrm>
          <a:prstGeom prst="roundRect">
            <a:avLst>
              <a:gd name="adj" fmla="val 3964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77440"/>
            <a:ext cx="82296" cy="2697480"/>
          </a:xfrm>
          <a:prstGeom prst="roundRect">
            <a:avLst>
              <a:gd name="adj" fmla="val 44444"/>
            </a:avLst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2596896"/>
            <a:ext cx="1710477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0664" y="2962656"/>
            <a:ext cx="1673901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Rubric-weight suggester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templater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validator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0325" y="2377440"/>
            <a:ext cx="2076237" cy="2697480"/>
          </a:xfrm>
          <a:prstGeom prst="roundRect">
            <a:avLst>
              <a:gd name="adj" fmla="val 3964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0325" y="2377440"/>
            <a:ext cx="82296" cy="2697480"/>
          </a:xfrm>
          <a:prstGeom prst="roundRect">
            <a:avLst>
              <a:gd name="adj" fmla="val 44444"/>
            </a:avLst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3018069" y="2596896"/>
            <a:ext cx="1710477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8069" y="2962656"/>
            <a:ext cx="1673901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co-author drafts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Voice-to-text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Photo-as-evidence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Six-language parity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57729" y="2377440"/>
            <a:ext cx="2076237" cy="2697480"/>
          </a:xfrm>
          <a:prstGeom prst="roundRect">
            <a:avLst>
              <a:gd name="adj" fmla="val 3964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57729" y="2377440"/>
            <a:ext cx="82296" cy="2697480"/>
          </a:xfrm>
          <a:prstGeom prst="roundRect">
            <a:avLst>
              <a:gd name="adj" fmla="val 44444"/>
            </a:avLst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5295473" y="2596896"/>
            <a:ext cx="1710477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95473" y="2962656"/>
            <a:ext cx="1673901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Per-criterion scoring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Score-breakdown explainer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Why-rejected feedback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 flagger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35134" y="2377440"/>
            <a:ext cx="2076237" cy="2697480"/>
          </a:xfrm>
          <a:prstGeom prst="roundRect">
            <a:avLst>
              <a:gd name="adj" fmla="val 3964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35134" y="2377440"/>
            <a:ext cx="82296" cy="2697480"/>
          </a:xfrm>
          <a:prstGeom prst="roundRect">
            <a:avLst>
              <a:gd name="adj" fmla="val 44444"/>
            </a:avLst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7572878" y="2596896"/>
            <a:ext cx="1710477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72878" y="2962656"/>
            <a:ext cx="1673901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obligation extract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Risk-flag pre-flight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Signature-pace coach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12539" y="2377440"/>
            <a:ext cx="2076237" cy="2697480"/>
          </a:xfrm>
          <a:prstGeom prst="roundRect">
            <a:avLst>
              <a:gd name="adj" fmla="val 3964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12539" y="2377440"/>
            <a:ext cx="82296" cy="2697480"/>
          </a:xfrm>
          <a:prstGeom prst="roundRect">
            <a:avLst>
              <a:gd name="adj" fmla="val 44444"/>
            </a:avLst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9850283" y="2596896"/>
            <a:ext cx="1710477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50283" y="2962656"/>
            <a:ext cx="1673901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Per-requirement grade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coach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export</a:t>
            </a:r>
            <a:endParaRPr lang="en-US" sz="1000" dirty="0"/>
          </a:p>
          <a:p>
            <a:pPr marL="127000" indent="-1270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parity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53492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under the hood. Foundation-side AI adoption is near zero, so the category is greenfield for a system that is AI-native — not AI-bolted.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437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BUILT 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once. Carried into every grant.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portable Kuja Trust Passport plugs straight into the lifecycle — an NGO’s due diligence is done once and reused, never repeated per funder.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72288" y="2331720"/>
            <a:ext cx="2468880" cy="658368"/>
          </a:xfrm>
          <a:prstGeom prst="roundRect">
            <a:avLst>
              <a:gd name="adj" fmla="val 16667"/>
            </a:avLst>
          </a:prstGeom>
          <a:solidFill>
            <a:srgbClr val="271A11"/>
          </a:solidFill>
          <a:ln w="15875">
            <a:solidFill>
              <a:srgbClr val="F0A4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2016" y="2331720"/>
            <a:ext cx="2249424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Kuja Fund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41168" y="23317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98368" y="2331720"/>
            <a:ext cx="2468880" cy="658368"/>
          </a:xfrm>
          <a:prstGeom prst="roundRect">
            <a:avLst>
              <a:gd name="adj" fmla="val 16667"/>
            </a:avLst>
          </a:prstGeom>
          <a:solidFill>
            <a:srgbClr val="271A11"/>
          </a:solidFill>
          <a:ln w="15875">
            <a:solidFill>
              <a:srgbClr val="F0A4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8096" y="2331720"/>
            <a:ext cx="2249424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hand-off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67248" y="23317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24448" y="2331720"/>
            <a:ext cx="2468880" cy="658368"/>
          </a:xfrm>
          <a:prstGeom prst="roundRect">
            <a:avLst>
              <a:gd name="adj" fmla="val 16667"/>
            </a:avLst>
          </a:prstGeom>
          <a:solidFill>
            <a:srgbClr val="271A11"/>
          </a:solidFill>
          <a:ln w="15875">
            <a:solidFill>
              <a:srgbClr val="F0A4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4176" y="2331720"/>
            <a:ext cx="2249424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once in Kuja Trust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793328" y="23317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250528" y="2331720"/>
            <a:ext cx="2468880" cy="658368"/>
          </a:xfrm>
          <a:prstGeom prst="roundRect">
            <a:avLst>
              <a:gd name="adj" fmla="val 16667"/>
            </a:avLst>
          </a:prstGeom>
          <a:solidFill>
            <a:srgbClr val="271A11"/>
          </a:solidFill>
          <a:ln w="15875">
            <a:solidFill>
              <a:srgbClr val="F0A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60256" y="2331720"/>
            <a:ext cx="2249424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result returns to scoring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337560"/>
            <a:ext cx="5455768" cy="2148840"/>
          </a:xfrm>
          <a:prstGeom prst="roundRect">
            <a:avLst>
              <a:gd name="adj" fmla="val 383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337560"/>
            <a:ext cx="82296" cy="21488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557016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PORTABLE TRUST PASSPORT · SIX PILLARS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3886200"/>
            <a:ext cx="4998568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registration — 7 African registries pre-mapped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&amp; PEP — OpenSanctions live, UN / OFAC / EU fallback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media — AI 24-month lookback, per-finding citations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verification — Plaid + IBAN + microdeposit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of interest — captured per signature step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assessment — five-framework, reusable, publishable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33008" y="3337560"/>
            <a:ext cx="5455768" cy="2148840"/>
          </a:xfrm>
          <a:prstGeom prst="roundRect">
            <a:avLst>
              <a:gd name="adj" fmla="val 383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3008" y="3337560"/>
            <a:ext cx="82296" cy="2148840"/>
          </a:xfrm>
          <a:prstGeom prst="roundRect">
            <a:avLst>
              <a:gd name="adj" fmla="val 44444"/>
            </a:avLst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6507328" y="3557016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PLUGS INTO THE GRANT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07328" y="3886200"/>
            <a:ext cx="4998568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grant application, one click hands the NGO off to Kuja Trust to complete its capacity assessment. The </a:t>
            </a:r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result flows straight back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the application and into the reviewer’s ranking — no re-keying, no duplicate diligence. Every application, report and compliance score writes back into the passport, so the next cycle is faster for both sides. Because Trust is a discrete asset, it is also </a:t>
            </a:r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licensable to DD providers.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37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BUILT IN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COMPLIANCE · THE HEADLINE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grades every report against the agreement.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 uploads the signed agreement once. AI extracts every requirement. Every NGO report is graded against it, per requirement, with citations.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3557930" cy="2286000"/>
          </a:xfrm>
          <a:prstGeom prst="roundRect">
            <a:avLst>
              <a:gd name="adj" fmla="val 360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77440"/>
            <a:ext cx="82296" cy="228600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968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127248"/>
            <a:ext cx="305501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→ AI obligation extract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694176"/>
            <a:ext cx="305501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upload, AI parses the agreement and structures every reporting requirement, deadline, deliverable and indicator. No data entry.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6882" y="2377440"/>
            <a:ext cx="3557930" cy="2286000"/>
          </a:xfrm>
          <a:prstGeom prst="roundRect">
            <a:avLst>
              <a:gd name="adj" fmla="val 360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6882" y="2377440"/>
            <a:ext cx="82296" cy="228600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4591202" y="25968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91202" y="3127248"/>
            <a:ext cx="305501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→ per-requirement evaluation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1202" y="3694176"/>
            <a:ext cx="305501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NGO submits, AI grades each requirement individually — met, partial, missing — with citations back to the report and the agreement.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0845" y="2377440"/>
            <a:ext cx="3557930" cy="2286000"/>
          </a:xfrm>
          <a:prstGeom prst="roundRect">
            <a:avLst>
              <a:gd name="adj" fmla="val 360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0845" y="2377440"/>
            <a:ext cx="82296" cy="228600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18" name="Text 16"/>
          <p:cNvSpPr/>
          <p:nvPr/>
        </p:nvSpPr>
        <p:spPr>
          <a:xfrm>
            <a:off x="8405165" y="25968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05165" y="3127248"/>
            <a:ext cx="305501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score → surfaced early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05165" y="3694176"/>
            <a:ext cx="305501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Per-requirement grades roll into an overall score; AI risk flags surface in the donor dashboard before a quarterly review would catch them.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864608"/>
            <a:ext cx="11185855" cy="640080"/>
          </a:xfrm>
          <a:prstGeom prst="roundRect">
            <a:avLst>
              <a:gd name="adj" fmla="val 14286"/>
            </a:avLst>
          </a:prstGeom>
          <a:solidFill>
            <a:srgbClr val="211308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64608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headline: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grant-management system on the market — Submittable, Foundant (+SmartSimple), Fluxx, Salesforce, Blackbaud, GivingData — evaluates reports against the agreement, per requirement, with citations. Kuja does it in production today.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437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COMPLIANCE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· FOUR LIVE TENANTS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engine. Four trust flavors.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flavor that matches how you fund. All four share the five-stage lifecycle, the AI and the audit chain — the flavor changes how trust is established, never the engine.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2604440" cy="2423160"/>
          </a:xfrm>
          <a:prstGeom prst="roundRect">
            <a:avLst>
              <a:gd name="adj" fmla="val 339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31720"/>
            <a:ext cx="82296" cy="242316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87752"/>
            <a:ext cx="210152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044952"/>
            <a:ext cx="214724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· DIRECT COMPLIANCE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210152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donor runs rounds; any qualified NGO applies. AI grades every report against the agreement, in real time.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3392" y="2331720"/>
            <a:ext cx="2604440" cy="2423160"/>
          </a:xfrm>
          <a:prstGeom prst="roundRect">
            <a:avLst>
              <a:gd name="adj" fmla="val 339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3392" y="2331720"/>
            <a:ext cx="82296" cy="2423160"/>
          </a:xfrm>
          <a:prstGeom prst="roundRect">
            <a:avLst>
              <a:gd name="adj" fmla="val 44444"/>
            </a:avLst>
          </a:prstGeom>
          <a:solidFill>
            <a:srgbClr val="E8B04B"/>
          </a:solidFill>
          <a:ln/>
        </p:spPr>
      </p:sp>
      <p:sp>
        <p:nvSpPr>
          <p:cNvPr id="13" name="Text 11"/>
          <p:cNvSpPr/>
          <p:nvPr/>
        </p:nvSpPr>
        <p:spPr>
          <a:xfrm>
            <a:off x="3637712" y="2587752"/>
            <a:ext cx="210152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37712" y="3044952"/>
            <a:ext cx="214724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· NETWORK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37712" y="3520440"/>
            <a:ext cx="210152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secretariat hosts a private platform; vetted members apply to fund windows. Multi-sig governance and OB oversight.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3864" y="2331720"/>
            <a:ext cx="2604440" cy="2423160"/>
          </a:xfrm>
          <a:prstGeom prst="roundRect">
            <a:avLst>
              <a:gd name="adj" fmla="val 339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23864" y="2331720"/>
            <a:ext cx="82296" cy="2423160"/>
          </a:xfrm>
          <a:prstGeom prst="roundRect">
            <a:avLst>
              <a:gd name="adj" fmla="val 44444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498184" y="2587752"/>
            <a:ext cx="210152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PROXIMATE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8184" y="3044952"/>
            <a:ext cx="214724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· RELATIONAL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98184" y="3520440"/>
            <a:ext cx="210152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Sudan, live. Community endorsers vouch where no registry exists. Arabic-first zero-login voice reporting, hawala + mobile money.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84335" y="2331720"/>
            <a:ext cx="2604440" cy="2423160"/>
          </a:xfrm>
          <a:prstGeom prst="roundRect">
            <a:avLst>
              <a:gd name="adj" fmla="val 339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84335" y="2331720"/>
            <a:ext cx="82296" cy="2423160"/>
          </a:xfrm>
          <a:prstGeom prst="roundRect">
            <a:avLst>
              <a:gd name="adj" fmla="val 44444"/>
            </a:avLst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9358655" y="2587752"/>
            <a:ext cx="210152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SAXANSAXO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58655" y="3044952"/>
            <a:ext cx="214724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 · SCLR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358655" y="3520440"/>
            <a:ext cx="210152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Somalia, live. Groups write their own proposals in Somali on any phone; a visible 10-day clock to money, no spend policing by design.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956048"/>
            <a:ext cx="11185855" cy="658368"/>
          </a:xfrm>
          <a:prstGeom prst="roundRect">
            <a:avLst>
              <a:gd name="adj" fmla="val 13889"/>
            </a:avLst>
          </a:prstGeom>
          <a:solidFill>
            <a:srgbClr val="211308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956048"/>
            <a:ext cx="1063721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5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DONOR-COMPLIANCE LOOP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signed agreement → AI extracts obligations → enforced at disbursement → reports scored per requirement → one-click donor pack. Adeso complies with its own institutional funders on the engine it sells.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6437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LIVE TENANTS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PROOF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clients. Two opposite playbooks. One engine.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 demanded MORE control than any incumbent offers. Saxansaxo demanded LESS. Kuja Fund runs both — configured, not forked.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455768" cy="3200400"/>
          </a:xfrm>
          <a:prstGeom prst="roundRect">
            <a:avLst>
              <a:gd name="adj" fmla="val 2571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31720"/>
            <a:ext cx="82296" cy="3200400"/>
          </a:xfrm>
          <a:prstGeom prst="roundRect">
            <a:avLst>
              <a:gd name="adj" fmla="val 44444"/>
            </a:avLst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569464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 FUND — SUDAN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2916936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COMPLIANCE-STRICT · ACTIVE CONFLICT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5528" y="3300984"/>
            <a:ext cx="488884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endorsement replaces registry paperwork — neighbours vouch; reputation is scored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screening fires automatically at every entry path; cosign ladder scales with amount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Hawala + mobile money as first-class rails, with Plan-B fallback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by phone: zero-login token link, voice notes in Arabic, photos as evidence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run as software: intervention timers, 72h grievance SLA, hash-chained audit on every decision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008" y="2331720"/>
            <a:ext cx="5455768" cy="3200400"/>
          </a:xfrm>
          <a:prstGeom prst="roundRect">
            <a:avLst>
              <a:gd name="adj" fmla="val 2571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3008" y="2331720"/>
            <a:ext cx="82296" cy="3200400"/>
          </a:xfrm>
          <a:prstGeom prst="roundRect">
            <a:avLst>
              <a:gd name="adj" fmla="val 44444"/>
            </a:avLst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6525616" y="2569464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SAXANSAXO — SOMALIA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25616" y="2916936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LIGHT · SCLR DOCTRINE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25616" y="3300984"/>
            <a:ext cx="488884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/ gatekeeper permission recorded first — intake refuses a group without it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write their OWN proposals in Somali — a shareable link, no login, any phone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10-day clock from selection to money in hand — the one metric that matters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receipts, no spend policing by design — record decisions, not suspicion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 live in 15 days; a quiet legal floor (sanctions + record of who was paid) stays invisible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57150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Sudan in active conflict. Somalia’s hardest-to-reach districts. Where connectivity, registries and banking cannot be assumed — the engine still delivers.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6437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PROOF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meet NGOs where they are.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voice notes, photos, mobile-first, six languages — the way Global South work actually happens, not a desktop form in English.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557930" cy="1371600"/>
          </a:xfrm>
          <a:prstGeom prst="roundRect">
            <a:avLst>
              <a:gd name="adj" fmla="val 600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31720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F0A4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32888"/>
            <a:ext cx="305501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898648"/>
            <a:ext cx="305501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status, get a deadline nudge, answer a clarification — all from WhatsApp, the channel CSOs already use.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6882" y="2331720"/>
            <a:ext cx="3557930" cy="1371600"/>
          </a:xfrm>
          <a:prstGeom prst="roundRect">
            <a:avLst>
              <a:gd name="adj" fmla="val 600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6882" y="2331720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F0A4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91202" y="2532888"/>
            <a:ext cx="305501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Voice-to-report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1202" y="2898648"/>
            <a:ext cx="305501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officer speaks in Swahili; AI transcribes, structures and translates. Five minutes vs an hour of typing.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0845" y="2331720"/>
            <a:ext cx="3557930" cy="1371600"/>
          </a:xfrm>
          <a:prstGeom prst="roundRect">
            <a:avLst>
              <a:gd name="adj" fmla="val 600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0845" y="2331720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F0A44A"/>
          </a:solidFill>
          <a:ln/>
        </p:spPr>
      </p:sp>
      <p:sp>
        <p:nvSpPr>
          <p:cNvPr id="16" name="Text 14"/>
          <p:cNvSpPr/>
          <p:nvPr/>
        </p:nvSpPr>
        <p:spPr>
          <a:xfrm>
            <a:off x="8405165" y="2532888"/>
            <a:ext cx="305501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Photo-as-evidence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05165" y="2898648"/>
            <a:ext cx="305501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the receipt, the borehole, the training. AI labels, geo-tags and attaches to the right report line.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922776"/>
            <a:ext cx="3557930" cy="1371600"/>
          </a:xfrm>
          <a:prstGeom prst="roundRect">
            <a:avLst>
              <a:gd name="adj" fmla="val 600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922776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F0A44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123944"/>
            <a:ext cx="305501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Six-language parity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489704"/>
            <a:ext cx="305501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FR · AR · SW · SO · ES at the workflow level — not just strings, but translated AI behaviour.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16882" y="3922776"/>
            <a:ext cx="3557930" cy="1371600"/>
          </a:xfrm>
          <a:prstGeom prst="roundRect">
            <a:avLst>
              <a:gd name="adj" fmla="val 600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16882" y="3922776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F0A44A"/>
          </a:solidFill>
          <a:ln/>
        </p:spPr>
      </p:sp>
      <p:sp>
        <p:nvSpPr>
          <p:cNvPr id="24" name="Text 22"/>
          <p:cNvSpPr/>
          <p:nvPr/>
        </p:nvSpPr>
        <p:spPr>
          <a:xfrm>
            <a:off x="4591202" y="4123944"/>
            <a:ext cx="305501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low-bandwidth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91202" y="4489704"/>
            <a:ext cx="305501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Tecno phone on 3G. Forms load progressively; voice and photo work offline and sync on reconnect.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0845" y="3922776"/>
            <a:ext cx="3557930" cy="1371600"/>
          </a:xfrm>
          <a:prstGeom prst="roundRect">
            <a:avLst>
              <a:gd name="adj" fmla="val 600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0845" y="3922776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F0A44A"/>
          </a:solidFill>
          <a:ln/>
        </p:spPr>
      </p:sp>
      <p:sp>
        <p:nvSpPr>
          <p:cNvPr id="28" name="Text 26"/>
          <p:cNvSpPr/>
          <p:nvPr/>
        </p:nvSpPr>
        <p:spPr>
          <a:xfrm>
            <a:off x="8405165" y="4123944"/>
            <a:ext cx="305501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coach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05165" y="4489704"/>
            <a:ext cx="305501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explanations of what is missing, why, and how to fix it — the expertise gap, addressed inline.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6437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BUILD · OPT-IN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Want real-time financials? Opt into Kuja Build.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tenant gets AI-evaluated reports out of the box. Kuja Build — the nonprofit operating system — makes the financials flow in real time.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26771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2267712"/>
            <a:ext cx="385556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 + AI  (no Build)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87488" y="2267712"/>
            <a:ext cx="385556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KUJA BUILD  (opt-in)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633472"/>
            <a:ext cx="11185855" cy="0"/>
          </a:xfrm>
          <a:prstGeom prst="line">
            <a:avLst/>
          </a:prstGeom>
          <a:noFill/>
          <a:ln w="12700">
            <a:solidFill>
              <a:srgbClr val="4A31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688336"/>
            <a:ext cx="11185855" cy="566928"/>
          </a:xfrm>
          <a:prstGeom prst="rect">
            <a:avLst/>
          </a:prstGeom>
          <a:solidFill>
            <a:srgbClr val="271A1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88336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49040" y="2688336"/>
            <a:ext cx="37641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submissions per criterion, with citations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87488" y="2688336"/>
            <a:ext cx="37641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the ledger — real-time burn rate &amp; variance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255264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cadence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49040" y="3255264"/>
            <a:ext cx="37641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/ monthly point-in-time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87488" y="3255264"/>
            <a:ext cx="37641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 spend events flow 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822192"/>
            <a:ext cx="11185855" cy="566928"/>
          </a:xfrm>
          <a:prstGeom prst="rect">
            <a:avLst/>
          </a:prstGeom>
          <a:solidFill>
            <a:srgbClr val="271A1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22192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749040" y="3822192"/>
            <a:ext cx="37641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each submission event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87488" y="3822192"/>
            <a:ext cx="37641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every spend event, at entry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38912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variance flags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49040" y="4389120"/>
            <a:ext cx="37641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when reports come 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87488" y="4389120"/>
            <a:ext cx="37641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the day a line crosses threshold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956048"/>
            <a:ext cx="11185855" cy="566928"/>
          </a:xfrm>
          <a:prstGeom prst="rect">
            <a:avLst/>
          </a:prstGeom>
          <a:solidFill>
            <a:srgbClr val="271A1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956048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visibility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749040" y="4956048"/>
            <a:ext cx="37641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Per-report 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87488" y="4956048"/>
            <a:ext cx="37641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cross-grantee spend roll-up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62356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donor visibility is the wedge no competitor has — each NGO owns its tenant; donors get a role-aware view of grant-scoped spend across their grantees. Fed by API, at the org’s consent — the donor never adopts an ERP.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437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BUILD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system on the market does what we do.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capabilities, verified against seven leading grant-management systems. The integrated combination is the proposition no single vendor matches.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74920" y="2286000"/>
            <a:ext cx="944836" cy="3785616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2286000"/>
            <a:ext cx="9448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19756" y="2286000"/>
            <a:ext cx="9448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Submit­table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64593" y="2286000"/>
            <a:ext cx="9448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909429" y="2286000"/>
            <a:ext cx="9448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Fluxx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854266" y="2286000"/>
            <a:ext cx="9448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Grants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799102" y="2286000"/>
            <a:ext cx="9448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Black­baud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743939" y="2286000"/>
            <a:ext cx="9448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Giving­Data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651760"/>
            <a:ext cx="11185855" cy="0"/>
          </a:xfrm>
          <a:prstGeom prst="line">
            <a:avLst/>
          </a:prstGeom>
          <a:noFill/>
          <a:ln w="12700">
            <a:solidFill>
              <a:srgbClr val="4A31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688336"/>
            <a:ext cx="4572000" cy="338328"/>
          </a:xfrm>
          <a:prstGeom prst="rect">
            <a:avLst/>
          </a:prstGeom>
          <a:solidFill>
            <a:srgbClr val="271A11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" y="2688336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grant lifecycle (5 stages)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74920" y="2688336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19756" y="2688336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64593" y="2688336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09429" y="2688336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54266" y="2688336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99102" y="2688336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43939" y="2688336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" y="3026664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Closed-network hosting + multi-sig governance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74920" y="3026664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19756" y="3026664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64593" y="3026664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09429" y="3026664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854266" y="3026664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99102" y="3026664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743939" y="3026664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3364992"/>
            <a:ext cx="4572000" cy="338328"/>
          </a:xfrm>
          <a:prstGeom prst="rect">
            <a:avLst/>
          </a:prstGeom>
          <a:solidFill>
            <a:srgbClr val="271A11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" y="3364992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declaration workflow (multi-sig + audit)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74920" y="3364992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19756" y="3364992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64593" y="3364992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909429" y="3364992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854266" y="3364992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799102" y="3364992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743939" y="3364992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2648" y="3703320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rubric scoring with citations to source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74920" y="3703320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019756" y="3703320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64593" y="3703320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909429" y="3703320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854266" y="3703320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799102" y="3703320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743939" y="3703320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02920" y="4041648"/>
            <a:ext cx="4572000" cy="338328"/>
          </a:xfrm>
          <a:prstGeom prst="rect">
            <a:avLst/>
          </a:prstGeom>
          <a:solidFill>
            <a:srgbClr val="271A11"/>
          </a:solidFill>
          <a:ln/>
        </p:spPr>
      </p:sp>
      <p:sp>
        <p:nvSpPr>
          <p:cNvPr id="51" name="Text 49"/>
          <p:cNvSpPr/>
          <p:nvPr/>
        </p:nvSpPr>
        <p:spPr>
          <a:xfrm>
            <a:off x="612648" y="4041648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per-requirement report evaluation vs agreement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074920" y="4041648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019756" y="4041648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64593" y="4041648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909429" y="4041648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854266" y="4041648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799102" y="4041648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743939" y="4041648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12648" y="4379976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obligation extraction from the agreement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074920" y="4379976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019756" y="4379976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964593" y="4379976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909429" y="4379976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854266" y="4379976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9799102" y="4379976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0743939" y="4379976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02920" y="4718304"/>
            <a:ext cx="4572000" cy="338328"/>
          </a:xfrm>
          <a:prstGeom prst="rect">
            <a:avLst/>
          </a:prstGeom>
          <a:solidFill>
            <a:srgbClr val="271A11"/>
          </a:solidFill>
          <a:ln/>
        </p:spPr>
      </p:sp>
      <p:sp>
        <p:nvSpPr>
          <p:cNvPr id="68" name="Text 66"/>
          <p:cNvSpPr/>
          <p:nvPr/>
        </p:nvSpPr>
        <p:spPr>
          <a:xfrm>
            <a:off x="612648" y="4718304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coach for the NGO grantee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074920" y="4718304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019756" y="4718304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964593" y="4718304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909429" y="4718304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8854266" y="4718304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9799102" y="4718304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10743939" y="4718304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12648" y="5056632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voice / photo accessibility stack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074920" y="5056632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6019756" y="5056632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6964593" y="5056632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7909429" y="5056632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8854266" y="5056632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9799102" y="5056632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0743939" y="5056632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502920" y="5394960"/>
            <a:ext cx="4572000" cy="338328"/>
          </a:xfrm>
          <a:prstGeom prst="rect">
            <a:avLst/>
          </a:prstGeom>
          <a:solidFill>
            <a:srgbClr val="271A11"/>
          </a:solidFill>
          <a:ln/>
        </p:spPr>
      </p:sp>
      <p:sp>
        <p:nvSpPr>
          <p:cNvPr id="85" name="Text 83"/>
          <p:cNvSpPr/>
          <p:nvPr/>
        </p:nvSpPr>
        <p:spPr>
          <a:xfrm>
            <a:off x="612648" y="5394960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Six-language workflow parity (incl. Somali)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5074920" y="5394960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6019756" y="5394960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6964593" y="5394960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7909429" y="5394960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8854266" y="5394960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9799102" y="5394960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10743939" y="5394960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612648" y="5733288"/>
            <a:ext cx="438912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 + 7-country registries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5074920" y="5733288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6019756" y="5733288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6964593" y="5733288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7909429" y="5733288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8854266" y="5733288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9799102" y="5733288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10743939" y="5733288"/>
            <a:ext cx="9448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502920" y="6163056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Yes    ◐ Partial / limited    ○ No        Verified 2026 · detail in the Kuja Grant Market Analysis §6.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502920" y="6437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funding shock meets a 150,000-NGO market.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South mid-size NGO is the buyer; the funding shock is the demand signal; the AI opening is the timing.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3545738" cy="2834640"/>
          </a:xfrm>
          <a:prstGeom prst="roundRect">
            <a:avLst>
              <a:gd name="adj" fmla="val 2903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633472"/>
            <a:ext cx="303367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478K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58952" y="356616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universe (US 990 filers)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" y="4041648"/>
            <a:ext cx="3033674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+897K CSOs in Brazil, 187K on Darpan India. Mid-size NGOs ($1–50M) carry operational complexity, a SaaS budget and donor pressure.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2978" y="2377440"/>
            <a:ext cx="3545738" cy="2834640"/>
          </a:xfrm>
          <a:prstGeom prst="roundRect">
            <a:avLst>
              <a:gd name="adj" fmla="val 2903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9010" y="2633472"/>
            <a:ext cx="303367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15–35K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9010" y="356616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Global South NGOs (SAM)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9010" y="4041648"/>
            <a:ext cx="3033674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geography, grant-making or -receiving at scale, and grant-management or stitched-stack pain.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43037" y="2377440"/>
            <a:ext cx="3545738" cy="2834640"/>
          </a:xfrm>
          <a:prstGeom prst="roundRect">
            <a:avLst>
              <a:gd name="adj" fmla="val 2903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9069" y="2633472"/>
            <a:ext cx="303367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$2.6→4.2B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99069" y="356616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grant-management software, 2025→2030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99069" y="4041648"/>
            <a:ext cx="3033674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conservative capture rate under 0.5% of this market clears the target (Mordor Intelligence). The closed-network flavor adds on top.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6437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the budget. NGOs never pay.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funder posting the grant pays a flat annual fee per tier — grant volume selects the tier, never a percentage of grants or disbursements. Applicants and grantees are always free.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423160"/>
            <a:ext cx="1650949" cy="2606040"/>
          </a:xfrm>
          <a:prstGeom prst="roundRect">
            <a:avLst>
              <a:gd name="adj" fmla="val 4985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423160"/>
            <a:ext cx="82296" cy="26060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2642616"/>
            <a:ext cx="1376629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" y="3081528"/>
            <a:ext cx="1431493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$4K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58952" y="3794760"/>
            <a:ext cx="113888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3886200"/>
            <a:ext cx="1358341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$250K grants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09901" y="2423160"/>
            <a:ext cx="1650949" cy="2606040"/>
          </a:xfrm>
          <a:prstGeom prst="roundRect">
            <a:avLst>
              <a:gd name="adj" fmla="val 4985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09901" y="2423160"/>
            <a:ext cx="82296" cy="26060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14" name="Text 12"/>
          <p:cNvSpPr/>
          <p:nvPr/>
        </p:nvSpPr>
        <p:spPr>
          <a:xfrm>
            <a:off x="2556205" y="2642616"/>
            <a:ext cx="1376629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9629" y="3081528"/>
            <a:ext cx="1431493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2665933" y="3794760"/>
            <a:ext cx="113888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56205" y="3886200"/>
            <a:ext cx="1358341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$1M · small funders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16882" y="2423160"/>
            <a:ext cx="1650949" cy="2606040"/>
          </a:xfrm>
          <a:prstGeom prst="roundRect">
            <a:avLst>
              <a:gd name="adj" fmla="val 4985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6882" y="2423160"/>
            <a:ext cx="82296" cy="26060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20" name="Text 18"/>
          <p:cNvSpPr/>
          <p:nvPr/>
        </p:nvSpPr>
        <p:spPr>
          <a:xfrm>
            <a:off x="4463186" y="2642616"/>
            <a:ext cx="1376629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26610" y="3081528"/>
            <a:ext cx="1431493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$16K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572914" y="3794760"/>
            <a:ext cx="113888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3186" y="3886200"/>
            <a:ext cx="1358341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$5M · foundations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23864" y="2423160"/>
            <a:ext cx="1650949" cy="2606040"/>
          </a:xfrm>
          <a:prstGeom prst="roundRect">
            <a:avLst>
              <a:gd name="adj" fmla="val 4985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3864" y="2423160"/>
            <a:ext cx="82296" cy="26060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26" name="Text 24"/>
          <p:cNvSpPr/>
          <p:nvPr/>
        </p:nvSpPr>
        <p:spPr>
          <a:xfrm>
            <a:off x="6370168" y="2642616"/>
            <a:ext cx="1376629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33592" y="3081528"/>
            <a:ext cx="1431493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$32K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479896" y="3794760"/>
            <a:ext cx="113888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0168" y="3886200"/>
            <a:ext cx="1358341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$15M · multi-country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30845" y="2423160"/>
            <a:ext cx="1650949" cy="2606040"/>
          </a:xfrm>
          <a:prstGeom prst="roundRect">
            <a:avLst>
              <a:gd name="adj" fmla="val 4985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0845" y="2423160"/>
            <a:ext cx="82296" cy="26060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32" name="Text 30"/>
          <p:cNvSpPr/>
          <p:nvPr/>
        </p:nvSpPr>
        <p:spPr>
          <a:xfrm>
            <a:off x="8277149" y="2642616"/>
            <a:ext cx="1376629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40573" y="3081528"/>
            <a:ext cx="1431493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8386877" y="3794760"/>
            <a:ext cx="113888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7149" y="3886200"/>
            <a:ext cx="1358341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$50M · pooled funds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037826" y="2423160"/>
            <a:ext cx="1650949" cy="2606040"/>
          </a:xfrm>
          <a:prstGeom prst="roundRect">
            <a:avLst>
              <a:gd name="adj" fmla="val 4985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37826" y="2423160"/>
            <a:ext cx="82296" cy="2606040"/>
          </a:xfrm>
          <a:prstGeom prst="roundRect">
            <a:avLst>
              <a:gd name="adj" fmla="val 44444"/>
            </a:avLst>
          </a:prstGeom>
          <a:solidFill>
            <a:srgbClr val="F0A44A"/>
          </a:solidFill>
          <a:ln/>
        </p:spPr>
      </p:sp>
      <p:sp>
        <p:nvSpPr>
          <p:cNvPr id="38" name="Text 36"/>
          <p:cNvSpPr/>
          <p:nvPr/>
        </p:nvSpPr>
        <p:spPr>
          <a:xfrm>
            <a:off x="10184130" y="2642616"/>
            <a:ext cx="1376629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147554" y="3081528"/>
            <a:ext cx="1431493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$100K+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10293858" y="3794760"/>
            <a:ext cx="113888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84130" y="3886200"/>
            <a:ext cx="1358341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bilaterals · custom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5532120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pilot-validation targets, not a public rate card. Included: full lifecycle + reviewer workflows, AI drafting/extraction/evaluation, sanctions + registry checks, multilingual mobile access, audit exports, and a free core Trust Passport for every applicant. Suite bundles with Trust + Build available.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2920" y="6437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advantages incumbents cannot match.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proves it row-by-row; the architecture explains why a stitched stack would have to be rebuilt to catch up.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557930" cy="1463040"/>
          </a:xfrm>
          <a:prstGeom prst="roundRect">
            <a:avLst>
              <a:gd name="adj" fmla="val 5625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31720"/>
            <a:ext cx="82296" cy="14630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5328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551176"/>
            <a:ext cx="250637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flavors on one codebase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58952" y="3081528"/>
            <a:ext cx="305501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are direct-compliance only. None hosts a closed network with multi-sig, a crisis fund on relational validation, or a community-led fund with no spend policing. We run all four.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316882" y="2331720"/>
            <a:ext cx="3557930" cy="1463040"/>
          </a:xfrm>
          <a:prstGeom prst="roundRect">
            <a:avLst>
              <a:gd name="adj" fmla="val 5625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6882" y="2331720"/>
            <a:ext cx="82296" cy="14630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914" y="25328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39842" y="2551176"/>
            <a:ext cx="250637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AI-native, grounded, citable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914" y="3081528"/>
            <a:ext cx="305501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AI surfaces grounded in the customer record with citations. Incumbents bolt LLMs onto data models built before the AI era.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130845" y="2331720"/>
            <a:ext cx="3557930" cy="1463040"/>
          </a:xfrm>
          <a:prstGeom prst="roundRect">
            <a:avLst>
              <a:gd name="adj" fmla="val 5625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0845" y="2331720"/>
            <a:ext cx="82296" cy="14630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18" name="Text 16"/>
          <p:cNvSpPr/>
          <p:nvPr/>
        </p:nvSpPr>
        <p:spPr>
          <a:xfrm>
            <a:off x="8386877" y="25328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53805" y="2551176"/>
            <a:ext cx="250637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and FOR the Global South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86877" y="3081528"/>
            <a:ext cx="305501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voice, photo, six languages, mobile-first — designed for the Tecno phone on 3G from day one, not localized after the fact.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02920" y="4014216"/>
            <a:ext cx="5464912" cy="1463040"/>
          </a:xfrm>
          <a:prstGeom prst="roundRect">
            <a:avLst>
              <a:gd name="adj" fmla="val 5625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014216"/>
            <a:ext cx="82296" cy="14630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" y="421538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4233672"/>
            <a:ext cx="4413352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reporting &amp; Trust, in one loop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58952" y="4764024"/>
            <a:ext cx="4961992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Per-requirement evaluation with citations, plus a portable Trust Passport that flows into scoring. No competitor ships either in our segment.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23864" y="4014216"/>
            <a:ext cx="5464912" cy="1463040"/>
          </a:xfrm>
          <a:prstGeom prst="roundRect">
            <a:avLst>
              <a:gd name="adj" fmla="val 5625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23864" y="4014216"/>
            <a:ext cx="82296" cy="14630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28" name="Text 26"/>
          <p:cNvSpPr/>
          <p:nvPr/>
        </p:nvSpPr>
        <p:spPr>
          <a:xfrm>
            <a:off x="6479896" y="421538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46824" y="4233672"/>
            <a:ext cx="4413352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79896" y="4764024"/>
            <a:ext cx="4961992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to the data model, not exported on demand. Tamper one row and every row after it breaks.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437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PROOF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today. Built in production, not on a whiteboard.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on this deck is verifiable against the running system — Adeso operates on it daily.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557930" cy="1051560"/>
          </a:xfrm>
          <a:prstGeom prst="roundRect">
            <a:avLst>
              <a:gd name="adj" fmla="val 782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9631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377440" y="2331720"/>
            <a:ext cx="154625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in production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6882" y="2331720"/>
            <a:ext cx="3557930" cy="1051560"/>
          </a:xfrm>
          <a:prstGeom prst="roundRect">
            <a:avLst>
              <a:gd name="adj" fmla="val 782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1202" y="249631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91402" y="2331720"/>
            <a:ext cx="154625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tenants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0845" y="2331720"/>
            <a:ext cx="3557930" cy="1051560"/>
          </a:xfrm>
          <a:prstGeom prst="roundRect">
            <a:avLst>
              <a:gd name="adj" fmla="val 782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5165" y="249631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54/54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05365" y="2331720"/>
            <a:ext cx="154625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 regression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602736"/>
            <a:ext cx="3557930" cy="1051560"/>
          </a:xfrm>
          <a:prstGeom prst="roundRect">
            <a:avLst>
              <a:gd name="adj" fmla="val 782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673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377440" y="3602736"/>
            <a:ext cx="154625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UAT suite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16882" y="3602736"/>
            <a:ext cx="3557930" cy="1051560"/>
          </a:xfrm>
          <a:prstGeom prst="roundRect">
            <a:avLst>
              <a:gd name="adj" fmla="val 782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1202" y="37673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67/67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91402" y="3602736"/>
            <a:ext cx="154625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invariants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0845" y="3602736"/>
            <a:ext cx="3557930" cy="1051560"/>
          </a:xfrm>
          <a:prstGeom prst="roundRect">
            <a:avLst>
              <a:gd name="adj" fmla="val 782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05165" y="37673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0005365" y="3602736"/>
            <a:ext cx="154625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phases shipped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37176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parity · seven African registries pre-mapped · 50/50 sustained health probes · daily production deploys. 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https://web-production-6f8a.up.railway.app — demo on request.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37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PROOF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audiences. Three ways to start.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5455768" cy="1554480"/>
          </a:xfrm>
          <a:prstGeom prst="roundRect">
            <a:avLst>
              <a:gd name="adj" fmla="val 5294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240280"/>
            <a:ext cx="82296" cy="1554480"/>
          </a:xfrm>
          <a:prstGeom prst="roundRect">
            <a:avLst>
              <a:gd name="adj" fmla="val 44444"/>
            </a:avLst>
          </a:prstGeom>
          <a:solidFill>
            <a:srgbClr val="E8B04B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478024"/>
            <a:ext cx="490712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run a network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990088"/>
            <a:ext cx="4888840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6-week closed-tenant pilot — your branding, three test members, one fund window. Roll out from there.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3008" y="2240280"/>
            <a:ext cx="5455768" cy="1554480"/>
          </a:xfrm>
          <a:prstGeom prst="roundRect">
            <a:avLst>
              <a:gd name="adj" fmla="val 5294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3008" y="2240280"/>
            <a:ext cx="82296" cy="155448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6525616" y="2478024"/>
            <a:ext cx="490712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fund the Global South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25616" y="2990088"/>
            <a:ext cx="4888840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90-day Fund pilot ($7.5K). Run one grant cycle end-to-end; AI evaluates reports, the audit chain anchors every decision.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050792"/>
            <a:ext cx="5455768" cy="1554480"/>
          </a:xfrm>
          <a:prstGeom prst="roundRect">
            <a:avLst>
              <a:gd name="adj" fmla="val 5294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050792"/>
            <a:ext cx="82296" cy="1554480"/>
          </a:xfrm>
          <a:prstGeom prst="roundRect">
            <a:avLst>
              <a:gd name="adj" fmla="val 44444"/>
            </a:avLst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4288536"/>
            <a:ext cx="490712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a Global South NGO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5528" y="4800600"/>
            <a:ext cx="4888840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free, build your Trust Passport once, and carry it into every grant on the platform.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3008" y="4050792"/>
            <a:ext cx="5455768" cy="1554480"/>
          </a:xfrm>
          <a:prstGeom prst="roundRect">
            <a:avLst>
              <a:gd name="adj" fmla="val 5294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3008" y="4050792"/>
            <a:ext cx="82296" cy="1554480"/>
          </a:xfrm>
          <a:prstGeom prst="roundRect">
            <a:avLst>
              <a:gd name="adj" fmla="val 44444"/>
            </a:avLst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525616" y="4288536"/>
            <a:ext cx="490712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real-time financials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25616" y="4800600"/>
            <a:ext cx="4888840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a Kuja Build pilot for a few grantees — multi-tenant, grant-scoped donor visibility, live in weeks.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kuja@adeso.org</a:t>
            </a:r>
            <a:pPr algn="ctr" indent="0" marL="0">
              <a:buNone/>
            </a:pPr>
            <a:r>
              <a:rPr lang="en-US" sz="12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https://web-production-6f8a.up.railway.app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437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Adeso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Kuja Fund — the grant system</dc:title>
  <dc:subject>PptxGenJS Presentation</dc:subject>
  <dc:creator>Adeso / Kuja</dc:creator>
  <cp:lastModifiedBy>Adeso / Kuja</cp:lastModifiedBy>
  <cp:revision>1</cp:revision>
  <dcterms:created xsi:type="dcterms:W3CDTF">2026-08-17T21:11:55Z</dcterms:created>
  <dcterms:modified xsi:type="dcterms:W3CDTF">2026-08-17T21:11:55Z</dcterms:modified>
</cp:coreProperties>
</file>