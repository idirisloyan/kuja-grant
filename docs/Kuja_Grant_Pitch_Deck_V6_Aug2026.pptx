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6012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KUJA PRODUCT   ·   BUILT BY ADESO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0" b="1" spc="100" kern="0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 FUND</a:t>
            </a:r>
            <a:endParaRPr lang="en-US" sz="82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end-to-end grant system, AI-grounded.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→ apply → review → award → report → comply.  </a:t>
            </a:r>
            <a:pPr indent="0" marL="0">
              <a:buNone/>
            </a:pPr>
            <a:r>
              <a:rPr lang="en-US" sz="17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four live tenants, Trust built in.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389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 ·  Six languages at parity: </a:t>
            </a:r>
            <a:pPr indent="0" marL="0">
              <a:buNone/>
            </a:pPr>
            <a:r>
              <a:rPr lang="en-US" sz="12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Somali · Swahili · Arabic · French</a:t>
            </a:r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English · Spanish  ·  Production-deployed today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10607040" cy="0"/>
          </a:xfrm>
          <a:prstGeom prst="line">
            <a:avLst/>
          </a:prstGeom>
          <a:noFill/>
          <a:ln w="12700">
            <a:solidFill>
              <a:srgbClr val="4A31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257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Pitch Deck V6  ·  August 2026  ·  Confidential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11135" y="5257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info@kuja.org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lower the floor on who gets funded.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funding shock in modern history meets a one-time AI opening — and the barriers fall hardest where Kuja already ships.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45738" cy="3063240"/>
          </a:xfrm>
          <a:prstGeom prst="roundRect">
            <a:avLst>
              <a:gd name="adj" fmla="val 2687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258775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58952" y="352044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funding reaches local actors, 2024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8952" y="422452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25% Grand Bargain target signed by 60+ donors in 2016 — the system has failed Global South CSOs by a factor of three-plus. The gap is usable, trusted infrastructure.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978" y="2331720"/>
            <a:ext cx="3545738" cy="3063240"/>
          </a:xfrm>
          <a:prstGeom prst="roundRect">
            <a:avLst>
              <a:gd name="adj" fmla="val 2687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9010" y="258775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$75.9B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9010" y="352044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USAID program value terminated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9010" y="422452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USAID programs cancelled; OECD ODA fell 23.1% in 2025 — the largest decline on record. Less money is chasing the same need.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3037" y="2331720"/>
            <a:ext cx="3545738" cy="3063240"/>
          </a:xfrm>
          <a:prstGeom prst="roundRect">
            <a:avLst>
              <a:gd name="adj" fmla="val 2687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9069" y="258775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399069" y="352044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foundations don’t screen with AI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99069" y="422452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only 1 in 10 funders would accept AI-written proposals. The funder side is greenfield for an AI-native system that grounds every output and cites its source.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562356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· literacy · connectivity · channel · cost · compliance burden — Kuja Fund lowers all six.  Sources: ALNAP GHA 2025 · OECD 2026 · Candid 2024.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AND FOR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built for the Global South — built FROM it.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positioning. It is the only reason the product exists — and why every claim is something Adeso operates, not theory.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founded in Somalia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Degan Ali — local response, local accountability, local leadership.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3392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3392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3" name="Text 11"/>
          <p:cNvSpPr/>
          <p:nvPr/>
        </p:nvSpPr>
        <p:spPr>
          <a:xfrm>
            <a:off x="3637712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37712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NEAR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37712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60+ member network of frontline Global South CSOs. The reference architecture for closed networks.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3864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3864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8184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98184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building Kuja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8184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ran on a stitched stack of tools. We replaced them all with Kuja — out of our own pain.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84335" y="2377440"/>
            <a:ext cx="2604440" cy="2651760"/>
          </a:xfrm>
          <a:prstGeom prst="roundRect">
            <a:avLst>
              <a:gd name="adj" fmla="val 316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4335" y="2377440"/>
            <a:ext cx="82296" cy="26517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3" name="Text 21"/>
          <p:cNvSpPr/>
          <p:nvPr/>
        </p:nvSpPr>
        <p:spPr>
          <a:xfrm>
            <a:off x="9358655" y="2633472"/>
            <a:ext cx="21015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9358655" y="3218688"/>
            <a:ext cx="210152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58655" y="3749040"/>
            <a:ext cx="21015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runs its own grants, compliance and operations on Kuja daily. Every product claim is verifiable.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525780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for the field officer with a Tecno phone on 3G — Swahili at home, Somali at work — who has half a day to report, not three, and builds trust through evidence, not application essays.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AND FOR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Design. Apply. Review. Award. Report.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grant — from any tenant — flows through five stages, and AI grounds every step with citations back to the source record.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58952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NETWORK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58952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Wizard-driven. AI suggests rubric weights, eligibility and criteria from prior funds.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46238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83982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40014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5" name="Text 13"/>
          <p:cNvSpPr/>
          <p:nvPr/>
        </p:nvSpPr>
        <p:spPr>
          <a:xfrm>
            <a:off x="3040014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40014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040014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040014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co-author from the Trust Passport. Six languages, voice-to-text, photo-as-evidence.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27300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65044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21076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2" name="Text 20"/>
          <p:cNvSpPr/>
          <p:nvPr/>
        </p:nvSpPr>
        <p:spPr>
          <a:xfrm>
            <a:off x="5321076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321076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321076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PANEL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21076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per-criterion scoring, AI-grounded with citations. Hard gates at submit.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108363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46107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02139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9" name="Text 27"/>
          <p:cNvSpPr/>
          <p:nvPr/>
        </p:nvSpPr>
        <p:spPr>
          <a:xfrm>
            <a:off x="7602139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02139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602139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OB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602139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signature with COI capture. Agreement upload triggers AI obligation extraction.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389425" y="2331720"/>
            <a:ext cx="219456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627169" y="2331720"/>
            <a:ext cx="2061606" cy="2148840"/>
          </a:xfrm>
          <a:prstGeom prst="roundRect">
            <a:avLst>
              <a:gd name="adj" fmla="val 3992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83201" y="2551176"/>
            <a:ext cx="457200" cy="457200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36" name="Text 34"/>
          <p:cNvSpPr/>
          <p:nvPr/>
        </p:nvSpPr>
        <p:spPr>
          <a:xfrm>
            <a:off x="9883201" y="2551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883201" y="3118104"/>
            <a:ext cx="1604406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883201" y="3392424"/>
            <a:ext cx="1604406" cy="237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+ DONOR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9883201" y="3648456"/>
            <a:ext cx="1604406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against the agreement, per requirement, with risk flags and citations.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4700016"/>
            <a:ext cx="11185855" cy="566928"/>
          </a:xfrm>
          <a:prstGeom prst="roundRect">
            <a:avLst>
              <a:gd name="adj" fmla="val 16129"/>
            </a:avLst>
          </a:prstGeom>
          <a:solidFill>
            <a:srgbClr val="21130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700016"/>
            <a:ext cx="10637215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 THROUGH ALL FIVE   </a:t>
            </a:r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grounding (50+ surfaces)  ·  portable Trust Passport  ·  hash-anchored audit chain  ·  six-language parity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THE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50+ AI surfaces. Grounded. Citable. Audited.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guides every persona in context — the NGO as it applies and completes its Trust forms, the donor as it designs and reviews grants, the reviewer as it scores. Every surface cites its source.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Rubric-weight suggester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templater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validator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0325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0325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018069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18069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co-author drafts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Voice-to-text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Photo-as-evidence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parity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57729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57729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5295473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95473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Per-criterion scoring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Score-breakdown explainer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Why-rejected feedback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flagger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35134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5134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20" name="Text 18"/>
          <p:cNvSpPr/>
          <p:nvPr/>
        </p:nvSpPr>
        <p:spPr>
          <a:xfrm>
            <a:off x="7572878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72878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obligation extract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Risk-flag pre-flight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Signature-pace coach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12539" y="2377440"/>
            <a:ext cx="2076237" cy="2697480"/>
          </a:xfrm>
          <a:prstGeom prst="roundRect">
            <a:avLst>
              <a:gd name="adj" fmla="val 396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12539" y="2377440"/>
            <a:ext cx="82296" cy="2697480"/>
          </a:xfrm>
          <a:prstGeom prst="roundRect">
            <a:avLst>
              <a:gd name="adj" fmla="val 44444"/>
            </a:avLst>
          </a:prstGeom>
          <a:solidFill>
            <a:srgbClr val="A78BFA"/>
          </a:solidFill>
          <a:ln/>
        </p:spPr>
      </p:sp>
      <p:sp>
        <p:nvSpPr>
          <p:cNvPr id="24" name="Text 22"/>
          <p:cNvSpPr/>
          <p:nvPr/>
        </p:nvSpPr>
        <p:spPr>
          <a:xfrm>
            <a:off x="9850283" y="2596896"/>
            <a:ext cx="1710477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50283" y="2962656"/>
            <a:ext cx="1673901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Per-requirement grade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 export</a:t>
            </a:r>
            <a:endParaRPr lang="en-US" sz="1000" dirty="0"/>
          </a:p>
          <a:p>
            <a:pPr marL="127000" indent="-1270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parity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53492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under the hood. Foundation-side AI adoption is near zero, so the category is greenfield for a system that is AI-native — not AI-bolted.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ARCHITECTURE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BUILT 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once. Carried into every grant.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portable Kuja Trust Passport plugs straight into the lifecycle — an NGO’s due diligence is done once and reused, never repeated per funder.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7228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201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Kuja Fund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941168" y="233172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39836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809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hand-off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67248" y="233172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32444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417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once in Kuja Trust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93328" y="233172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250528" y="2331720"/>
            <a:ext cx="2468880" cy="658368"/>
          </a:xfrm>
          <a:prstGeom prst="roundRect">
            <a:avLst>
              <a:gd name="adj" fmla="val 16667"/>
            </a:avLst>
          </a:prstGeom>
          <a:solidFill>
            <a:srgbClr val="271A11"/>
          </a:solidFill>
          <a:ln w="15875">
            <a:solidFill>
              <a:srgbClr val="F0A4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60256" y="2331720"/>
            <a:ext cx="2249424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result returns to scoring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337560"/>
            <a:ext cx="5455768" cy="2148840"/>
          </a:xfrm>
          <a:prstGeom prst="roundRect">
            <a:avLst>
              <a:gd name="adj" fmla="val 383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337560"/>
            <a:ext cx="82296" cy="21488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557016"/>
            <a:ext cx="495284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PORTABLE TRUST PASSPORT · SIX PILLARS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4998568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registration — 7 African registries pre-mapped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&amp; PEP — OpenSanctions live, UN / OFAC / EU fallback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media — AI 24-month lookback, per-finding citations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verification — Plaid + IBAN + microdeposit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of interest — captured per signature step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assessment — five-framework, reusable, publishable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3008" y="3337560"/>
            <a:ext cx="5455768" cy="2148840"/>
          </a:xfrm>
          <a:prstGeom prst="roundRect">
            <a:avLst>
              <a:gd name="adj" fmla="val 383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33008" y="3337560"/>
            <a:ext cx="82296" cy="214884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6507328" y="3557016"/>
            <a:ext cx="495284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PLUGS INTO THE GRANT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07328" y="3886200"/>
            <a:ext cx="4998568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grant application, one click hands the NGO off to Kuja Trust to complete its capacity assessment. The </a:t>
            </a:r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result flows straight back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application and into the reviewer’s ranking — no re-keying, no duplicate diligence. Every application, report and compliance score writes back into the passport, so the next cycle is faster for both sides. Because Trust is a discrete asset, it is also </a:t>
            </a:r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licensable to DD providers.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BUILT IN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COMPLIANCE · THE HEADLINE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reports in. Scored deliverables out.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supports the NGO in real time and in context as it reports — then hands the donor a deliverable already graded, per requirement, against the signed agreement.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55768" cy="2743200"/>
          </a:xfrm>
          <a:prstGeom prst="roundRect">
            <a:avLst>
              <a:gd name="adj" fmla="val 3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274320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569464"/>
            <a:ext cx="490712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NGO · PRODUCE A QUALITY, ACCURATE REPORT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2935224"/>
            <a:ext cx="4888840" cy="1965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in-context guidance while writing — the field it belongs to, in plain language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as deadlines approach, over the app and WhatsApp — nothing slips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coach: what is missing, why it matters, and how to fix it — inline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per-requirement pre-check before submit, so the report is complete and accurate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Voice-to-report and photo-as-evidence where typing is the barrier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5455768" cy="2743200"/>
          </a:xfrm>
          <a:prstGeom prst="roundRect">
            <a:avLst>
              <a:gd name="adj" fmla="val 3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33008" y="2331720"/>
            <a:ext cx="82296" cy="274320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2" name="Text 10"/>
          <p:cNvSpPr/>
          <p:nvPr/>
        </p:nvSpPr>
        <p:spPr>
          <a:xfrm>
            <a:off x="6525616" y="2569464"/>
            <a:ext cx="490712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DONOR · RECEIVE PRE-SCORED DELIVERABLES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25616" y="2935224"/>
            <a:ext cx="4888840" cy="1965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agreement is parsed once into structured requirements, deadlines and indicators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arrives already graded — met / partial / missing — per requirement, with citations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flags surface early in your dashboard, before a quarterly review would catch them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donor pack, in English and the local language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the exceptions, not raw submissions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5577840"/>
            <a:ext cx="11185855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moat:  </a:t>
            </a:r>
            <a:pPr algn="ctr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grant-management system on the market — Submittable, Foundant, Fluxx, Salesforce, Blackbaud, GivingData — evaluates reports against the agreement, per requirement, with citations. Kuja does it in production today.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COMPLIANCE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 · FOUR LIVE TENANTS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engine. Four trust flavors.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flavor that matches how you fund. All four share the five-stage lifecycle, the AI and the audit chain — the flavor changes how trust is established, never the engine.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· DIRECT COMPLIANCE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donor runs rounds; any qualified NGO applies. AI grades every report against the agreement, in real time.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3392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3392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E8B04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7712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7712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· NETWORK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37712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secretariat hosts a private platform; vetted members apply to fund windows. Multi-sig governance and OB oversight.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3864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3864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6498184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PROXIMATE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98184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· RELATIONAL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98184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Sudan, live. Community endorsers vouch where no registry exists. Arabic-first zero-login voice reporting, hawala + mobile money.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84335" y="2331720"/>
            <a:ext cx="2604440" cy="2423160"/>
          </a:xfrm>
          <a:prstGeom prst="roundRect">
            <a:avLst>
              <a:gd name="adj" fmla="val 339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4335" y="2331720"/>
            <a:ext cx="82296" cy="242316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23" name="Text 21"/>
          <p:cNvSpPr/>
          <p:nvPr/>
        </p:nvSpPr>
        <p:spPr>
          <a:xfrm>
            <a:off x="9358655" y="2587752"/>
            <a:ext cx="210152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SAXANSAXO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58655" y="3044952"/>
            <a:ext cx="2147240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 · SCLR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58655" y="3520440"/>
            <a:ext cx="2101520" cy="1143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Somalia, live. Groups write their own proposals in Somali on any phone; a visible 10-day clock to money, no spend policing by design.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4956048"/>
            <a:ext cx="11185855" cy="658368"/>
          </a:xfrm>
          <a:prstGeom prst="roundRect">
            <a:avLst>
              <a:gd name="adj" fmla="val 13889"/>
            </a:avLst>
          </a:prstGeom>
          <a:solidFill>
            <a:srgbClr val="211308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956048"/>
            <a:ext cx="10637215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DONOR-COMPLIANCE LOOP  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signed agreement → AI extracts obligations → enforced at disbursement → reports scored per requirement → one-click donor pack. Adeso complies with its own institutional funders on the engine it sells.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LIVE TENANTS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clients. Two opposite playbooks. One engine.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Proximate demanded MORE control than any incumbent offers. Saxansaxo demanded LESS. Kuja Fund runs both — configured, not forked.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55768" cy="3200400"/>
          </a:xfrm>
          <a:prstGeom prst="roundRect">
            <a:avLst>
              <a:gd name="adj" fmla="val 2571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3200400"/>
          </a:xfrm>
          <a:prstGeom prst="roundRect">
            <a:avLst>
              <a:gd name="adj" fmla="val 44444"/>
            </a:avLst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569464"/>
            <a:ext cx="4907128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PROXIMATE FUND — SUDAN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5528" y="2916936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COMPLIANCE-STRICT · ACTIVE CONFLICT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3300984"/>
            <a:ext cx="4888840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endorsement replaces registry paperwork — neighbours vouch; reputation is scored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screening fires automatically at every entry path; cosign ladder scales with amount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Hawala + mobile money as first-class rails, with Plan-B fallback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phone: zero-login token link, voice notes in Arabic, photos as evidence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 run as software: intervention timers, 72h grievance SLA, hash-chained audit on every decision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331720"/>
            <a:ext cx="5455768" cy="3200400"/>
          </a:xfrm>
          <a:prstGeom prst="roundRect">
            <a:avLst>
              <a:gd name="adj" fmla="val 2571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331720"/>
            <a:ext cx="82296" cy="320040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13" name="Text 11"/>
          <p:cNvSpPr/>
          <p:nvPr/>
        </p:nvSpPr>
        <p:spPr>
          <a:xfrm>
            <a:off x="6525616" y="2569464"/>
            <a:ext cx="4907128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SAXANSAXO — SOMALIA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25616" y="2916936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LIGHT · SCLR DOCTRINE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25616" y="3300984"/>
            <a:ext cx="4888840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 / gatekeeper permission recorded first — intake refuses a group without it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write their OWN proposals in Somali — a shareable link, no login, any phone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10-day clock from selection to money in hand — the one metric that matters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receipts, no spend policing by design — record decisions, not suspicion</a:t>
            </a:r>
            <a:endParaRPr lang="en-US" sz="11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to live in 15 days; a quiet legal floor (sanctions + record of who was paid) stays invisible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57150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in active conflict. Somalia’s hardest-to-reach districts. Where connectivity, registries and banking cannot be assumed — the engine still delivers.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PROOF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meet NGOs where they are.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parity in Somali, Swahili, Arabic and French — plus WhatsApp, voice, photos and mobile-first. The way Global South work actually happens, not a desktop form in English.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514600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Somali · Swahili · Arabic · French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2916936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parity at the WORKFLOW level (with English &amp; Spanish) — not translated strings, but translated AI behaviour. Our core advantage in markets mainstream tools ignore.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6882" y="2331720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6882" y="2331720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91202" y="2514600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1202" y="2916936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status, get a deadline nudge, answer a clarification — all from WhatsApp, the channel CSOs already use.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0845" y="2331720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0845" y="2331720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16" name="Text 14"/>
          <p:cNvSpPr/>
          <p:nvPr/>
        </p:nvSpPr>
        <p:spPr>
          <a:xfrm>
            <a:off x="8405165" y="2514600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Voice-to-report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05165" y="2916936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officer speaks in Swahili; AI transcribes, structures and translates. Five minutes vs an hour of typing.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3922776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922776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105656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Photo-as-evidence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4507992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receipt, the borehole, the training. AI labels, geo-tags and attaches to the right report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6882" y="3922776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16882" y="3922776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24" name="Text 22"/>
          <p:cNvSpPr/>
          <p:nvPr/>
        </p:nvSpPr>
        <p:spPr>
          <a:xfrm>
            <a:off x="4591202" y="4105656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low-bandwidth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91202" y="4507992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 Tecno phone on 3G. Forms load progressively; voice and photo work offline and sync on reconnect.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30845" y="3922776"/>
            <a:ext cx="3557930" cy="1371600"/>
          </a:xfrm>
          <a:prstGeom prst="roundRect">
            <a:avLst>
              <a:gd name="adj" fmla="val 6000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0845" y="3922776"/>
            <a:ext cx="82296" cy="137160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28" name="Text 26"/>
          <p:cNvSpPr/>
          <p:nvPr/>
        </p:nvSpPr>
        <p:spPr>
          <a:xfrm>
            <a:off x="8405165" y="4105656"/>
            <a:ext cx="3055010" cy="384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05165" y="4507992"/>
            <a:ext cx="305501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explanations of what is missing, why, and how to fix it — the expertise gap, addressed inline.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BUILD · OPT-IN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Want real-time financials? Opt into Kuja Build.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tenant gets AI-evaluated reports out of the box. Kuja Build — the nonprofit operating system — makes the financials flow in real time.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267712"/>
            <a:ext cx="385556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 + AI  (no Build)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87488" y="2267712"/>
            <a:ext cx="3855568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KUJA BUILD  (opt-in)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633472"/>
            <a:ext cx="11185855" cy="0"/>
          </a:xfrm>
          <a:prstGeom prst="line">
            <a:avLst/>
          </a:prstGeom>
          <a:noFill/>
          <a:ln w="12700">
            <a:solidFill>
              <a:srgbClr val="4A31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688336"/>
            <a:ext cx="11185855" cy="5669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88336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49040" y="2688336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submissions per criterion, with citations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87488" y="2688336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from the ledger — real-time burn rate &amp; variance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255264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cadence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749040" y="3255264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/ monthly point-in-time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87488" y="3255264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as spend events flow 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822192"/>
            <a:ext cx="11185855" cy="5669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822192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822192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each submission event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87488" y="3822192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every spend event, at entry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4389120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variance flags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49040" y="4389120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when reports come in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87488" y="4389120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the day a line crosses threshold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956048"/>
            <a:ext cx="11185855" cy="5669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56048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visibility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749040" y="4956048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Per-report dashboard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87488" y="4956048"/>
            <a:ext cx="3764128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Multi-tenant, cross-grantee spend roll-up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562356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donor visibility is the wedge no competitor has — each NGO owns its tenant; donors get a role-aware view of grant-scoped spend across their grantees. Fed by API, at the org’s consent — the donor never adopts an ERP.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BUILD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system on the market does what we do.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capabilities, verified against seven leading grant-management systems. The integrated combination is the proposition no single vendor matches.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4480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74920" y="2286000"/>
            <a:ext cx="944836" cy="3785616"/>
          </a:xfrm>
          <a:prstGeom prst="rect">
            <a:avLst/>
          </a:prstGeom>
          <a:solidFill>
            <a:srgbClr val="2A1508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019756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Submit­table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964593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909429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Fluxx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854266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 Grants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799102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Black­baud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743939" y="2286000"/>
            <a:ext cx="944836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Giving­Data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651760"/>
            <a:ext cx="11185855" cy="0"/>
          </a:xfrm>
          <a:prstGeom prst="line">
            <a:avLst/>
          </a:prstGeom>
          <a:noFill/>
          <a:ln w="12700">
            <a:solidFill>
              <a:srgbClr val="4A31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688336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" y="2688336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grant lifecycle (5 stages)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74920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19756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64593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09429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54266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99102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743939" y="268833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2648" y="3026664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Closed-network hosting + multi-sig governance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74920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19756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64593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909429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854266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799102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743939" y="302666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3364992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34" name="Text 32"/>
          <p:cNvSpPr/>
          <p:nvPr/>
        </p:nvSpPr>
        <p:spPr>
          <a:xfrm>
            <a:off x="612648" y="3364992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declaration workflow (multi-sig + audit)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74920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019756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64593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09429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854266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99102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743939" y="336499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12648" y="3703320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rubric scoring with citations to source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74920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019756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964593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909429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54266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799102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743939" y="370332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02920" y="4041648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51" name="Text 49"/>
          <p:cNvSpPr/>
          <p:nvPr/>
        </p:nvSpPr>
        <p:spPr>
          <a:xfrm>
            <a:off x="612648" y="4041648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per-requirement report evaluation vs agreement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074920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019756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964593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909429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854266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799102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743939" y="404164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12648" y="4379976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obligation extraction from the agreement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074920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019756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964593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909429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854266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9799102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0743939" y="4379976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02920" y="4718304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68" name="Text 66"/>
          <p:cNvSpPr/>
          <p:nvPr/>
        </p:nvSpPr>
        <p:spPr>
          <a:xfrm>
            <a:off x="612648" y="4718304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 for the NGO grantee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074920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6019756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6964593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7909429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8854266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9799102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10743939" y="4718304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612648" y="5056632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voice / photo accessibility stack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074920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6019756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6964593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7909429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8854266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799102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10743939" y="5056632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502920" y="5394960"/>
            <a:ext cx="4572000" cy="338328"/>
          </a:xfrm>
          <a:prstGeom prst="rect">
            <a:avLst/>
          </a:prstGeom>
          <a:solidFill>
            <a:srgbClr val="271A11"/>
          </a:solidFill>
          <a:ln/>
        </p:spPr>
      </p:sp>
      <p:sp>
        <p:nvSpPr>
          <p:cNvPr id="85" name="Text 83"/>
          <p:cNvSpPr/>
          <p:nvPr/>
        </p:nvSpPr>
        <p:spPr>
          <a:xfrm>
            <a:off x="612648" y="5394960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workflow parity (incl. Somali)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74920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6019756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6964593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7909429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8854266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9799102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10743939" y="5394960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3" name="Text 91"/>
          <p:cNvSpPr/>
          <p:nvPr/>
        </p:nvSpPr>
        <p:spPr>
          <a:xfrm>
            <a:off x="612648" y="5733288"/>
            <a:ext cx="4389120" cy="3383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 + 7-country registries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5074920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00" dirty="0"/>
          </a:p>
        </p:txBody>
      </p:sp>
      <p:sp>
        <p:nvSpPr>
          <p:cNvPr id="95" name="Text 93"/>
          <p:cNvSpPr/>
          <p:nvPr/>
        </p:nvSpPr>
        <p:spPr>
          <a:xfrm>
            <a:off x="6019756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6" name="Text 94"/>
          <p:cNvSpPr/>
          <p:nvPr/>
        </p:nvSpPr>
        <p:spPr>
          <a:xfrm>
            <a:off x="6964593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7909429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8854266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99" name="Text 97"/>
          <p:cNvSpPr/>
          <p:nvPr/>
        </p:nvSpPr>
        <p:spPr>
          <a:xfrm>
            <a:off x="9799102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100" name="Text 98"/>
          <p:cNvSpPr/>
          <p:nvPr/>
        </p:nvSpPr>
        <p:spPr>
          <a:xfrm>
            <a:off x="10743939" y="5733288"/>
            <a:ext cx="9448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200" dirty="0"/>
          </a:p>
        </p:txBody>
      </p:sp>
      <p:sp>
        <p:nvSpPr>
          <p:cNvPr id="101" name="Text 99"/>
          <p:cNvSpPr/>
          <p:nvPr/>
        </p:nvSpPr>
        <p:spPr>
          <a:xfrm>
            <a:off x="502920" y="6163056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Yes    ◐ Partial / limited    ○ No        Verified 2026 · detail in the Kuja Grant Market Analysis §6.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funding shock meets a 150,000-NGO market.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South mid-size NGO is the buyer; the funding shock is the demand signal; the AI opening is the timing.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3545738" cy="2834640"/>
          </a:xfrm>
          <a:prstGeom prst="roundRect">
            <a:avLst>
              <a:gd name="adj" fmla="val 2903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263347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478K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58952" y="356616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universe (US 990 filers)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8952" y="404164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+897K CSOs in Brazil, 187K on Darpan India. Mid-size NGOs ($1–50M) carry operational complexity, a SaaS budget and donor pressure.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978" y="2377440"/>
            <a:ext cx="3545738" cy="2834640"/>
          </a:xfrm>
          <a:prstGeom prst="roundRect">
            <a:avLst>
              <a:gd name="adj" fmla="val 2903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9010" y="263347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15–35K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579010" y="356616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Global South NGOs (SAM)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9010" y="404164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by geography, grant-making or -receiving at scale, and grant-management or stitched-stack pain.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3037" y="2377440"/>
            <a:ext cx="3545738" cy="2834640"/>
          </a:xfrm>
          <a:prstGeom prst="roundRect">
            <a:avLst>
              <a:gd name="adj" fmla="val 2903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9069" y="2633472"/>
            <a:ext cx="3033674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$2.6→4.2B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99069" y="3566160"/>
            <a:ext cx="3033674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grant-management software, 2025→2030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99069" y="4041648"/>
            <a:ext cx="3033674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capture rate under 0.5% of this market clears the target (Mordor Intelligence). The closed-network flavor adds on top.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budget. NGOs never pay.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funder posting the grant pays a flat annual fee per tier — grant volume selects the tier, never a percentage of grants or disbursements. Applicants and grantees are always free.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$4K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58952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$250K grants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09901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09901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4" name="Text 12"/>
          <p:cNvSpPr/>
          <p:nvPr/>
        </p:nvSpPr>
        <p:spPr>
          <a:xfrm>
            <a:off x="2556205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9629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2665933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56205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$1M · small funders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316882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16882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0" name="Text 18"/>
          <p:cNvSpPr/>
          <p:nvPr/>
        </p:nvSpPr>
        <p:spPr>
          <a:xfrm>
            <a:off x="4463186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26610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$16K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2914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63186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$5M · foundations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23864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23864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6" name="Text 24"/>
          <p:cNvSpPr/>
          <p:nvPr/>
        </p:nvSpPr>
        <p:spPr>
          <a:xfrm>
            <a:off x="6370168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3592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479896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0168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$15M · multi-country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130845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0845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32" name="Text 30"/>
          <p:cNvSpPr/>
          <p:nvPr/>
        </p:nvSpPr>
        <p:spPr>
          <a:xfrm>
            <a:off x="8277149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40573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8386877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7149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$50M · pooled funds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037826" y="2423160"/>
            <a:ext cx="1650949" cy="2606040"/>
          </a:xfrm>
          <a:prstGeom prst="roundRect">
            <a:avLst>
              <a:gd name="adj" fmla="val 498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37826" y="2423160"/>
            <a:ext cx="82296" cy="2606040"/>
          </a:xfrm>
          <a:prstGeom prst="roundRect">
            <a:avLst>
              <a:gd name="adj" fmla="val 44444"/>
            </a:avLst>
          </a:prstGeom>
          <a:solidFill>
            <a:srgbClr val="F0A44A"/>
          </a:solidFill>
          <a:ln/>
        </p:spPr>
      </p:sp>
      <p:sp>
        <p:nvSpPr>
          <p:cNvPr id="38" name="Text 36"/>
          <p:cNvSpPr/>
          <p:nvPr/>
        </p:nvSpPr>
        <p:spPr>
          <a:xfrm>
            <a:off x="10184130" y="2642616"/>
            <a:ext cx="1376629" cy="320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147554" y="3081528"/>
            <a:ext cx="1431493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$100K+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10293858" y="3794760"/>
            <a:ext cx="113888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184130" y="3886200"/>
            <a:ext cx="1358341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9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bilaterals · custom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" y="5532120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pilot-validation targets, not a public rate card. Included: full lifecycle + reviewer workflows, AI drafting/extraction/evaluation, sanctions + registry checks, multilingual mobile access, audit exports, and a free core Trust Passport for every applicant. Suite bundles with Trust + Build available.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advantages incumbents cannot match.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 proves it row-by-row; the architecture explains why a stitched stack would have to be rebuilt to catch up.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57930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5328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51176"/>
            <a:ext cx="250637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flavors on one codebase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58952" y="3081528"/>
            <a:ext cx="305501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Incumbents are direct-compliance only. None hosts a closed network with multi-sig, a crisis fund on relational validation, or a community-led fund with no spend policing. We run all four.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316882" y="2331720"/>
            <a:ext cx="3557930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16882" y="233172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914" y="25328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39842" y="2551176"/>
            <a:ext cx="250637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AI-native, grounded, citable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914" y="3081528"/>
            <a:ext cx="305501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AI surfaces grounded in the customer record with citations. Incumbents bolt LLMs onto data models built before the AI era.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8130845" y="2331720"/>
            <a:ext cx="3557930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0845" y="233172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8" name="Text 16"/>
          <p:cNvSpPr/>
          <p:nvPr/>
        </p:nvSpPr>
        <p:spPr>
          <a:xfrm>
            <a:off x="8386877" y="25328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53805" y="2551176"/>
            <a:ext cx="250637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Global-South-built · six languages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86877" y="3081528"/>
            <a:ext cx="305501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parity in Somali, Swahili, Arabic and French (plus English &amp; Spanish). WhatsApp, voice, photo, mobile-first — designed for the Tecno phone on 3G, not localized after the fact.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02920" y="4014216"/>
            <a:ext cx="5464912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014216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3" name="Text 21"/>
          <p:cNvSpPr/>
          <p:nvPr/>
        </p:nvSpPr>
        <p:spPr>
          <a:xfrm>
            <a:off x="758952" y="4215384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25880" y="4233672"/>
            <a:ext cx="4413352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reporting &amp; Trust, in one loop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58952" y="4764024"/>
            <a:ext cx="4961992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Per-requirement evaluation with citations, plus a portable Trust Passport that flows into scoring. No competitor ships either in our segment.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23864" y="4014216"/>
            <a:ext cx="5464912" cy="1463040"/>
          </a:xfrm>
          <a:prstGeom prst="roundRect">
            <a:avLst>
              <a:gd name="adj" fmla="val 5625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23864" y="4014216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28" name="Text 26"/>
          <p:cNvSpPr/>
          <p:nvPr/>
        </p:nvSpPr>
        <p:spPr>
          <a:xfrm>
            <a:off x="6479896" y="4215384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046824" y="4233672"/>
            <a:ext cx="4413352" cy="365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79896" y="4764024"/>
            <a:ext cx="4961992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to the data model, not exported on demand. Tamper one row and every row after it breaks.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today. Built in production, not on a whiteboard.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572768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this deck is verifiable against the running system — Adeso operates on it daily.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96312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377440" y="2331720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surfaces in production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6882" y="2331720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1202" y="2496312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191402" y="2331720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tenants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0845" y="2331720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05165" y="2496312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54/54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005365" y="2331720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E2E regression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602736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767328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19/19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377440" y="3602736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UAT suite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16882" y="3602736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1202" y="3767328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67/67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91402" y="3602736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invariants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0845" y="3602736"/>
            <a:ext cx="3557930" cy="1051560"/>
          </a:xfrm>
          <a:prstGeom prst="roundRect">
            <a:avLst>
              <a:gd name="adj" fmla="val 7826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05165" y="3767328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130+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0005365" y="3602736"/>
            <a:ext cx="154625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phases shipped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37176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languages at parity · seven African registries pre-mapped · 50/50 sustained health probes · daily production deploys.  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https://web-production-6f8a.up.railway.app — demo on request.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PROOF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0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02336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</a:t>
            </a:r>
            <a:pPr algn="l" indent="0" marL="0">
              <a:buNone/>
            </a:pPr>
            <a:r>
              <a:rPr lang="en-US" sz="1200" spc="250" kern="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000" b="1" dirty="0">
                <a:solidFill>
                  <a:srgbClr val="FAF4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audiences. Three ways to start.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40280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E8B04B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478024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run a network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990088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6-week closed-tenant pilot — your branding, three test members, one fund window. Roll out from there.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3008" y="2240280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33008" y="2240280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C2410C"/>
          </a:solidFill>
          <a:ln/>
        </p:spPr>
      </p:sp>
      <p:sp>
        <p:nvSpPr>
          <p:cNvPr id="11" name="Text 9"/>
          <p:cNvSpPr/>
          <p:nvPr/>
        </p:nvSpPr>
        <p:spPr>
          <a:xfrm>
            <a:off x="6525616" y="2478024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fund the Global South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25616" y="2990088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Fund pilot ($7.5K). Run one grant cycle end-to-end; AI evaluates reports, the audit chain anchors every decision.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050792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4050792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288536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a Global South NGO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5528" y="4800600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free, build your Trust Passport once, and carry it into every grant on the platform.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33008" y="4050792"/>
            <a:ext cx="5455768" cy="1554480"/>
          </a:xfrm>
          <a:prstGeom prst="roundRect">
            <a:avLst>
              <a:gd name="adj" fmla="val 5294"/>
            </a:avLst>
          </a:prstGeom>
          <a:solidFill>
            <a:srgbClr val="271A11"/>
          </a:solidFill>
          <a:ln w="12700">
            <a:solidFill>
              <a:srgbClr val="4A31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4050792"/>
            <a:ext cx="82296" cy="1554480"/>
          </a:xfrm>
          <a:prstGeom prst="roundRect">
            <a:avLst>
              <a:gd name="adj" fmla="val 44444"/>
            </a:avLst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6525616" y="4288536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want real-time financials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25616" y="4800600"/>
            <a:ext cx="4888840" cy="713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a Kuja Build pilot for a few grantees — multi-tenant, grant-scoped donor visibility, live in weeks.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info@kuja.org</a:t>
            </a:r>
            <a:pPr algn="ctr" indent="0" marL="0">
              <a:buNone/>
            </a:pPr>
            <a:r>
              <a:rPr lang="en-US" sz="125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·      https://web-production-6f8a.up.railway.app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4373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FUND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52648" y="643737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6382512"/>
            <a:ext cx="11185855" cy="0"/>
          </a:xfrm>
          <a:prstGeom prst="line">
            <a:avLst/>
          </a:prstGeom>
          <a:noFill/>
          <a:ln w="9525">
            <a:solidFill>
              <a:srgbClr val="4A312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Adeso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Kuja Fund — the grant system</dc:title>
  <dc:subject>PptxGenJS Presentation</dc:subject>
  <dc:creator>Adeso / Kuja</dc:creator>
  <cp:lastModifiedBy>Adeso / Kuja</cp:lastModifiedBy>
  <cp:revision>1</cp:revision>
  <dcterms:created xsi:type="dcterms:W3CDTF">2026-08-17T21:31:45Z</dcterms:created>
  <dcterms:modified xsi:type="dcterms:W3CDTF">2026-08-17T21:31:45Z</dcterms:modified>
</cp:coreProperties>
</file>