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3B5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4572000"/>
            <a:ext cx="1371600" cy="1371600"/>
          </a:xfrm>
          <a:prstGeom prst="ellipse">
            <a:avLst/>
          </a:prstGeom>
          <a:solidFill>
            <a:srgbClr val="3B5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5486400"/>
            <a:ext cx="914400" cy="914400"/>
          </a:xfrm>
          <a:prstGeom prst="ellipse">
            <a:avLst/>
          </a:prstGeom>
          <a:solidFill>
            <a:srgbClr val="3B5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0" b="1">
                <a:solidFill>
                  <a:srgbClr val="FFFFFF"/>
                </a:solidFill>
                <a:latin typeface="Calibri"/>
              </a:defRPr>
            </a:pPr>
            <a:r>
              <a:t>KUJA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834640"/>
            <a:ext cx="2286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The First AI-Powered End-to-End</a:t>
            </a:r>
            <a:br/>
            <a:r>
              <a:t>Grant Management Platform for the Global South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A5B4FC"/>
                </a:solidFill>
                <a:latin typeface="Calibri"/>
              </a:defRPr>
            </a:pPr>
            <a:r>
              <a:t>Powered by Adeso — 30 Years of African-Led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93A3BF"/>
                </a:solidFill>
                <a:latin typeface="Calibri"/>
              </a:defRPr>
            </a:pPr>
            <a:r>
              <a:t>March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5669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400" b="0">
                <a:solidFill>
                  <a:srgbClr val="93A3BF"/>
                </a:solidFill>
                <a:latin typeface="Calibri"/>
              </a:defRPr>
            </a:pPr>
            <a:r>
              <a:t>kuja.org  |  adesoafrica.org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Funding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2/16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3291840" cy="34747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3017520" cy="50292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FOR CSOs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031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4–12 duplicate assessments per year</a:t>
            </a:r>
          </a:p>
          <a:p>
            <a:pPr algn="l">
              <a:spcBef>
                <a:spcPts val="40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Below 5% direct funding to local orgs</a:t>
            </a:r>
          </a:p>
          <a:p>
            <a:pPr algn="l">
              <a:spcBef>
                <a:spcPts val="40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English-first platforms exclude millions</a:t>
            </a:r>
          </a:p>
          <a:p>
            <a:pPr algn="l">
              <a:spcBef>
                <a:spcPts val="40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Enterprise pricing excludes local orgs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280160"/>
            <a:ext cx="3291840" cy="34747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7720" y="1417320"/>
            <a:ext cx="301752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FOR DONORS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1031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Cannot find vetted local partners</a:t>
            </a:r>
          </a:p>
          <a:p>
            <a:pPr algn="l">
              <a:spcBef>
                <a:spcPts val="40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Risk perception barriers persist</a:t>
            </a:r>
          </a:p>
          <a:p>
            <a:pPr algn="l">
              <a:spcBef>
                <a:spcPts val="40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Manual compliance monitoring</a:t>
            </a:r>
          </a:p>
          <a:p>
            <a:pPr algn="l">
              <a:spcBef>
                <a:spcPts val="40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Lack of standardized assessments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280160"/>
            <a:ext cx="3291840" cy="34747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66760" y="1417320"/>
            <a:ext cx="3017520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SYSTEMIC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1031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$36B USAID cuts (2025)</a:t>
            </a:r>
          </a:p>
          <a:p>
            <a:pPr algn="l">
              <a:spcBef>
                <a:spcPts val="40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Aid localization stalled at &lt;5%</a:t>
            </a:r>
          </a:p>
          <a:p>
            <a:pPr algn="l">
              <a:spcBef>
                <a:spcPts val="40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No infrastructure for direct partnerships</a:t>
            </a:r>
          </a:p>
          <a:p>
            <a:pPr algn="l">
              <a:spcBef>
                <a:spcPts val="400"/>
              </a:spcBef>
              <a:spcAft>
                <a:spcPts val="800"/>
              </a:spcAft>
              <a:defRPr sz="1400" b="0">
                <a:solidFill>
                  <a:srgbClr val="1F2A37"/>
                </a:solidFill>
                <a:latin typeface="Calibri"/>
              </a:defRPr>
            </a:pPr>
            <a:r>
              <a:t>•  Growing demand, shrinking supply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5120640"/>
            <a:ext cx="941832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500" b="1">
                <a:solidFill>
                  <a:srgbClr val="1F2A37"/>
                </a:solidFill>
                <a:latin typeface="Calibri"/>
              </a:defRPr>
            </a:pPr>
            <a:r>
              <a:t>Local organizations closest to communities have the most effective solutions — but the least resources.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One Platform. Complete Grant Lifecycle.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3/16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Oval 7"/>
          <p:cNvSpPr/>
          <p:nvPr/>
        </p:nvSpPr>
        <p:spPr>
          <a:xfrm>
            <a:off x="891540" y="141732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1234440" cy="10058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DISCOVER</a:t>
            </a:r>
          </a:p>
          <a:p>
            <a:pPr algn="ctr">
              <a:defRPr sz="1100">
                <a:solidFill>
                  <a:srgbClr val="A5B4FC"/>
                </a:solidFill>
                <a:latin typeface="Calibri"/>
              </a:defRPr>
            </a:pPr>
            <a:r>
              <a:t>Marketplace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737360" y="2148840"/>
            <a:ext cx="320040" cy="27432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83180" y="141732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48840" y="1828800"/>
            <a:ext cx="1234440" cy="10058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ASSESS</a:t>
            </a:r>
          </a:p>
          <a:p>
            <a:pPr algn="ctr">
              <a:defRPr sz="1100">
                <a:solidFill>
                  <a:srgbClr val="A5B4FC"/>
                </a:solidFill>
                <a:latin typeface="Calibri"/>
              </a:defRPr>
            </a:pPr>
            <a:r>
              <a:t>Capacity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429000" y="2148840"/>
            <a:ext cx="320040" cy="27432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74820" y="141732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1828800"/>
            <a:ext cx="1234440" cy="10058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VERIFY</a:t>
            </a:r>
          </a:p>
          <a:p>
            <a:pPr algn="ctr">
              <a:defRPr sz="1100">
                <a:solidFill>
                  <a:srgbClr val="A5B4FC"/>
                </a:solidFill>
                <a:latin typeface="Calibri"/>
              </a:defRPr>
            </a:pPr>
            <a:r>
              <a:t>Due Diligence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120640" y="2148840"/>
            <a:ext cx="320040" cy="27432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66460" y="141732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1828800"/>
            <a:ext cx="1234440" cy="10058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MATCH</a:t>
            </a:r>
          </a:p>
          <a:p>
            <a:pPr algn="ctr">
              <a:defRPr sz="1100">
                <a:solidFill>
                  <a:srgbClr val="A5B4FC"/>
                </a:solidFill>
                <a:latin typeface="Calibri"/>
              </a:defRPr>
            </a:pPr>
            <a:r>
              <a:t>AI Matching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217920" y="2880360"/>
            <a:ext cx="274320" cy="457200"/>
          </a:xfrm>
          <a:prstGeom prst="down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1540" y="324612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57600"/>
            <a:ext cx="1234440" cy="10058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APPLY</a:t>
            </a:r>
          </a:p>
          <a:p>
            <a:pPr algn="ctr">
              <a:defRPr sz="1100">
                <a:solidFill>
                  <a:srgbClr val="A5B4FC"/>
                </a:solidFill>
                <a:latin typeface="Calibri"/>
              </a:defRPr>
            </a:pPr>
            <a:r>
              <a:t>AI-Guided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737360" y="3977640"/>
            <a:ext cx="320040" cy="27432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583180" y="324612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48840" y="3657600"/>
            <a:ext cx="1234440" cy="10058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REVIEW</a:t>
            </a:r>
          </a:p>
          <a:p>
            <a:pPr algn="ctr">
              <a:defRPr sz="1100">
                <a:solidFill>
                  <a:srgbClr val="A5B4FC"/>
                </a:solidFill>
                <a:latin typeface="Calibri"/>
              </a:defRPr>
            </a:pPr>
            <a:r>
              <a:t>Dual Score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429000" y="3977640"/>
            <a:ext cx="320040" cy="27432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74820" y="324612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0" y="3657600"/>
            <a:ext cx="1234440" cy="10058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REPORT</a:t>
            </a:r>
          </a:p>
          <a:p>
            <a:pPr algn="ctr">
              <a:defRPr sz="1100">
                <a:solidFill>
                  <a:srgbClr val="A5B4FC"/>
                </a:solidFill>
                <a:latin typeface="Calibri"/>
              </a:defRPr>
            </a:pPr>
            <a:r>
              <a:t>AI Compliance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120640" y="3977640"/>
            <a:ext cx="320040" cy="27432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966460" y="324612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32120" y="3657600"/>
            <a:ext cx="1234440" cy="10058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MANAGE</a:t>
            </a:r>
          </a:p>
          <a:p>
            <a:pPr algn="ctr">
              <a:defRPr sz="1100">
                <a:solidFill>
                  <a:srgbClr val="A5B4FC"/>
                </a:solidFill>
                <a:latin typeface="Calibri"/>
              </a:defRPr>
            </a:pPr>
            <a:r>
              <a:t>ERP</a:t>
            </a:r>
          </a:p>
        </p:txBody>
      </p:sp>
      <p:sp>
        <p:nvSpPr>
          <p:cNvPr id="31" name="Curved Left Arrow 30"/>
          <p:cNvSpPr/>
          <p:nvPr/>
        </p:nvSpPr>
        <p:spPr>
          <a:xfrm>
            <a:off x="6903720" y="3749040"/>
            <a:ext cx="548640" cy="640080"/>
          </a:xfrm>
          <a:prstGeom prst="curvedLef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743200" y="5212080"/>
            <a:ext cx="667512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800" b="1">
                <a:solidFill>
                  <a:srgbClr val="1F2A37"/>
                </a:solidFill>
                <a:latin typeface="Calibri"/>
              </a:defRPr>
            </a:pPr>
            <a:r>
              <a:t>No other platform covers all 8 stages.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Built by Those Who Know the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4/16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502920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ADESO CREDENTIALS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•  Founded 1991 in Somalia — 30+ years humanitarian experience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•  Led the NEAR network for aid localization advocacy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•  Operations across Kenya, Somalia, and the Horn of Africa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•  501(c)(3) through Myriad USA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•  Deep relationships: Oxfam, IRC, Save the Children,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   Gates Foundation, Hilton Foundation, Porticus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029200" cy="50292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19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•  Understands compliance from BOTH sides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   — as an NGO AND as a grantor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•  Built by Global South, for Global South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•  Trust and credibility with donors AND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   local organizations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•  Not a Silicon Valley startup guessing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   — lived experience solving these problems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5303520"/>
            <a:ext cx="9418320" cy="594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500" b="1">
                <a:solidFill>
                  <a:srgbClr val="1E40AF"/>
                </a:solidFill>
                <a:latin typeface="Calibri"/>
              </a:defRPr>
            </a:pPr>
            <a:r>
              <a:t>"We didn't build Kuja because we read about the problem. We built it because we lived it."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AI-Powered Capacity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5/16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560320"/>
            <a:ext cx="2194560" cy="109728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Kuja</a:t>
            </a:r>
            <a:br/>
            <a:r>
              <a:t>Assessment</a:t>
            </a:r>
            <a:br/>
            <a:r>
              <a:t>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1371600"/>
            <a:ext cx="1463040" cy="9144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Kuja</a:t>
            </a:r>
            <a:br/>
            <a:r>
              <a:t>Framework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1828800"/>
            <a:ext cx="36576" cy="12801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0" y="1371600"/>
            <a:ext cx="1463040" cy="9144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STEP</a:t>
            </a:r>
            <a:br/>
            <a:r>
              <a:t>(TechSoup)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828800"/>
            <a:ext cx="36576" cy="12801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0" y="3200400"/>
            <a:ext cx="1463040" cy="9144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UN-HACT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3108960"/>
            <a:ext cx="36576" cy="5486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0" y="4754880"/>
            <a:ext cx="1463040" cy="9144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CHS</a:t>
            </a:r>
            <a:br/>
            <a:r>
              <a:t>Alliance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3108960"/>
            <a:ext cx="36576" cy="21031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371600" y="4114800"/>
            <a:ext cx="1463040" cy="9144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NUPAS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03120" y="3108960"/>
            <a:ext cx="36576" cy="14630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0" y="1188720"/>
            <a:ext cx="3474720" cy="4572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KEY BENEFITS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0" y="182880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178308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1E40AF"/>
                </a:solidFill>
                <a:latin typeface="Calibri"/>
              </a:defRPr>
            </a:pPr>
            <a:r>
              <a:t>Self-service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t>Complete online, no expensive consultants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0" y="274320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269748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1E40AF"/>
                </a:solidFill>
                <a:latin typeface="Calibri"/>
              </a:defRPr>
            </a:pPr>
            <a:r>
              <a:t>Passportable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t>Assess once, share with multiple donors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0" y="365760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361188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1E40AF"/>
                </a:solidFill>
                <a:latin typeface="Calibri"/>
              </a:defRPr>
            </a:pPr>
            <a:r>
              <a:t>AI-analyzed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t>Upload policies, AI identifies gaps and scores</a:t>
            </a:r>
          </a:p>
        </p:txBody>
      </p:sp>
      <p:sp>
        <p:nvSpPr>
          <p:cNvPr id="26" name="Oval 25"/>
          <p:cNvSpPr/>
          <p:nvPr/>
        </p:nvSpPr>
        <p:spPr>
          <a:xfrm>
            <a:off x="8229600" y="457200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452628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1E40AF"/>
                </a:solidFill>
                <a:latin typeface="Calibri"/>
              </a:defRPr>
            </a:pPr>
            <a:r>
              <a:t>Tiered access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t>Free basic → Paid deep assessment</a:t>
            </a:r>
          </a:p>
        </p:txBody>
      </p:sp>
      <p:sp>
        <p:nvSpPr>
          <p:cNvPr id="28" name="Oval 27"/>
          <p:cNvSpPr/>
          <p:nvPr/>
        </p:nvSpPr>
        <p:spPr>
          <a:xfrm>
            <a:off x="8229600" y="548640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544068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1E40AF"/>
                </a:solidFill>
                <a:latin typeface="Calibri"/>
              </a:defRPr>
            </a:pPr>
            <a:r>
              <a:t>Configurable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t>Donors set their own criteria and weightings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AI That Works Across the Entire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6/16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200400" cy="1463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32004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1554480"/>
            <a:ext cx="411480" cy="41148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508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E40AF"/>
                </a:solidFill>
                <a:latin typeface="Calibri"/>
              </a:defRPr>
            </a:pPr>
            <a:r>
              <a:t>Document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116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Score 0–100 with detailed findings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71600"/>
            <a:ext cx="3200400" cy="1463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371600"/>
            <a:ext cx="32004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6280" y="1554480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508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E40AF"/>
                </a:solidFill>
                <a:latin typeface="Calibri"/>
              </a:defRPr>
            </a:pPr>
            <a:r>
              <a:t>Grant Agreement Parsing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0116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Extract requirements automatically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371600"/>
            <a:ext cx="3200400" cy="1463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371600"/>
            <a:ext cx="32004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83880" y="1554480"/>
            <a:ext cx="411480" cy="41148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1508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E40AF"/>
                </a:solidFill>
                <a:latin typeface="Calibri"/>
              </a:defRPr>
            </a:pPr>
            <a:r>
              <a:t>Report 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0116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Per-requirement compliance scoring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291840"/>
            <a:ext cx="3200400" cy="1463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291840"/>
            <a:ext cx="32004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680" y="3474720"/>
            <a:ext cx="411480" cy="41148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4290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E40AF"/>
                </a:solidFill>
                <a:latin typeface="Calibri"/>
              </a:defRPr>
            </a:pPr>
            <a:r>
              <a:t>Capacity Assessment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931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AI reviews policies, identifies gaps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3291840"/>
            <a:ext cx="3200400" cy="1463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0" y="3291840"/>
            <a:ext cx="32004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526280" y="3474720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34290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E40AF"/>
                </a:solidFill>
                <a:latin typeface="Calibri"/>
              </a:defRPr>
            </a:pPr>
            <a:r>
              <a:t>Grant Matching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3931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Smart NGO-donor matching algorithm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3291840"/>
            <a:ext cx="3200400" cy="14630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46720" y="3291840"/>
            <a:ext cx="32004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183880" y="3474720"/>
            <a:ext cx="411480" cy="41148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34290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E40AF"/>
                </a:solidFill>
                <a:latin typeface="Calibri"/>
              </a:defRPr>
            </a:pPr>
            <a:r>
              <a:t>Chat Assistant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931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Role-aware guidance (NGO vs Donor)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71600" y="5212080"/>
            <a:ext cx="9418320" cy="50292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Powered by Anthropic Claude  |  Multi-language: EN, FR, AR, SW, SO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Real-Time Compliance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7/16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30352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GOVERNMENT REGISTRY VERIFICATION  —  7 Countries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2286000" cy="457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t>Kenya — NGO Board / BRS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06040"/>
            <a:ext cx="2286000" cy="457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51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t>Nigeria — Corporate Affairs Commission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00400"/>
            <a:ext cx="2286000" cy="457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46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t>South Africa — DSD NPO Directorate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94760"/>
            <a:ext cx="2286000" cy="457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8404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t>Uganda — NGO Bureau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2011680"/>
            <a:ext cx="2286000" cy="457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t>Tanzania — NiS Registry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2606040"/>
            <a:ext cx="2286000" cy="457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2651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t>Somalia — MOIFAR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0" y="3200400"/>
            <a:ext cx="2286000" cy="457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3246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t>Ethiopia — ACSO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280160"/>
            <a:ext cx="5303520" cy="50292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SANCTIONS SCREENING  —  4+ Databases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011680"/>
            <a:ext cx="4754880" cy="457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202996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rPr b="1" sz="1300">
                <a:solidFill>
                  <a:srgbClr val="1E40AF"/>
                </a:solidFill>
                <a:latin typeface="Calibri"/>
              </a:rPr>
              <a:t>UN Security Council</a:t>
            </a:r>
            <a:r>
              <a:rPr sz="1200">
                <a:solidFill>
                  <a:srgbClr val="1F2A37"/>
                </a:solidFill>
                <a:latin typeface="Calibri"/>
              </a:rPr>
              <a:t>  —  Global sanctions list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2606040"/>
            <a:ext cx="4754880" cy="457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262432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rPr b="1" sz="1300">
                <a:solidFill>
                  <a:srgbClr val="1E40AF"/>
                </a:solidFill>
                <a:latin typeface="Calibri"/>
              </a:rPr>
              <a:t>US OFAC SDN</a:t>
            </a:r>
            <a:r>
              <a:rPr sz="1200">
                <a:solidFill>
                  <a:srgbClr val="1F2A37"/>
                </a:solidFill>
                <a:latin typeface="Calibri"/>
              </a:rPr>
              <a:t>  —  US Treasury sanctions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200400"/>
            <a:ext cx="4754880" cy="457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321868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rPr b="1" sz="1300">
                <a:solidFill>
                  <a:srgbClr val="1E40AF"/>
                </a:solidFill>
                <a:latin typeface="Calibri"/>
              </a:rPr>
              <a:t>EU Financial Sanctions</a:t>
            </a:r>
            <a:r>
              <a:rPr sz="1200">
                <a:solidFill>
                  <a:srgbClr val="1F2A37"/>
                </a:solidFill>
                <a:latin typeface="Calibri"/>
              </a:rPr>
              <a:t>  —  European Union list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3794760"/>
            <a:ext cx="4754880" cy="457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381304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rPr b="1" sz="1300">
                <a:solidFill>
                  <a:srgbClr val="1E40AF"/>
                </a:solidFill>
                <a:latin typeface="Calibri"/>
              </a:rPr>
              <a:t>World Bank Debarment</a:t>
            </a:r>
            <a:r>
              <a:rPr sz="1200">
                <a:solidFill>
                  <a:srgbClr val="1F2A37"/>
                </a:solidFill>
                <a:latin typeface="Calibri"/>
              </a:rPr>
              <a:t>  —  Procurement exclusions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4389120"/>
            <a:ext cx="4754880" cy="457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440740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1F2A37"/>
                </a:solidFill>
                <a:latin typeface="Calibri"/>
              </a:defRPr>
            </a:pPr>
            <a:r>
              <a:rPr b="1" sz="1300">
                <a:solidFill>
                  <a:srgbClr val="1E40AF"/>
                </a:solidFill>
                <a:latin typeface="Calibri"/>
              </a:rPr>
              <a:t>OpenSanctions API</a:t>
            </a:r>
            <a:r>
              <a:rPr sz="1200">
                <a:solidFill>
                  <a:srgbClr val="1F2A37"/>
                </a:solidFill>
                <a:latin typeface="Calibri"/>
              </a:rPr>
              <a:t>  —  Unified global database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86000" y="5212080"/>
            <a:ext cx="758952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800" b="1">
                <a:solidFill>
                  <a:srgbClr val="1F2A37"/>
                </a:solidFill>
                <a:latin typeface="Calibri"/>
              </a:defRPr>
            </a:pPr>
            <a:r>
              <a:t>Live, automated, continuous — not a one-time check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From Invisible to Investment-Ready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8/16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0D9488"/>
                </a:solidFill>
                <a:latin typeface="Calibri"/>
              </a:defRPr>
            </a:pPr>
            <a:r>
              <a:t>THE NGO JOURNEY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88720" y="1965960"/>
            <a:ext cx="548640" cy="5486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1E40AF"/>
                </a:solidFill>
                <a:latin typeface="Calibri"/>
              </a:defRPr>
            </a:pPr>
            <a:r>
              <a:t>JOIN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Free profile on kuja.org marketplace</a:t>
            </a:r>
          </a:p>
        </p:txBody>
      </p:sp>
      <p:sp>
        <p:nvSpPr>
          <p:cNvPr id="13" name="Chevron 12"/>
          <p:cNvSpPr/>
          <p:nvPr/>
        </p:nvSpPr>
        <p:spPr>
          <a:xfrm>
            <a:off x="2395728" y="2788920"/>
            <a:ext cx="365760" cy="365760"/>
          </a:xfrm>
          <a:prstGeom prst="chevron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34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74720" y="1965960"/>
            <a:ext cx="548640" cy="5486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1E40AF"/>
                </a:solidFill>
                <a:latin typeface="Calibri"/>
              </a:defRPr>
            </a:pPr>
            <a:r>
              <a:t>ASSESS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AI capacity assessment, get readiness score</a:t>
            </a:r>
          </a:p>
        </p:txBody>
      </p:sp>
      <p:sp>
        <p:nvSpPr>
          <p:cNvPr id="18" name="Chevron 17"/>
          <p:cNvSpPr/>
          <p:nvPr/>
        </p:nvSpPr>
        <p:spPr>
          <a:xfrm>
            <a:off x="4681728" y="2788920"/>
            <a:ext cx="365760" cy="365760"/>
          </a:xfrm>
          <a:prstGeom prst="chevron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20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60720" y="1965960"/>
            <a:ext cx="548640" cy="5486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1E40AF"/>
                </a:solidFill>
                <a:latin typeface="Calibri"/>
              </a:defRPr>
            </a:pPr>
            <a:r>
              <a:t>IMPROVE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30/60/90-day roadmap, learning resources</a:t>
            </a:r>
          </a:p>
        </p:txBody>
      </p:sp>
      <p:sp>
        <p:nvSpPr>
          <p:cNvPr id="23" name="Chevron 22"/>
          <p:cNvSpPr/>
          <p:nvPr/>
        </p:nvSpPr>
        <p:spPr>
          <a:xfrm>
            <a:off x="6967728" y="2788920"/>
            <a:ext cx="365760" cy="365760"/>
          </a:xfrm>
          <a:prstGeom prst="chevron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06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46720" y="1965960"/>
            <a:ext cx="548640" cy="5486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1E40AF"/>
                </a:solidFill>
                <a:latin typeface="Calibri"/>
              </a:defRPr>
            </a:pPr>
            <a:r>
              <a:t>APPLY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AI-guided applications, document coaching</a:t>
            </a:r>
          </a:p>
        </p:txBody>
      </p:sp>
      <p:sp>
        <p:nvSpPr>
          <p:cNvPr id="28" name="Chevron 27"/>
          <p:cNvSpPr/>
          <p:nvPr/>
        </p:nvSpPr>
        <p:spPr>
          <a:xfrm>
            <a:off x="9253728" y="2788920"/>
            <a:ext cx="365760" cy="365760"/>
          </a:xfrm>
          <a:prstGeom prst="chevron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92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332720" y="1965960"/>
            <a:ext cx="548640" cy="5486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1E40AF"/>
                </a:solidFill>
                <a:latin typeface="Calibri"/>
              </a:defRPr>
            </a:pPr>
            <a:r>
              <a:t>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Seamless compliance reporting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572000"/>
            <a:ext cx="10515600" cy="731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4572000"/>
            <a:ext cx="2103120" cy="73152"/>
          </a:xfrm>
          <a:prstGeom prst="rect">
            <a:avLst/>
          </a:prstGeom>
          <a:solidFill>
            <a:srgbClr val="DC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651760" y="4572000"/>
            <a:ext cx="2103120" cy="73152"/>
          </a:xfrm>
          <a:prstGeom prst="rect">
            <a:avLst/>
          </a:prstGeom>
          <a:solidFill>
            <a:srgbClr val="BAD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54880" y="4572000"/>
            <a:ext cx="2103120" cy="73152"/>
          </a:xfrm>
          <a:prstGeom prst="rect">
            <a:avLst/>
          </a:prstGeom>
          <a:solidFill>
            <a:srgbClr val="7CB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58000" y="4572000"/>
            <a:ext cx="21031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961120" y="4572000"/>
            <a:ext cx="2103120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9CA3AF"/>
                </a:solidFill>
                <a:latin typeface="Calibri"/>
              </a:defRPr>
            </a:pPr>
            <a:r>
              <a:t>Invisible  →  Visible  →  Assessed  →  Ready  →  Funded  →  Compliant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From Searching to Certainty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9/16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0D9488"/>
                </a:solidFill>
                <a:latin typeface="Calibri"/>
              </a:defRPr>
            </a:pPr>
            <a:r>
              <a:t>THE DONOR JOURNEY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88720" y="196596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0D9488"/>
                </a:solidFill>
                <a:latin typeface="Calibri"/>
              </a:defRPr>
            </a:pPr>
            <a:r>
              <a:t>DISCOVER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Browse verified, assessed organizations</a:t>
            </a:r>
          </a:p>
        </p:txBody>
      </p:sp>
      <p:sp>
        <p:nvSpPr>
          <p:cNvPr id="13" name="Chevron 12"/>
          <p:cNvSpPr/>
          <p:nvPr/>
        </p:nvSpPr>
        <p:spPr>
          <a:xfrm>
            <a:off x="2395728" y="2788920"/>
            <a:ext cx="365760" cy="365760"/>
          </a:xfrm>
          <a:prstGeom prst="chevron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34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74720" y="196596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0D9488"/>
                </a:solidFill>
                <a:latin typeface="Calibri"/>
              </a:defRPr>
            </a:pPr>
            <a:r>
              <a:t>CONFIGURE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Set your criteria, thresholds, weightings</a:t>
            </a:r>
          </a:p>
        </p:txBody>
      </p:sp>
      <p:sp>
        <p:nvSpPr>
          <p:cNvPr id="18" name="Chevron 17"/>
          <p:cNvSpPr/>
          <p:nvPr/>
        </p:nvSpPr>
        <p:spPr>
          <a:xfrm>
            <a:off x="4681728" y="2788920"/>
            <a:ext cx="365760" cy="365760"/>
          </a:xfrm>
          <a:prstGeom prst="chevron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20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60720" y="196596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0D9488"/>
                </a:solidFill>
                <a:latin typeface="Calibri"/>
              </a:defRPr>
            </a:pPr>
            <a: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AI-ranked shortlists, dual scoring</a:t>
            </a:r>
          </a:p>
        </p:txBody>
      </p:sp>
      <p:sp>
        <p:nvSpPr>
          <p:cNvPr id="23" name="Chevron 22"/>
          <p:cNvSpPr/>
          <p:nvPr/>
        </p:nvSpPr>
        <p:spPr>
          <a:xfrm>
            <a:off x="6967728" y="2788920"/>
            <a:ext cx="365760" cy="365760"/>
          </a:xfrm>
          <a:prstGeom prst="chevron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06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46720" y="196596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0D9488"/>
                </a:solidFill>
                <a:latin typeface="Calibri"/>
              </a:defRPr>
            </a:pPr>
            <a:r>
              <a:t>AWARD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Grant wizard with AI agreement parsing</a:t>
            </a:r>
          </a:p>
        </p:txBody>
      </p:sp>
      <p:sp>
        <p:nvSpPr>
          <p:cNvPr id="28" name="Chevron 27"/>
          <p:cNvSpPr/>
          <p:nvPr/>
        </p:nvSpPr>
        <p:spPr>
          <a:xfrm>
            <a:off x="9253728" y="2788920"/>
            <a:ext cx="365760" cy="365760"/>
          </a:xfrm>
          <a:prstGeom prst="chevron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92640" y="1828800"/>
            <a:ext cx="1828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332720" y="196596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0D9488"/>
                </a:solidFill>
                <a:latin typeface="Calibri"/>
              </a:defRPr>
            </a:pPr>
            <a:r>
              <a:t>MONITOR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3108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Real-time reporting, AI compliance scores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71600" y="4937760"/>
            <a:ext cx="9418320" cy="594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500" b="1">
                <a:solidFill>
                  <a:srgbClr val="1E40AF"/>
                </a:solidFill>
                <a:latin typeface="Calibri"/>
              </a:defRPr>
            </a:pPr>
            <a:r>
              <a:t>For donors using our ERP: multi-tenant real-time financial visibility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$4.79B Market. Zero Solutions for the Global South.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10/16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371600"/>
            <a:ext cx="3200400" cy="20116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1">
                <a:solidFill>
                  <a:srgbClr val="1E40AF"/>
                </a:solidFill>
                <a:latin typeface="Calibri"/>
              </a:defRPr>
            </a:pPr>
            <a:r>
              <a:t>$2.75B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1F2A37"/>
                </a:solidFill>
                <a:latin typeface="Calibri"/>
              </a:defRPr>
            </a:pPr>
            <a:r>
              <a:t>Current Market (2024)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371600"/>
            <a:ext cx="3200400" cy="20116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5544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1">
                <a:solidFill>
                  <a:srgbClr val="0D9488"/>
                </a:solidFill>
                <a:latin typeface="Calibri"/>
              </a:defRPr>
            </a:pPr>
            <a:r>
              <a:t>$4.79B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517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1F2A37"/>
                </a:solidFill>
                <a:latin typeface="Calibri"/>
              </a:defRPr>
            </a:pPr>
            <a:r>
              <a:t>Projected (2030)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71600"/>
            <a:ext cx="3200400" cy="20116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5544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1">
                <a:solidFill>
                  <a:srgbClr val="F59E0B"/>
                </a:solidFill>
                <a:latin typeface="Calibri"/>
              </a:defRPr>
            </a:pPr>
            <a:r>
              <a:t>10.3%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6517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1F2A37"/>
                </a:solidFill>
                <a:latin typeface="Calibri"/>
              </a:defRPr>
            </a:pPr>
            <a:r>
              <a:t>CAGR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49040"/>
            <a:ext cx="3200400" cy="20116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9319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1">
                <a:solidFill>
                  <a:srgbClr val="1E40AF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02920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1F2A37"/>
                </a:solidFill>
                <a:latin typeface="Calibri"/>
              </a:defRPr>
            </a:pPr>
            <a:r>
              <a:t>Nonprofits Wanting 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749040"/>
            <a:ext cx="3200400" cy="20116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39319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1">
                <a:solidFill>
                  <a:srgbClr val="0D9488"/>
                </a:solidFill>
                <a:latin typeface="Calibri"/>
              </a:defRPr>
            </a:pPr>
            <a:r>
              <a:t>100K+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502920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1F2A37"/>
                </a:solidFill>
                <a:latin typeface="Calibri"/>
              </a:defRPr>
            </a:pPr>
            <a:r>
              <a:t>African CSOs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749040"/>
            <a:ext cx="3200400" cy="20116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39319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800" b="1">
                <a:solidFill>
                  <a:srgbClr val="DC2626"/>
                </a:solidFill>
                <a:latin typeface="Calibri"/>
              </a:defRPr>
            </a:pPr>
            <a:r>
              <a:t>&lt;5%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502920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1F2A37"/>
                </a:solidFill>
                <a:latin typeface="Calibri"/>
              </a:defRPr>
            </a:pPr>
            <a:r>
              <a:t>Direct Funding to Local Actors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No One Else Does What We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11/16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2560320" cy="5943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280160"/>
            <a:ext cx="1737360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Kuja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280160"/>
            <a:ext cx="1737360" cy="5943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Fluxx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280160"/>
            <a:ext cx="1737360" cy="5943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Submittable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280160"/>
            <a:ext cx="1737360" cy="5943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UNPP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0" y="1280160"/>
            <a:ext cx="1737360" cy="5943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GlobalGiving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874520"/>
            <a:ext cx="25603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76200" tIns="50800" bIns="50800"/>
          <a:lstStyle/>
          <a:p>
            <a:pPr algn="l">
              <a:defRPr sz="1400" b="1">
                <a:solidFill>
                  <a:srgbClr val="1F2A37"/>
                </a:solidFill>
                <a:latin typeface="Calibri"/>
              </a:defRPr>
            </a:pPr>
            <a:r>
              <a:t>End-to-End Lifecycle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1874520"/>
            <a:ext cx="17373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2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1874520"/>
            <a:ext cx="17373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2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1874520"/>
            <a:ext cx="17373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2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1874520"/>
            <a:ext cx="17373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2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0" y="1874520"/>
            <a:ext cx="17373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2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514600"/>
            <a:ext cx="2560320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76200" tIns="50800" bIns="50800"/>
          <a:lstStyle/>
          <a:p>
            <a:pPr algn="l">
              <a:defRPr sz="1400" b="1">
                <a:solidFill>
                  <a:srgbClr val="1F2A37"/>
                </a:solidFill>
                <a:latin typeface="Calibri"/>
              </a:defRPr>
            </a:pPr>
            <a:r>
              <a:t>AI-Powered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2514600"/>
            <a:ext cx="1737360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2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514600"/>
            <a:ext cx="1737360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2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2514600"/>
            <a:ext cx="1737360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2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2514600"/>
            <a:ext cx="1737360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2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0" y="2514600"/>
            <a:ext cx="1737360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2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154680"/>
            <a:ext cx="25603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76200" tIns="50800" bIns="50800"/>
          <a:lstStyle/>
          <a:p>
            <a:pPr algn="l">
              <a:defRPr sz="1400" b="1">
                <a:solidFill>
                  <a:srgbClr val="1F2A37"/>
                </a:solidFill>
                <a:latin typeface="Calibri"/>
              </a:defRPr>
            </a:pPr>
            <a:r>
              <a:t>Capacity Assessment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0" y="3154680"/>
            <a:ext cx="17373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2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3154680"/>
            <a:ext cx="17373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2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3154680"/>
            <a:ext cx="17373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2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3154680"/>
            <a:ext cx="17373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2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0" y="3154680"/>
            <a:ext cx="17373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2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794760"/>
            <a:ext cx="2560320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76200" tIns="50800" bIns="50800"/>
          <a:lstStyle/>
          <a:p>
            <a:pPr algn="l">
              <a:defRPr sz="1400" b="1">
                <a:solidFill>
                  <a:srgbClr val="1F2A37"/>
                </a:solidFill>
                <a:latin typeface="Calibri"/>
              </a:defRPr>
            </a:pPr>
            <a:r>
              <a:t>Global South Design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08960" y="3794760"/>
            <a:ext cx="1737360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2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3794760"/>
            <a:ext cx="1737360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2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3794760"/>
            <a:ext cx="1737360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2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3794760"/>
            <a:ext cx="1737360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200" b="1">
                <a:solidFill>
                  <a:srgbClr val="F59E0B"/>
                </a:solidFill>
                <a:latin typeface="Calibri"/>
              </a:defRPr>
            </a:pPr>
            <a:r>
              <a:t>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0" y="3794760"/>
            <a:ext cx="1737360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2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434840"/>
            <a:ext cx="25603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76200" tIns="50800" bIns="50800"/>
          <a:lstStyle/>
          <a:p>
            <a:pPr algn="l">
              <a:defRPr sz="1400" b="1">
                <a:solidFill>
                  <a:srgbClr val="1F2A37"/>
                </a:solidFill>
                <a:latin typeface="Calibri"/>
              </a:defRPr>
            </a:pPr>
            <a:r>
              <a:t>Marketplace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08960" y="4434840"/>
            <a:ext cx="17373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2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4434840"/>
            <a:ext cx="17373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2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4434840"/>
            <a:ext cx="17373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2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21040" y="4434840"/>
            <a:ext cx="17373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2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58400" y="4434840"/>
            <a:ext cx="17373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2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74920"/>
            <a:ext cx="2560320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76200" tIns="50800" bIns="50800"/>
          <a:lstStyle/>
          <a:p>
            <a:pPr algn="l">
              <a:defRPr sz="1400" b="1">
                <a:solidFill>
                  <a:srgbClr val="1F2A37"/>
                </a:solidFill>
                <a:latin typeface="Calibri"/>
              </a:defRPr>
            </a:pPr>
            <a:r>
              <a:t>Affordable for CSOs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08960" y="5074920"/>
            <a:ext cx="1737360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2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6320" y="5074920"/>
            <a:ext cx="1737360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2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0" y="5074920"/>
            <a:ext cx="1737360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200" b="1">
                <a:solidFill>
                  <a:srgbClr val="DC262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21040" y="5074920"/>
            <a:ext cx="1737360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2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058400" y="5074920"/>
            <a:ext cx="1737360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2200" b="1">
                <a:solidFill>
                  <a:srgbClr val="16A34A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08960" y="1280160"/>
            <a:ext cx="1737360" cy="4434840"/>
          </a:xfrm>
          <a:prstGeom prst="rect">
            <a:avLst/>
          </a:prstGeom>
          <a:noFill/>
          <a:ln w="381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Sustainable Revenue, Subsidized 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12/16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280160"/>
            <a:ext cx="320040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9CA3AF"/>
                </a:solidFill>
                <a:latin typeface="Calibri"/>
              </a:defRPr>
            </a:pPr>
            <a:r>
              <a:t>TIER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7373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1F2A37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1E40AF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2004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✓  Marketplace profile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✓  Basic capacity assessment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1F2A37"/>
                </a:solidFill>
                <a:latin typeface="Calibri"/>
              </a:defRPr>
            </a:pPr>
            <a:r>
              <a:t>✓  Grant discovery feed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280160"/>
            <a:ext cx="3200400" cy="34747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TIER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7373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APPLICATION</a:t>
            </a:r>
            <a:br/>
            <a:r>
              <a:t>PORTAL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468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$10K–$20K/yr</a:t>
            </a:r>
            <a:br/>
            <a:r>
              <a:t>per donor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2004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E0F2FE"/>
                </a:solidFill>
                <a:latin typeface="Calibri"/>
              </a:defRPr>
            </a:pPr>
            <a:r>
              <a:t>✓  AI matching + assessment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E0F2FE"/>
                </a:solidFill>
                <a:latin typeface="Calibri"/>
              </a:defRPr>
            </a:pPr>
            <a:r>
              <a:t>✓  Donor-configured criteria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E0F2FE"/>
                </a:solidFill>
                <a:latin typeface="Calibri"/>
              </a:defRPr>
            </a:pPr>
            <a:r>
              <a:t>✓  Shortlist generation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280160"/>
            <a:ext cx="3200400" cy="347472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TIER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7373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END-TO-END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468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Custom</a:t>
            </a:r>
            <a:br/>
            <a:r>
              <a:t>Pricing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32004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E0F2FE"/>
                </a:solidFill>
                <a:latin typeface="Calibri"/>
              </a:defRPr>
            </a:pPr>
            <a:r>
              <a:t>✓  Full fund management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E0F2FE"/>
                </a:solidFill>
                <a:latin typeface="Calibri"/>
              </a:defRPr>
            </a:pPr>
            <a:r>
              <a:t>✓  ERP integration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E0F2FE"/>
                </a:solidFill>
                <a:latin typeface="Calibri"/>
              </a:defRPr>
            </a:pPr>
            <a:r>
              <a:t>✓  Custom AI workflows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029200"/>
            <a:ext cx="685800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400" b="1">
                <a:solidFill>
                  <a:srgbClr val="1F2A37"/>
                </a:solidFill>
                <a:latin typeface="Calibri"/>
              </a:defRPr>
            </a:pPr>
            <a:r>
              <a:t>Donors pay premium → Subsidizes CSO access  |  For every 2 donor-sponsored orgs, 1 CSO gets full access free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5029200"/>
            <a:ext cx="3383280" cy="59436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2026 Target: $1M revenue + $1M fundraised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From Kenya to the World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13/16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743200"/>
            <a:ext cx="1069848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38528" y="2606040"/>
            <a:ext cx="320040" cy="3200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1E40AF"/>
                </a:solidFill>
                <a:latin typeface="Calibri"/>
              </a:defRPr>
            </a:pPr>
            <a:r>
              <a:t>Q1–Q2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108960"/>
            <a:ext cx="2377440" cy="18288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KENYA</a:t>
            </a:r>
          </a:p>
          <a:p>
            <a:pPr algn="ctr"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8 pipeline partners</a:t>
            </a:r>
          </a:p>
          <a:p>
            <a:pPr algn="ctr"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3 CSO Network MoUs</a:t>
            </a:r>
          </a:p>
        </p:txBody>
      </p:sp>
      <p:sp>
        <p:nvSpPr>
          <p:cNvPr id="12" name="Oval 11"/>
          <p:cNvSpPr/>
          <p:nvPr/>
        </p:nvSpPr>
        <p:spPr>
          <a:xfrm>
            <a:off x="4636008" y="2606040"/>
            <a:ext cx="320040" cy="3200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0D9488"/>
                </a:solidFill>
                <a:latin typeface="Calibri"/>
              </a:defRPr>
            </a:pPr>
            <a:r>
              <a:t>Q2–Q4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1880" y="3108960"/>
            <a:ext cx="2377440" cy="18288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GLOBAL NETWORKS</a:t>
            </a:r>
          </a:p>
          <a:p>
            <a:pPr algn="ctr"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NEAR, WACSI, EACSOF,</a:t>
            </a:r>
          </a:p>
          <a:p>
            <a:pPr algn="ctr"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SANGONet + Oxfam/IRC/Save</a:t>
            </a:r>
          </a:p>
        </p:txBody>
      </p:sp>
      <p:sp>
        <p:nvSpPr>
          <p:cNvPr id="15" name="Oval 14"/>
          <p:cNvSpPr/>
          <p:nvPr/>
        </p:nvSpPr>
        <p:spPr>
          <a:xfrm>
            <a:off x="7333488" y="2606040"/>
            <a:ext cx="320040" cy="320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7C3AED"/>
                </a:solidFill>
                <a:latin typeface="Calibri"/>
              </a:defRPr>
            </a:pPr>
            <a:r>
              <a:t>Q3 2026–</a:t>
            </a:r>
            <a:br/>
            <a:r>
              <a:t>Q2 2027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108960"/>
            <a:ext cx="2377440" cy="18288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SUB-SAHARAN</a:t>
            </a:r>
            <a:br/>
            <a:r>
              <a:t>AFRICA</a:t>
            </a:r>
          </a:p>
          <a:p>
            <a:pPr algn="ctr"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24 countries</a:t>
            </a:r>
          </a:p>
          <a:p>
            <a:pPr algn="ctr"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Continental expansion</a:t>
            </a:r>
          </a:p>
        </p:txBody>
      </p:sp>
      <p:sp>
        <p:nvSpPr>
          <p:cNvPr id="18" name="Oval 17"/>
          <p:cNvSpPr/>
          <p:nvPr/>
        </p:nvSpPr>
        <p:spPr>
          <a:xfrm>
            <a:off x="10030968" y="2606040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59E0B"/>
                </a:solidFill>
                <a:latin typeface="Calibri"/>
              </a:defRPr>
            </a:pPr>
            <a:r>
              <a:t>Q3–Q4 2027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3108960"/>
            <a:ext cx="23774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LATIN AMERICA</a:t>
            </a:r>
            <a:br/>
            <a:r>
              <a:t>&amp; CARIBBEAN</a:t>
            </a:r>
          </a:p>
          <a:p>
            <a:pPr algn="ctr"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15 countries</a:t>
            </a:r>
          </a:p>
          <a:p>
            <a:pPr algn="ctr"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Regional partnerships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03520"/>
            <a:ext cx="10698480" cy="5486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400" b="1">
                <a:solidFill>
                  <a:srgbClr val="1F2A37"/>
                </a:solidFill>
                <a:latin typeface="Calibri"/>
              </a:defRPr>
            </a:pPr>
            <a:r>
              <a:t>Partners: NEAR  |  WACSI  |  EACSOF  |  SANGONet  |  TechSoup  |  EPIC Africa  |  Pledge for Change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Where We Are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14/16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280160"/>
            <a:ext cx="3200400" cy="18288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400" b="1">
                <a:solidFill>
                  <a:srgbClr val="1E40AF"/>
                </a:solidFill>
                <a:latin typeface="Calibri"/>
              </a:defRPr>
            </a:pPr>
            <a:r>
              <a:t>600+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Active Users on kuja.org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280160"/>
            <a:ext cx="3200400" cy="18288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4173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400" b="1">
                <a:solidFill>
                  <a:srgbClr val="1E40AF"/>
                </a:solidFill>
                <a:latin typeface="Calibri"/>
              </a:defRPr>
            </a:pPr>
            <a:r>
              <a:t>200+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860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Local Organizations Onboarded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80160"/>
            <a:ext cx="3200400" cy="18288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4173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400" b="1">
                <a:solidFill>
                  <a:srgbClr val="1E40A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860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Capacity Assessment Frameworks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383280"/>
            <a:ext cx="3200400" cy="18288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5204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400" b="1">
                <a:solidFill>
                  <a:srgbClr val="1E40A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3891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Country Registry Verifications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383280"/>
            <a:ext cx="3200400" cy="18288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35204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400" b="1">
                <a:solidFill>
                  <a:srgbClr val="1E40AF"/>
                </a:solidFill>
                <a:latin typeface="Calibri"/>
              </a:defRPr>
            </a:pPr>
            <a:r>
              <a:t>4+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3891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Sanctions Databases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383280"/>
            <a:ext cx="3200400" cy="18288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35204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400" b="1">
                <a:solidFill>
                  <a:srgbClr val="1E40A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3891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1F2A37"/>
                </a:solidFill>
                <a:latin typeface="Calibri"/>
              </a:defRPr>
            </a:pPr>
            <a:r>
              <a:t>Languages Supported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3840480"/>
            <a:ext cx="10515600" cy="10058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spcAft>
                <a:spcPts val="600"/>
              </a:spcAft>
              <a:defRPr sz="1400" b="1">
                <a:solidFill>
                  <a:srgbClr val="F59E0B"/>
                </a:solidFill>
                <a:latin typeface="Calibri"/>
              </a:defRPr>
            </a:pPr>
            <a:r>
              <a:t>ADDITIONAL MILESTONES</a:t>
            </a:r>
          </a:p>
          <a:p>
            <a:pPr algn="l"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✓ Live AI-powered grant management platform in production</a:t>
            </a:r>
          </a:p>
          <a:p>
            <a:pPr algn="l"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✓ Multi-language support (EN/FR/AR/SW/SO)</a:t>
            </a:r>
          </a:p>
          <a:p>
            <a:pPr algn="l"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✓ ERP (Odoo 17) integration in development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Let's Transform Grant Management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15/16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KUJA  |  Powered by Adeso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E40AF"/>
                </a:solidFill>
                <a:latin typeface="Calibri"/>
              </a:defRPr>
            </a:pPr>
            <a:r>
              <a:t>WHAT WE'RE LOOKING FOR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943600" cy="8229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1E40AF"/>
                </a:solidFill>
                <a:latin typeface="Calibri"/>
              </a:defRPr>
            </a:pPr>
            <a:r>
              <a:t>➔  Strategic Partners</a:t>
            </a:r>
          </a:p>
          <a:p>
            <a:pPr>
              <a:spcBef>
                <a:spcPts val="400"/>
              </a:spcBef>
              <a:defRPr sz="1300">
                <a:solidFill>
                  <a:srgbClr val="1F2A37"/>
                </a:solidFill>
                <a:latin typeface="Calibri"/>
              </a:defRPr>
            </a:pPr>
            <a:r>
              <a:t>Organizations who share our localization vision and can co-create solutions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34640"/>
            <a:ext cx="5943600" cy="8229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1E40AF"/>
                </a:solidFill>
                <a:latin typeface="Calibri"/>
              </a:defRPr>
            </a:pPr>
            <a:r>
              <a:t>➔  Pilot Donors</a:t>
            </a:r>
          </a:p>
          <a:p>
            <a:pPr>
              <a:spcBef>
                <a:spcPts val="400"/>
              </a:spcBef>
              <a:defRPr sz="1300">
                <a:solidFill>
                  <a:srgbClr val="1F2A37"/>
                </a:solidFill>
                <a:latin typeface="Calibri"/>
              </a:defRPr>
            </a:pPr>
            <a:r>
              <a:t>Foundations willing to pilot the end-to-end grant management solution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943600" cy="8229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1E40AF"/>
                </a:solidFill>
                <a:latin typeface="Calibri"/>
              </a:defRPr>
            </a:pPr>
            <a:r>
              <a:t>➔  CSO Networks</a:t>
            </a:r>
          </a:p>
          <a:p>
            <a:pPr>
              <a:spcBef>
                <a:spcPts val="400"/>
              </a:spcBef>
              <a:defRPr sz="1300">
                <a:solidFill>
                  <a:srgbClr val="1F2A37"/>
                </a:solidFill>
                <a:latin typeface="Calibri"/>
              </a:defRPr>
            </a:pPr>
            <a:r>
              <a:t>Networks ready to onboard their member organizations at scale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46320"/>
            <a:ext cx="5943600" cy="8229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600" b="1">
                <a:solidFill>
                  <a:srgbClr val="1E40AF"/>
                </a:solidFill>
                <a:latin typeface="Calibri"/>
              </a:defRPr>
            </a:pPr>
            <a:r>
              <a:t>➔  Technology Partners</a:t>
            </a:r>
          </a:p>
          <a:p>
            <a:pPr>
              <a:spcBef>
                <a:spcPts val="400"/>
              </a:spcBef>
              <a:defRPr sz="1300">
                <a:solidFill>
                  <a:srgbClr val="1F2A37"/>
                </a:solidFill>
                <a:latin typeface="Calibri"/>
              </a:defRPr>
            </a:pPr>
            <a:r>
              <a:t>Companies that can help us scale infrastructure and integrations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280160"/>
            <a:ext cx="4114800" cy="41148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76200" tIns="190500" bIns="50800"/>
          <a:lstStyle/>
          <a:p>
            <a:pPr algn="ctr">
              <a:spcAft>
                <a:spcPts val="2000"/>
              </a:spcAft>
              <a:defRPr sz="1400" b="1">
                <a:solidFill>
                  <a:srgbClr val="F59E0B"/>
                </a:solidFill>
                <a:latin typeface="Calibri"/>
              </a:defRPr>
            </a:pPr>
            <a:r>
              <a:t>CONTACT</a:t>
            </a:r>
          </a:p>
          <a:p>
            <a:pPr>
              <a:spcAft>
                <a:spcPts val="6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Adeso</a:t>
            </a:r>
          </a:p>
          <a:p>
            <a:pPr>
              <a:spcAft>
                <a:spcPts val="600"/>
              </a:spcAft>
              <a:defRPr sz="1400" b="0">
                <a:solidFill>
                  <a:srgbClr val="A5B4FC"/>
                </a:solidFill>
                <a:latin typeface="Calibri"/>
              </a:defRPr>
            </a:pPr>
            <a:r>
              <a:t>African Development Solutions</a:t>
            </a:r>
          </a:p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F59E0B"/>
                </a:solidFill>
                <a:latin typeface="Calibri"/>
              </a:defRPr>
            </a:pPr>
            <a:r>
              <a:t>kuja.org</a:t>
            </a:r>
          </a:p>
          <a:p>
            <a:pPr>
              <a:spcAft>
                <a:spcPts val="600"/>
              </a:spcAft>
              <a:defRPr sz="1600" b="0">
                <a:solidFill>
                  <a:srgbClr val="A5B4FC"/>
                </a:solidFill>
                <a:latin typeface="Calibri"/>
              </a:defRPr>
            </a:pPr>
            <a:r>
              <a:t>adesoafrica.org</a:t>
            </a:r>
          </a:p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info@adesoafrica.org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274320"/>
            <a:ext cx="2286000" cy="2286000"/>
          </a:xfrm>
          <a:prstGeom prst="ellipse">
            <a:avLst/>
          </a:prstGeom>
          <a:solidFill>
            <a:srgbClr val="3B5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5029200"/>
            <a:ext cx="1371600" cy="1371600"/>
          </a:xfrm>
          <a:prstGeom prst="ellipse">
            <a:avLst/>
          </a:prstGeom>
          <a:solidFill>
            <a:srgbClr val="3B5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5303520"/>
            <a:ext cx="914400" cy="914400"/>
          </a:xfrm>
          <a:prstGeom prst="ellipse">
            <a:avLst/>
          </a:prstGeom>
          <a:solidFill>
            <a:srgbClr val="3B5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0" b="1">
                <a:solidFill>
                  <a:srgbClr val="FFFFFF"/>
                </a:solidFill>
                <a:latin typeface="Calibri"/>
              </a:defRPr>
            </a:pPr>
            <a:r>
              <a:t>KUJA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2834640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Matching Local Brilliance with Global Funding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0">
                <a:solidFill>
                  <a:srgbClr val="A5B4FC"/>
                </a:solidFill>
                <a:latin typeface="Calibri"/>
              </a:defRPr>
            </a:pPr>
            <a:r>
              <a:t>The first AI-powered grant management platform</a:t>
            </a:r>
            <a:br/>
            <a:r>
              <a:t>built for the Global South, by the Global South.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6692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93A3BF"/>
                </a:solidFill>
                <a:latin typeface="Calibri"/>
              </a:defRPr>
            </a:pPr>
            <a:r>
              <a:t>kuja.org  |  adesoafrica.org  |  info@adesoafrica.org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CA3AF"/>
                </a:solidFill>
                <a:latin typeface="Calibri"/>
              </a:defRPr>
            </a:pPr>
            <a: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