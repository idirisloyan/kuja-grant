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1371600" cy="13716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5486400"/>
            <a:ext cx="914400" cy="9144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The First AI-Powered End-to-End</a:t>
            </a:r>
            <a:br/>
            <a:r>
              <a:t>Grant Management Platform for the Global South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A5B4FC"/>
                </a:solidFill>
                <a:latin typeface="Calibri"/>
              </a:defRPr>
            </a:pPr>
            <a:r>
              <a:t>Powered by Adeso — 30 Years of African-Led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93A3BF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>
                <a:solidFill>
                  <a:srgbClr val="93A3BF"/>
                </a:solidFill>
                <a:latin typeface="Calibri"/>
              </a:defRPr>
            </a:pPr>
            <a:r>
              <a:t>kuja.org  |  adesoafrica.org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Funding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30175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CSOs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4–12 duplicate assessments per year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Below 5% direct funding to local orgs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English-first platforms exclude millions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Enterprise pricing excludes local orgs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417320"/>
            <a:ext cx="3017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DONORS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Cannot find vetted local partners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Risk perception barriers persist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Manual compliance monitoring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Lack of standardized assessments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0175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SYSTEMIC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$36B USAID cuts (2025)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Aid localization stalled at &lt;5%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No infrastructure for direct partnerships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Growing demand, shrinking supply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120640"/>
            <a:ext cx="941832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1F2A37"/>
                </a:solidFill>
                <a:latin typeface="Calibri"/>
              </a:defRPr>
            </a:pPr>
            <a:r>
              <a:t>Local organizations closest to communities have the most effective solutions — but the least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One Platform. Complete Grant Lifecycle.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Oval 7"/>
          <p:cNvSpPr/>
          <p:nvPr/>
        </p:nvSpPr>
        <p:spPr>
          <a:xfrm>
            <a:off x="89154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37360" y="18745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8318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ASSESS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Capacity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29000" y="18745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7482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Due Diligence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20640" y="18745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6646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MATCH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 Matching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217920" y="2606040"/>
            <a:ext cx="274320" cy="45720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APPLY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AI-Guided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737360" y="37033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8318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Dual Score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429000" y="37033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7482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 Compliance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120640" y="37033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6646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MANAGE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ERP</a:t>
            </a:r>
          </a:p>
        </p:txBody>
      </p:sp>
      <p:sp>
        <p:nvSpPr>
          <p:cNvPr id="31" name="Curved Left Arrow 30"/>
          <p:cNvSpPr/>
          <p:nvPr/>
        </p:nvSpPr>
        <p:spPr>
          <a:xfrm>
            <a:off x="6903720" y="3474720"/>
            <a:ext cx="548640" cy="640080"/>
          </a:xfrm>
          <a:prstGeom prst="curved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89520" y="3337560"/>
            <a:ext cx="411480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38328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WITHOUT OUR ERP?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F2A37"/>
                </a:solidFill>
                <a:latin typeface="Calibri"/>
              </a:defRPr>
            </a:pPr>
            <a:r>
              <a:t>Stages 1–7 work standalone. NGOs not using the ERP use our built-in reporting module to seamlessly submit compliance reports per grant agreement requirements.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029200"/>
            <a:ext cx="66751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800" b="1">
                <a:solidFill>
                  <a:srgbClr val="1F2A37"/>
                </a:solidFill>
                <a:latin typeface="Calibri"/>
              </a:defRPr>
            </a:pPr>
            <a:r>
              <a:t>No other platform covers all 8 stages.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Built by Those Who Know 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5029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ADESO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Founded 1991 in Somalia — 30+ years humanitarian experience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Led the NEAR network for aid localization advocacy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Operations across Kenya, Somalia, and the Horn of Africa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501(c)(3) through Myriad USA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Deep relationships: Oxfam, IRC, Save the Children,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Gates Foundation, Hilton Foundation, Porticus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02920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Understands compliance from BOTH sides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— as an NGO AND as a grantor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Built by Global South, for Global South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Multi-language: Arabic, French, Spanish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live today — no competitor offers this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Not a Silicon Valley startup guessing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— lived experience solving these problems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594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1E40AF"/>
                </a:solidFill>
                <a:latin typeface="Calibri"/>
              </a:defRPr>
            </a:pPr>
            <a:r>
              <a:t>"We didn't build Kuja because we read about the problem. We built it because we lived it."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AI-Powered Capacity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60320"/>
            <a:ext cx="2194560" cy="10972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  <a:br/>
            <a:r>
              <a:t>Assessment</a:t>
            </a:r>
            <a:br/>
            <a:r>
              <a:t>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3716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  <a:br/>
            <a:r>
              <a:t>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828800"/>
            <a:ext cx="36576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0" y="13716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</a:t>
            </a:r>
            <a:br/>
            <a:r>
              <a:t>(TechSoup)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828800"/>
            <a:ext cx="36576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32004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UN-HACT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108960"/>
            <a:ext cx="36576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475488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CHS</a:t>
            </a:r>
            <a:br/>
            <a:r>
              <a:t>Alliance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108960"/>
            <a:ext cx="36576" cy="21031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71600" y="41148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NUPAS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3108960"/>
            <a:ext cx="36576" cy="14630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46304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+ Donor</a:t>
            </a:r>
            <a:br/>
            <a:r>
              <a:t>Specific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3108960"/>
            <a:ext cx="36576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188720"/>
            <a:ext cx="347472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18288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7830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Self-service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Complete online, no expensive consultants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0" y="27432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6974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Passportable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Assess once, share with multiple donors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0" y="36576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6118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AI-analyzed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Upload policies, AI identifies gaps and scores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0" y="45720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5262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Extensible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Add donor-specific or any new framework on demand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0" y="54864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54406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Configurable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Donors set their own criteria and weightings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That Works Across the Entire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6/16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55448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Document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Score 0–100 with detailed findings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55448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Grant Agreement Parsing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Extract requirements automatically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83880" y="155448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Report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Per-requirement compliance scoring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29184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347472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Capacity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 reviews policies, identifies gaps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29184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26280" y="347472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Grant 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Smart NGO-donor matching algorithm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329184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83880" y="347472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Chat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Role-aware guidance (NGO vs Donor)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5212080"/>
            <a:ext cx="94183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Powered by Anthropic Claude  |  5 languages live (EN, FR, AR, ES, SW)  —  expanding to 10+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Real-Time Compliance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7/16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30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GOVERNMENT REGISTRY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Kenya — NGO Board / BRS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420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Nigeria — Corporate Affairs Commission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449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South Africa — DSD NPO Directorate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4787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Uganda — NGO Bureau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201168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03911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Tanzania — NiS Registry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51460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5420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Somalia — MOIFAR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01752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0449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Ethiopia — ACSO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7 countries live today. Designed to expand to any Global South country</a:t>
            </a:r>
            <a:br/>
            <a:r>
              <a:t>with a government verification portal.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280160"/>
            <a:ext cx="53035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SANCTIONS SCREENING  —  4+ Databases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01168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0299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UN Security Council</a:t>
            </a:r>
            <a:r>
              <a:rPr sz="1200">
                <a:solidFill>
                  <a:srgbClr val="1F2A37"/>
                </a:solidFill>
                <a:latin typeface="Calibri"/>
              </a:rPr>
              <a:t>  —  Global sanctions 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60604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6243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US OFAC SDN</a:t>
            </a:r>
            <a:r>
              <a:rPr sz="1200">
                <a:solidFill>
                  <a:srgbClr val="1F2A37"/>
                </a:solidFill>
                <a:latin typeface="Calibri"/>
              </a:rPr>
              <a:t>  —  US Treasury sanctions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20040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2186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EU Financial Sanctions</a:t>
            </a:r>
            <a:r>
              <a:rPr sz="1200">
                <a:solidFill>
                  <a:srgbClr val="1F2A37"/>
                </a:solidFill>
                <a:latin typeface="Calibri"/>
              </a:rPr>
              <a:t>  —  European Union list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9476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8130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World Bank Debarment</a:t>
            </a:r>
            <a:r>
              <a:rPr sz="1200">
                <a:solidFill>
                  <a:srgbClr val="1F2A37"/>
                </a:solidFill>
                <a:latin typeface="Calibri"/>
              </a:rPr>
              <a:t>  —  Procurement exclusions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38912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4074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OpenSanctions API</a:t>
            </a:r>
            <a:r>
              <a:rPr sz="1200">
                <a:solidFill>
                  <a:srgbClr val="1F2A37"/>
                </a:solidFill>
                <a:latin typeface="Calibri"/>
              </a:rPr>
              <a:t>  —  Unified global database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5212080"/>
            <a:ext cx="75895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800" b="1">
                <a:solidFill>
                  <a:srgbClr val="1F2A37"/>
                </a:solidFill>
                <a:latin typeface="Calibri"/>
              </a:defRPr>
            </a:pPr>
            <a:r>
              <a:t>Live, automated, continuous — not a one-time 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Invisible to Investment-Ready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8/16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THE NGO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Free profile on kuja.org marketplace</a:t>
            </a:r>
          </a:p>
        </p:txBody>
      </p:sp>
      <p:sp>
        <p:nvSpPr>
          <p:cNvPr id="13" name="Chevron 12"/>
          <p:cNvSpPr/>
          <p:nvPr/>
        </p:nvSpPr>
        <p:spPr>
          <a:xfrm>
            <a:off x="2395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ASSESS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 capacity assessment, get readiness score</a:t>
            </a:r>
          </a:p>
        </p:txBody>
      </p:sp>
      <p:sp>
        <p:nvSpPr>
          <p:cNvPr id="18" name="Chevron 17"/>
          <p:cNvSpPr/>
          <p:nvPr/>
        </p:nvSpPr>
        <p:spPr>
          <a:xfrm>
            <a:off x="4681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30/60/90-day roadmap, learning resources</a:t>
            </a:r>
          </a:p>
        </p:txBody>
      </p:sp>
      <p:sp>
        <p:nvSpPr>
          <p:cNvPr id="23" name="Chevron 22"/>
          <p:cNvSpPr/>
          <p:nvPr/>
        </p:nvSpPr>
        <p:spPr>
          <a:xfrm>
            <a:off x="6967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AI-guided applications, document coaching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9253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Seamless compliance reporting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72000"/>
            <a:ext cx="10515600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572000"/>
            <a:ext cx="2103120" cy="73152"/>
          </a:xfrm>
          <a:prstGeom prst="rect">
            <a:avLst/>
          </a:prstGeom>
          <a:solidFill>
            <a:srgbClr val="DC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51760" y="4572000"/>
            <a:ext cx="2103120" cy="73152"/>
          </a:xfrm>
          <a:prstGeom prst="rect">
            <a:avLst/>
          </a:prstGeom>
          <a:solidFill>
            <a:srgbClr val="BAD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0" y="4572000"/>
            <a:ext cx="2103120" cy="73152"/>
          </a:xfrm>
          <a:prstGeom prst="rect">
            <a:avLst/>
          </a:prstGeom>
          <a:solidFill>
            <a:srgbClr val="7CB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0" y="4572000"/>
            <a:ext cx="21031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61120" y="4572000"/>
            <a:ext cx="210312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Invisible  →  Visible  →  Assessed  →  Ready  →  Funded  →  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Searching to 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9/16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THE DONOR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Browse verified, assessed organizations</a:t>
            </a:r>
          </a:p>
        </p:txBody>
      </p:sp>
      <p:sp>
        <p:nvSpPr>
          <p:cNvPr id="13" name="Chevron 12"/>
          <p:cNvSpPr/>
          <p:nvPr/>
        </p:nvSpPr>
        <p:spPr>
          <a:xfrm>
            <a:off x="2395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CONFIGURE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Set your criteria, thresholds, weightings</a:t>
            </a:r>
          </a:p>
        </p:txBody>
      </p:sp>
      <p:sp>
        <p:nvSpPr>
          <p:cNvPr id="18" name="Chevron 17"/>
          <p:cNvSpPr/>
          <p:nvPr/>
        </p:nvSpPr>
        <p:spPr>
          <a:xfrm>
            <a:off x="4681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AI-ranked shortlists, dual scoring</a:t>
            </a:r>
          </a:p>
        </p:txBody>
      </p:sp>
      <p:sp>
        <p:nvSpPr>
          <p:cNvPr id="23" name="Chevron 22"/>
          <p:cNvSpPr/>
          <p:nvPr/>
        </p:nvSpPr>
        <p:spPr>
          <a:xfrm>
            <a:off x="6967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AWARD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Grant wizard with AI agreement parsing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9253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Real-time reporting, AI compliance scores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4937760"/>
            <a:ext cx="9418320" cy="594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1E40AF"/>
                </a:solidFill>
                <a:latin typeface="Calibri"/>
              </a:defRPr>
            </a:pPr>
            <a:r>
              <a:t>For donors using our ERP: multi-tenant real-time financial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$4.79B Market. Zero Solutions for the Global South.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10/16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1E40AF"/>
                </a:solidFill>
                <a:latin typeface="Calibri"/>
              </a:defRPr>
            </a:pPr>
            <a:r>
              <a:t>$2.75B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Current Market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Grand View 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37160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37160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D9488"/>
                </a:solidFill>
                <a:latin typeface="Calibri"/>
              </a:defRPr>
            </a:pPr>
            <a:r>
              <a:t>$4.79B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Projected (2030)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10.3% CAGR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200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F59E0B"/>
                </a:solidFill>
                <a:latin typeface="Calibri"/>
              </a:defRPr>
            </a:pPr>
            <a:r>
              <a:t>58.2%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NGO Segment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Largest segment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0332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70332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1E40A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Nonprofits Wanting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57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CEP 2025 Report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70332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370332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D9488"/>
                </a:solidFill>
                <a:latin typeface="Calibri"/>
              </a:defRPr>
            </a:pPr>
            <a:r>
              <a:t>100K+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African CSOs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257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Registered organizations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70332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3703320"/>
            <a:ext cx="32004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DC2626"/>
                </a:solidFill>
                <a:latin typeface="Calibri"/>
              </a:defRPr>
            </a:pPr>
            <a:r>
              <a:t>&lt;5%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Direct Funding to Local Actors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257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vs 25% Grand Bargain target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No One Else Does What We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11/16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234440"/>
            <a:ext cx="11887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Fluxx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Submittable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SmartSimple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UNPP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GlobalGiving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Instrumentl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Xapien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3736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End-to-End Lifecycle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24028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74320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Capacity Assessment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0704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24612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Multi-Language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0704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74904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Global South Design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16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4088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0704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25196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7472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216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4088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1832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0704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75488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Affordable for CSOs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6344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5216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4088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1832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0704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25780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Due Diligence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6344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5216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4088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1832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60704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76072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Reporting Module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47472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6344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5216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4088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41832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60704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86000" y="1234440"/>
            <a:ext cx="1188720" cy="5029200"/>
          </a:xfrm>
          <a:prstGeom prst="rect">
            <a:avLst/>
          </a:prstGeom>
          <a:noFill/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Sustainable Revenue, Subsidized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80160"/>
            <a:ext cx="32004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9CA3AF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F2A37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00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✓  Marketplace profile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✓  Basic capacity assessment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✓  Grant discovery feed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280160"/>
            <a:ext cx="3200400" cy="34747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APPLICATION</a:t>
            </a:r>
            <a:br/>
            <a:r>
              <a:t>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$10K–$20K/yr</a:t>
            </a:r>
            <a:br/>
            <a:r>
              <a:t>per donor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00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AI matching + assessment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Donor-configured criteria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Shortlist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280160"/>
            <a:ext cx="3200400" cy="34747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Custom</a:t>
            </a:r>
            <a:br/>
            <a:r>
              <a:t>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200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Full fund management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ERP integration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Custom AI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29200"/>
            <a:ext cx="6858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1F2A37"/>
                </a:solidFill>
                <a:latin typeface="Calibri"/>
              </a:defRPr>
            </a:pPr>
            <a:r>
              <a:t>Free marketplace + basic assessment for CSOs  |  Paid tiers for donors drive sustainability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029200"/>
            <a:ext cx="3383280" cy="5943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2026 Target: $1M revenue + $1M fundraised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Kenya to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069848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38528" y="2606040"/>
            <a:ext cx="320040" cy="3200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Q1–Q2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2377440" cy="18288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KENYA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8 pipeline partners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3 CSO Network MoUs</a:t>
            </a:r>
          </a:p>
        </p:txBody>
      </p:sp>
      <p:sp>
        <p:nvSpPr>
          <p:cNvPr id="12" name="Oval 11"/>
          <p:cNvSpPr/>
          <p:nvPr/>
        </p:nvSpPr>
        <p:spPr>
          <a:xfrm>
            <a:off x="4636008" y="260604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t>Q2–Q4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3108960"/>
            <a:ext cx="2377440" cy="18288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GLOBAL NETWORKS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NEAR, WACSI, EACSOF,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SANGONet + Oxfam/IRC/Save</a:t>
            </a:r>
          </a:p>
        </p:txBody>
      </p:sp>
      <p:sp>
        <p:nvSpPr>
          <p:cNvPr id="15" name="Oval 14"/>
          <p:cNvSpPr/>
          <p:nvPr/>
        </p:nvSpPr>
        <p:spPr>
          <a:xfrm>
            <a:off x="7333488" y="260604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7C3AED"/>
                </a:solidFill>
                <a:latin typeface="Calibri"/>
              </a:defRPr>
            </a:pPr>
            <a:r>
              <a:t>Q3 2026–</a:t>
            </a:r>
            <a:br/>
            <a:r>
              <a:t>Q2 2027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08960"/>
            <a:ext cx="2377440" cy="1828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SUB-SAHARAN</a:t>
            </a:r>
            <a:br/>
            <a:r>
              <a:t>AFRICA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24 countries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Continental expansion</a:t>
            </a:r>
          </a:p>
        </p:txBody>
      </p:sp>
      <p:sp>
        <p:nvSpPr>
          <p:cNvPr id="18" name="Oval 17"/>
          <p:cNvSpPr/>
          <p:nvPr/>
        </p:nvSpPr>
        <p:spPr>
          <a:xfrm>
            <a:off x="10030968" y="260604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Q3–Q4 2027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3108960"/>
            <a:ext cx="23774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LATIN AMERICA</a:t>
            </a:r>
            <a:br/>
            <a:r>
              <a:t>&amp; CARIBBEAN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15 countries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Regional partnerships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698480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1F2A37"/>
                </a:solidFill>
                <a:latin typeface="Calibri"/>
              </a:defRPr>
            </a:pPr>
            <a:r>
              <a:t>Partners: NEAR  |  WACSI  |  EACSOF  |  SANGONet  |  TechSoup  |  EPIC Africa  |  Pledge for 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Where We Are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188720"/>
            <a:ext cx="32004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1E40AF"/>
                </a:solidFill>
                <a:latin typeface="Calibri"/>
              </a:defRPr>
            </a:pPr>
            <a:r>
              <a:t>600+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Active Users on kuja.org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188720"/>
            <a:ext cx="32004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1E40AF"/>
                </a:solidFill>
                <a:latin typeface="Calibri"/>
              </a:defRPr>
            </a:pPr>
            <a:r>
              <a:t>200+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57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Local Organizations Onboarded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2004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1E40A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Capacity Assessment Frameworks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71800"/>
            <a:ext cx="32004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63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1E40A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40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Country Registry Verifications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971800"/>
            <a:ext cx="32004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063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1E40AF"/>
                </a:solidFill>
                <a:latin typeface="Calibri"/>
              </a:defRPr>
            </a:pPr>
            <a:r>
              <a:t>4+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840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Sanctions Databases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971800"/>
            <a:ext cx="32004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063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1E40AF"/>
                </a:solidFill>
                <a:latin typeface="Calibri"/>
              </a:defRPr>
            </a:pPr>
            <a:r>
              <a:t>5+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40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Languages Live — Expanding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72000"/>
            <a:ext cx="292608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✓  Live AI platform in production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4572000"/>
            <a:ext cx="475488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✓  Multi-language: AR, FR, ES live — no competitor offers this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4572000"/>
            <a:ext cx="274320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✓  ERP (Odoo 17) in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Let's Transform Grant Management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WHAT WE'RE LOOKING 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9436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1E40AF"/>
                </a:solidFill>
                <a:latin typeface="Calibri"/>
              </a:defRPr>
            </a:pPr>
            <a:r>
              <a:t>➔  Strategic Partners</a:t>
            </a:r>
          </a:p>
          <a:p>
            <a:pPr>
              <a:spcBef>
                <a:spcPts val="400"/>
              </a:spcBef>
              <a:defRPr sz="1300">
                <a:solidFill>
                  <a:srgbClr val="1F2A37"/>
                </a:solidFill>
                <a:latin typeface="Calibri"/>
              </a:defRPr>
            </a:pPr>
            <a:r>
              <a:t>Organizations who share our localization vision and can co-create solutions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9436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1E40AF"/>
                </a:solidFill>
                <a:latin typeface="Calibri"/>
              </a:defRPr>
            </a:pPr>
            <a:r>
              <a:t>➔  Pilot Donors</a:t>
            </a:r>
          </a:p>
          <a:p>
            <a:pPr>
              <a:spcBef>
                <a:spcPts val="400"/>
              </a:spcBef>
              <a:defRPr sz="1300">
                <a:solidFill>
                  <a:srgbClr val="1F2A37"/>
                </a:solidFill>
                <a:latin typeface="Calibri"/>
              </a:defRPr>
            </a:pPr>
            <a:r>
              <a:t>Foundations willing to pilot the end-to-end grant management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9436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1E40AF"/>
                </a:solidFill>
                <a:latin typeface="Calibri"/>
              </a:defRPr>
            </a:pPr>
            <a:r>
              <a:t>➔  CSO Networks</a:t>
            </a:r>
          </a:p>
          <a:p>
            <a:pPr>
              <a:spcBef>
                <a:spcPts val="400"/>
              </a:spcBef>
              <a:defRPr sz="1300">
                <a:solidFill>
                  <a:srgbClr val="1F2A37"/>
                </a:solidFill>
                <a:latin typeface="Calibri"/>
              </a:defRPr>
            </a:pPr>
            <a:r>
              <a:t>Networks ready to onboard their member organizations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59436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1E40AF"/>
                </a:solidFill>
                <a:latin typeface="Calibri"/>
              </a:defRPr>
            </a:pPr>
            <a:r>
              <a:t>➔  Technology Partners</a:t>
            </a:r>
          </a:p>
          <a:p>
            <a:pPr>
              <a:spcBef>
                <a:spcPts val="400"/>
              </a:spcBef>
              <a:defRPr sz="1300">
                <a:solidFill>
                  <a:srgbClr val="1F2A37"/>
                </a:solidFill>
                <a:latin typeface="Calibri"/>
              </a:defRPr>
            </a:pPr>
            <a:r>
              <a:t>Companies that can help us scale infrastructure and integrations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280160"/>
            <a:ext cx="4114800" cy="41148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76200" tIns="190500" bIns="50800"/>
          <a:lstStyle/>
          <a:p>
            <a:pPr algn="ctr">
              <a:spcAft>
                <a:spcPts val="200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CONTACT</a:t>
            </a:r>
          </a:p>
          <a:p>
            <a:pPr>
              <a:spcAft>
                <a:spcPts val="6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Adeso</a:t>
            </a:r>
          </a:p>
          <a:p>
            <a:pPr>
              <a:spcAft>
                <a:spcPts val="600"/>
              </a:spcAft>
              <a:defRPr sz="1400" b="0">
                <a:solidFill>
                  <a:srgbClr val="A5B4FC"/>
                </a:solidFill>
                <a:latin typeface="Calibri"/>
              </a:defRPr>
            </a:pPr>
            <a:r>
              <a:t>African Development Solutions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kuja.org</a:t>
            </a:r>
          </a:p>
          <a:p>
            <a:pPr>
              <a:spcAft>
                <a:spcPts val="600"/>
              </a:spcAft>
              <a:defRPr sz="1600" b="0">
                <a:solidFill>
                  <a:srgbClr val="A5B4FC"/>
                </a:solidFill>
                <a:latin typeface="Calibri"/>
              </a:defRPr>
            </a:pPr>
            <a:r>
              <a:t>adesoafrica.org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info@adesoafrica.org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274320"/>
            <a:ext cx="2286000" cy="22860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1371600" cy="13716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5303520"/>
            <a:ext cx="914400" cy="9144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8346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Matching Local Brilliance with Global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A5B4FC"/>
                </a:solidFill>
                <a:latin typeface="Calibri"/>
              </a:defRPr>
            </a:pPr>
            <a:r>
              <a:t>The first AI-powered grant management platform</a:t>
            </a:r>
            <a:br/>
            <a:r>
              <a:t>built for the Global South, by the Global South.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93A3BF"/>
                </a:solidFill>
                <a:latin typeface="Calibri"/>
              </a:defRPr>
            </a:pPr>
            <a:r>
              <a:t>kuja.org  |  adesoafrica.org  |  info@adesoafrica.org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