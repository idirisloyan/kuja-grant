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Calibri"/>
              </a:rPr>
              <a:t>Kuja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FFE4D6"/>
                </a:solidFill>
                <a:latin typeface="Calibri"/>
              </a:rPr>
              <a:t>An AI-Powered Grant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Built for the Global South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FFE4D6"/>
                </a:solidFill>
                <a:latin typeface="Calibri"/>
              </a:rPr>
              <a:t>v5.0  ·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INTERNAL · FOR TEAM AND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Where We Started — The Original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Kuja launched as a two-product play backed by a back-office service, with an aggressive sell-to-NGOs-and-donors GTM.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65760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KujaLink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The Marketplace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Two-sided NGO ↔ donor discovery platform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Capacity profiles, opportunity matching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Originally framed as the demand-side wedge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97280"/>
            <a:ext cx="36576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Kuja ERP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Built on Odoo 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Full back-office stack: HR · Finance · Ops · Procurement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Customised for NGOs with grant-aware budgeting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Intended as the recurring-revenue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97280"/>
            <a:ext cx="3657600" cy="329184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097280"/>
            <a:ext cx="36576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14300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Back-Office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6916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Managed Service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05740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Consultancy for NGOs without internal capacity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HR, finance, operations run by Adeso team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Wraparound for orgs adopting Kuja ERP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617720"/>
            <a:ext cx="11247120" cy="7315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E4D6"/>
                </a:solidFill>
                <a:latin typeface="Calibri"/>
              </a:rPr>
              <a:t>ORIGINAL GTM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663440"/>
            <a:ext cx="8412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Sell aggressively to NGOs AND donors  ·  monetise marketplace, ERP licences, and managed services in parallel.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532120"/>
            <a:ext cx="11247120" cy="96012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STATUS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16168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KujaLink shipped and is live in production. The ERP build is still in development after four years — over USD 3M invested. Back-office services remain a small, bespoke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Investment to Date — Where the USD 3M+ Went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years of spend on Kuja ERP, concentrated in consultants and staff.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77724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486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USD 4.23M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00584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FFE4D6"/>
                </a:solidFill>
                <a:latin typeface="Calibri"/>
              </a:rPr>
              <a:t>total invested in Kuja ERP, 2022 – Mar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486400" cy="42976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BY YEAR (USD)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2560320"/>
            <a:ext cx="88524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4045" y="256032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$334K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291840"/>
            <a:ext cx="3657600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29184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$1.38M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2336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023360"/>
            <a:ext cx="3101008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9808" y="402336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$1.17M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754880"/>
            <a:ext cx="3101008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9808" y="475488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$1.17M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486400"/>
            <a:ext cx="1005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2026 YTD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5486400"/>
            <a:ext cx="439972" cy="59436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8772" y="5486400"/>
            <a:ext cx="1371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$166K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1965960"/>
            <a:ext cx="5486400" cy="42976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103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BY COST DRIVER (USD)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2560320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Consultants &amp; Pro Services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65592" y="2560320"/>
            <a:ext cx="301752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56264" y="2560320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$1.91M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136392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Staff Salaries &amp; Benefits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65592" y="3136392"/>
            <a:ext cx="2701549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40293" y="3136392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$1.71M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3712464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Indirect Cost Allocations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65592" y="3712464"/>
            <a:ext cx="74569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84434" y="3712464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$472K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4288536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Programmatic Delivery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65592" y="4288536"/>
            <a:ext cx="97950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6694" y="4288536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$62K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864608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Travel &amp; Accommodation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65592" y="4864608"/>
            <a:ext cx="90051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8795" y="4864608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$57K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232" y="5440680"/>
            <a:ext cx="1691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Ops &amp; Admin Support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65592" y="5440680"/>
            <a:ext cx="3791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6660" y="5440680"/>
            <a:ext cx="1097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1F2937"/>
                </a:solidFill>
                <a:latin typeface="Calibri"/>
              </a:rPr>
              <a:t>$24K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≈85% of spend went to consultants and staff. The product has yet to reach commercial release.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Reality — Why Selling ERP to NGOs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A saturated market of nonprofit accounting tools, sold at deep discount, with high switching costs.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3657600" cy="5029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CROWDED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NGOs already have many strong, NGO-tuned options: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QuickBooks Online</a:t>
            </a:r>
            <a:r>
              <a:rPr sz="1000">
                <a:solidFill>
                  <a:srgbClr val="1F2937"/>
                </a:solidFill>
                <a:latin typeface="Calibri"/>
              </a:rPr>
              <a:t> Class tracking + fund accounting; free/discounted via TechSoup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Aplos</a:t>
            </a:r>
            <a:r>
              <a:rPr sz="1000">
                <a:solidFill>
                  <a:srgbClr val="1F2937"/>
                </a:solidFill>
                <a:latin typeface="Calibri"/>
              </a:rPr>
              <a:t> Built for nonprofits; ~USD 60–190/mo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Sage Intacct for NPOs</a:t>
            </a:r>
            <a:r>
              <a:rPr sz="1000">
                <a:solidFill>
                  <a:srgbClr val="1F2937"/>
                </a:solidFill>
                <a:latin typeface="Calibri"/>
              </a:rPr>
              <a:t> High-end, dimension-based fund accounting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Blackbaud Financial Edge NXT</a:t>
            </a:r>
            <a:r>
              <a:rPr sz="1000">
                <a:solidFill>
                  <a:srgbClr val="1F2937"/>
                </a:solidFill>
                <a:latin typeface="Calibri"/>
              </a:rPr>
              <a:t> Long-standing nonprofit ERP standard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MIP Fund Accounting</a:t>
            </a:r>
            <a:r>
              <a:rPr sz="1000">
                <a:solidFill>
                  <a:srgbClr val="1F2937"/>
                </a:solidFill>
                <a:latin typeface="Calibri"/>
              </a:rPr>
              <a:t> Community Brands; strong in mid-size INGOs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NetSuite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Oracle SuiteSuccess SKU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C2410C"/>
                </a:solidFill>
                <a:latin typeface="Calibri"/>
              </a:rPr>
              <a:t>• Xero · Zoho Books · Wave · Odoo Community</a:t>
            </a:r>
            <a:r>
              <a:rPr sz="1000">
                <a:solidFill>
                  <a:srgbClr val="1F2937"/>
                </a:solidFill>
                <a:latin typeface="Calibri"/>
              </a:rPr>
              <a:t> Low-cost / free SMB tier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51560"/>
            <a:ext cx="3657600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WHY NGOs WON'T SWITCH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Even when a better option exists, the math rarely works: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Already on something</a:t>
            </a:r>
            <a:r>
              <a:rPr sz="1000">
                <a:solidFill>
                  <a:srgbClr val="1F2937"/>
                </a:solidFill>
                <a:latin typeface="Calibri"/>
              </a:rPr>
              <a:t> Migration cost ≫ marginal feature gain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Indirect-cost caps</a:t>
            </a:r>
            <a:r>
              <a:rPr sz="1000">
                <a:solidFill>
                  <a:srgbClr val="1F2937"/>
                </a:solidFill>
                <a:latin typeface="Calibri"/>
              </a:rPr>
              <a:t> Donors cap overheads at 7–15%; software competes with salaries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Donor reporting</a:t>
            </a:r>
            <a:r>
              <a:rPr sz="1000">
                <a:solidFill>
                  <a:srgbClr val="1F2937"/>
                </a:solidFill>
                <a:latin typeface="Calibri"/>
              </a:rPr>
              <a:t> Funders demand familiar exports — Blackbaud, Sage, QB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Country-by-country complexity</a:t>
            </a:r>
            <a:r>
              <a:rPr sz="1000">
                <a:solidFill>
                  <a:srgbClr val="1F2937"/>
                </a:solidFill>
                <a:latin typeface="Calibri"/>
              </a:rPr>
              <a:t> Local tax, payroll, statutory reporting — hard to centralise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Capacity to operate</a:t>
            </a:r>
            <a:r>
              <a:rPr sz="1000">
                <a:solidFill>
                  <a:srgbClr val="1F2937"/>
                </a:solidFill>
                <a:latin typeface="Calibri"/>
              </a:rPr>
              <a:t> Many lack the finance team to run any ERP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51560"/>
            <a:ext cx="3657600" cy="507492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051560"/>
            <a:ext cx="3657600" cy="5029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09728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PRICING SQUEEZE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64592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Incumbents have neutralised price as a wedge: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03120"/>
            <a:ext cx="32004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TechSoup discounts</a:t>
            </a:r>
            <a:r>
              <a:rPr sz="1000">
                <a:solidFill>
                  <a:srgbClr val="1F2937"/>
                </a:solidFill>
                <a:latin typeface="Calibri"/>
              </a:rPr>
              <a:t> 60–90% off list for QB, Sage, Microsoft, Blackbaud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Google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Free workspace + Workspace Marketplace add-ons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Microsoft for Nonprofits</a:t>
            </a:r>
            <a:r>
              <a:rPr sz="1000">
                <a:solidFill>
                  <a:srgbClr val="1F2937"/>
                </a:solidFill>
                <a:latin typeface="Calibri"/>
              </a:rPr>
              <a:t> Free / steeply discounted M365 + Dynamics 365 grants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Free tier ERPs</a:t>
            </a:r>
            <a:r>
              <a:rPr sz="1000">
                <a:solidFill>
                  <a:srgbClr val="1F2937"/>
                </a:solidFill>
                <a:latin typeface="Calibri"/>
              </a:rPr>
              <a:t> Odoo Community, ERPNext — same engine, USD 0 licence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2C5F8A"/>
                </a:solidFill>
                <a:latin typeface="Calibri"/>
              </a:rPr>
              <a:t>• Bundled finance services</a:t>
            </a:r>
            <a:r>
              <a:rPr sz="1000">
                <a:solidFill>
                  <a:srgbClr val="1F2937"/>
                </a:solidFill>
                <a:latin typeface="Calibri"/>
              </a:rPr>
              <a:t> Big-4 / regional consultancies bundle their own stacks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217920"/>
            <a:ext cx="11247120" cy="41148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54496"/>
            <a:ext cx="10881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1">
                <a:solidFill>
                  <a:srgbClr val="C2410C"/>
                </a:solidFill>
                <a:latin typeface="Calibri"/>
              </a:rPr>
              <a:t>Takeaway: even an NGO-customised ERP is a feature competing in a commoditised category against deeply discounted, donor-trusted incumbents.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Strategic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Keep the grant platform as the wedge. Re-channel the ERP to a buyer who can actually fund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THEN — Original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005840"/>
            <a:ext cx="548640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45352" y="100584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NOW — Refocused Strategy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219456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Two products in parallel</a:t>
            </a:r>
            <a:r>
              <a:rPr sz="1100">
                <a:solidFill>
                  <a:srgbClr val="1F2937"/>
                </a:solidFill>
                <a:latin typeface="Calibri"/>
              </a:rPr>
              <a:t> KujaLink + Kuja ERP, both sold direct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Buyer = NGOs and donors</a:t>
            </a:r>
            <a:r>
              <a:rPr sz="1100">
                <a:solidFill>
                  <a:srgbClr val="1F2937"/>
                </a:solidFill>
                <a:latin typeface="Calibri"/>
              </a:rPr>
              <a:t> Both products pushed to both sides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ERP as recurring revenue</a:t>
            </a:r>
            <a:r>
              <a:rPr sz="1100">
                <a:solidFill>
                  <a:srgbClr val="1F2937"/>
                </a:solidFill>
                <a:latin typeface="Calibri"/>
              </a:rPr>
              <a:t> Bet on NGOs paying licences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• Back-office service alongside</a:t>
            </a:r>
            <a:r>
              <a:rPr sz="1100">
                <a:solidFill>
                  <a:srgbClr val="1F2937"/>
                </a:solidFill>
                <a:latin typeface="Calibri"/>
              </a:rPr>
              <a:t> Bundled where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508760"/>
            <a:ext cx="5486400" cy="2194560"/>
          </a:xfrm>
          <a:prstGeom prst="roundRect">
            <a:avLst/>
          </a:prstGeom>
          <a:solidFill>
            <a:srgbClr val="FF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Lead with grant management</a:t>
            </a:r>
            <a:r>
              <a:rPr sz="1100">
                <a:solidFill>
                  <a:srgbClr val="1F2937"/>
                </a:solidFill>
                <a:latin typeface="Calibri"/>
              </a:rPr>
              <a:t> Kuja Grant Platform = the wedge product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Two-sided market</a:t>
            </a:r>
            <a:r>
              <a:rPr sz="1100">
                <a:solidFill>
                  <a:srgbClr val="1F2937"/>
                </a:solidFill>
                <a:latin typeface="Calibri"/>
              </a:rPr>
              <a:t> NGOs (capacity + visibility) + donors (oversight + AI)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ERP repositioned</a:t>
            </a:r>
            <a:r>
              <a:rPr sz="1100">
                <a:solidFill>
                  <a:srgbClr val="1F2937"/>
                </a:solidFill>
                <a:latin typeface="Calibri"/>
              </a:rPr>
              <a:t> Sold to donors / INGOs as a service THEY fund for grantees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 b="1">
                <a:solidFill>
                  <a:srgbClr val="C2410C"/>
                </a:solidFill>
                <a:latin typeface="Calibri"/>
              </a:rPr>
              <a:t>• Services + ERP bundled for donors</a:t>
            </a:r>
            <a:r>
              <a:rPr sz="1100">
                <a:solidFill>
                  <a:srgbClr val="1F2937"/>
                </a:solidFill>
                <a:latin typeface="Calibri"/>
              </a:rPr>
              <a:t> Capacity-building line item in grants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B3A5C"/>
                </a:solidFill>
                <a:latin typeface="Calibri"/>
              </a:rPr>
              <a:t>TWO DISTINCT GO-TO-MARKET MOTIONS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486400" cy="22402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Kuja Grant Platform (SaaS)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Sold to NGOs + donors directly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Subscription + per-grant pricing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Network effects: more donors → more NGOs → more donors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Already shipped and live in production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160520"/>
            <a:ext cx="5486400" cy="2240280"/>
          </a:xfrm>
          <a:prstGeom prst="roundRect">
            <a:avLst/>
          </a:prstGeom>
          <a:solidFill>
            <a:srgbClr val="F2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60520"/>
            <a:ext cx="548640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41605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Kuja ERP-as-a-Service (Donor-funded)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7091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Sold to donors / INGOs, not to NGO buyers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Donor sponsors ERP + back-office service for selected grantees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Funded from existing capacity-building grant line items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• Aligns Odoo 17 customisation with who values grant budgeting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C2410C"/>
                </a:solidFill>
                <a:latin typeface="Calibri"/>
              </a:rPr>
              <a:t>Why this works: donors have budget for grantee capacity-building. NGOs don't have budget for ERP licences. Match the product to the wallet.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Problem We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Grant funding for Global South non-profits is structurally inefficient.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NGOs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assessment fatigue — answer the same 80–120 questions across CHS, UN-HACT, NUPAS, STEP, and donor-specific variants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overhead with no help to know if their answer is strong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evidence scattered across email, drives, and binders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Reporting templates that vary by donor with no guidance on what each donor cares about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Decision opacity — most applications rejected with little or no feedback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Language exclusion — donor portals are English-only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DONORS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Sourcing is slow and intuition-driven — finding strong NGOs requires personal networks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signal is non-standard — every donor maintains their own framework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quality variance comes from language proficiency, not programme quality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is reactive — sanctions, registry, document validation happen at the last minute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Reports do not roll up — aggregating outcomes requires manual extraction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early-warning signal when grants drift off track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REVIEWERS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Each application takes hours to read carefully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Rationales drift — reviewers anchor on each other, not the rubric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Patterns across the portfolio are invisible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standardised way to cite specific evidence per criterion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Suspect quality cannot be flagged with confidence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$2.75B today · $4.79B by 2030 · 10.3% CAGR</a:t>
            </a:r>
          </a:p>
        </p:txBody>
      </p:sp>
      <p:pic>
        <p:nvPicPr>
          <p:cNvPr id="5" name="Picture 4" descr="01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680960" cy="47114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097280"/>
            <a:ext cx="3566160" cy="52120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Why it matters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37360"/>
            <a:ext cx="3291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Sector disruption. </a:t>
            </a:r>
            <a:r>
              <a:rPr sz="1000">
                <a:solidFill>
                  <a:srgbClr val="1F2937"/>
                </a:solidFill>
                <a:latin typeface="Calibri"/>
              </a:rPr>
              <a:t> USAID dissolution in 2025 with 83% of programmes cancelled has created urgent demand for diversified funding infrastructure.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AI inflection. </a:t>
            </a:r>
            <a:r>
              <a:rPr sz="1000">
                <a:solidFill>
                  <a:srgbClr val="1F2937"/>
                </a:solidFill>
                <a:latin typeface="Calibri"/>
              </a:rPr>
              <a:t> 92% of nonprofits use AI in some capacity, but 76% lack formal AI strategy — there is a window for an AI-native platform.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Cloud shift. </a:t>
            </a:r>
            <a:r>
              <a:rPr sz="1000">
                <a:solidFill>
                  <a:srgbClr val="1F2937"/>
                </a:solidFill>
                <a:latin typeface="Calibri"/>
              </a:rPr>
              <a:t> 65% of new grant management deployments are cloud-based.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Localisation pressure. </a:t>
            </a:r>
            <a:r>
              <a:rPr sz="1000">
                <a:solidFill>
                  <a:srgbClr val="1F2937"/>
                </a:solidFill>
                <a:latin typeface="Calibri"/>
              </a:rPr>
              <a:t> Grand Bargain 2.0 targets 25% direct local funding; actual &lt;5%.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Total / Serviceable / Obtainable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views on the same opportunity</a:t>
            </a:r>
          </a:p>
        </p:txBody>
      </p:sp>
      <p:pic>
        <p:nvPicPr>
          <p:cNvPr id="5" name="Picture 4" descr="02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0361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Sector Is Shifting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trends are creating urgent demand for new grant infrastructure</a:t>
            </a:r>
          </a:p>
        </p:txBody>
      </p:sp>
      <p:pic>
        <p:nvPicPr>
          <p:cNvPr id="5" name="Picture 4" descr="03_sector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248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Kuja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An end-to-end platform anchored on three category-defining commitments.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TWO-PILLAR TRUST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Every NGO presents a Capacity Profile ("can they execute?") and a Due Diligence Profile ("are they safe to fund?"). Both pillars passport across applications.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Five capacity frameworks built in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Custom donor framework builder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Sanctions / AML / CTF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Registration &amp; standing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Beneficial ownership + COI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Adverse media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Twenty-one AI surfaces woven into every workflow. Action-oriented, grounded in user data, traceable to sources, editable end to 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Application &amp;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Real-time document scoring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Pre-submission readiness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Reviewer one-screen summary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Compliance pre-empt + pre-flight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Portfolio 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COMPLIANCE FOR BOTH SIDES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Simplifies compliance and risk for the entire relationship — NGOs are supported through every obligation; donors get pre-assessed reports + portfolio health.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compliance calendar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Proactive reminders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4-pillar health score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Trajectory + slips forecast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Risk register with owners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Organisation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Two pillars · one source of truth · travels with the organisation</a:t>
            </a:r>
          </a:p>
        </p:txBody>
      </p:sp>
      <p:pic>
        <p:nvPicPr>
          <p:cNvPr id="5" name="Picture 4" descr="07_trus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090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Capacity Passporting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Do the assessment once. Carry it forward to every donor's framework.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2926080" cy="20116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2410C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1B3A5C"/>
                </a:solidFill>
                <a:latin typeface="Calibri"/>
              </a:rPr>
              <a:t>NGO completes the Kuja Capacity Framework once · stored on the org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86000"/>
            <a:ext cx="3200400" cy="25603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4688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E4D6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9260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Capacity Passport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56616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E4D6"/>
                </a:solidFill>
                <a:latin typeface="Calibri"/>
              </a:rPr>
              <a:t>Framework-neutral facts · AI maps across target frameworks · provenance traced to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286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STEP 3 — Prefilled across any donor framework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69748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UN-HACT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20040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20040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370332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70332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CHS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20624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42062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NUPAS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70916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470916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Donor custom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212080"/>
            <a:ext cx="9418320" cy="109728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Effort reduction per subsequent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12 hours of duplicated work  →  under 1 hour of review and refinement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Due Diligence Beyond Sanctions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sub-pillars · passported across applications · auditable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Sanctions, AML &amp; CTF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UN · OFAC · EU + watchlists + CTF designations.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Continuous re-screening on schedule, on change, and on every new application. Coverage includes declared beneficial owners and named officers.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Registration &amp; 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7 government registries today · expanding to all jurisdictions with public portals.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Legal name, status, number verified against organisation-claimed values. Tax-exempt certification verified per country.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Beneficial Ownership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Officer disclosure + ownership-chain transparency.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Conflict-of-interest checks against donor staff directories surface conflicts before award. Historical preservation for retrospective audit.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Adverse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Daily news scan with AI-classified relevance and severity.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Auto-raised risk register entries above configured thresholds. Plain-language context summary with source link and suggested next steps.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21 AI-driven surfaces woven into every workflow — grounded, traceable, action-oriented.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Match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Application co-author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Real-time document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Submission readiness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pre-empt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Report co-author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Donor-perspective pre-flight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to-do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DONOR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brief from 2-line prompt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import from PDF/DOCX/TXT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Median-NGO preview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Burden critique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Portfolio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Cross-grant patterns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8056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explanation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8056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Health narrative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One-screen summary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Evidence extraction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Comparable signal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1248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Decision-changers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Per-criterion rationale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Red-flag detection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Suggest-criteria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Audit-ready record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Compliance — Simplified for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platform's flagship: NGOs are supported, donors are confident.</a:t>
            </a:r>
          </a:p>
        </p:txBody>
      </p:sp>
      <p:pic>
        <p:nvPicPr>
          <p:cNvPr id="5" name="Picture 4" descr="08_compliance_both_si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8888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operating reality of Global South CSOs — not an afterthought.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029200" cy="50292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E4D6"/>
                </a:solidFill>
                <a:latin typeface="Calibri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4663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The primary device for most Global South NGO staff is a phone. Connectivity is intermittent. Bandwidth is limited. The platform treats this as a first-class scenario rather than a degraded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4663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Field officers draft, capture evidence, and complete reports without a connection — the system syncs in the background when the network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Progressive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Installable on phone home screen · same login as desktop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Draft applications, complete assessments, write reports without a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Continuous auto-save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Every keystroke saved to local device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Background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Queued uploads transmit automatically on reconnection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Camera as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Photographs of consent forms, beneficiaries, before/after — vision-based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Low-bandwidth optimised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Heavy AI work runs async; core flows work on slow 3G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No competitor combines Global South focus with deep AI integration.</a:t>
            </a:r>
          </a:p>
        </p:txBody>
      </p:sp>
      <p:pic>
        <p:nvPicPr>
          <p:cNvPr id="5" name="Picture 4" descr="04_competitive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724592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Most Competitors Are Donor-Centric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NGO is the structurally underserved side of the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37178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DONOR-CENTRIC GRANT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Optimised for the funder's workflow. NGOs see a submission portal — not a working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Fluxx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Enterprise; deep donor lifecycle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Submittable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Proven scale (25M apps)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SmartSimple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Configurable, 45+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4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Foundant GLM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74904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Donor-friendly, user-friendly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Benevity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1480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Corporate CSR, $14B+ donations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B3A5C"/>
                </a:solidFill>
                <a:latin typeface="Calibri"/>
              </a:rPr>
              <a:t>• Bonterra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4805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Grantmaker product launched Feb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1097280"/>
            <a:ext cx="3637178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7258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NGO-DISCOVERY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7258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0138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Tools that help NGOs find grants — but stop there. No application, review, reporting, or compliance.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0138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Instrumentl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1738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450K+ funders, 31K+ RFPs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0138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OpenGrants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31738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AI matching + writer marketplace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0138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F8A"/>
                </a:solidFill>
                <a:latin typeface="Calibri"/>
              </a:rPr>
              <a:t>• GrantHub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31738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Affordable pipeline tracker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7316" y="1097280"/>
            <a:ext cx="3637178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7316" y="1097280"/>
            <a:ext cx="363717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TWO-SIDED / SPECIALIST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1645920"/>
            <a:ext cx="3637178" cy="31089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6" y="1783080"/>
            <a:ext cx="331713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B3A5C"/>
                </a:solidFill>
                <a:latin typeface="Calibri"/>
              </a:rPr>
              <a:t>Rare. None combine marketplace, trust profile, embedded AI, and compliance support.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196" y="265176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GlobalGiving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1796" y="265176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Marketplace, 175 countries — no GM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0196" y="301752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UN Partner Portal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1796" y="301752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UN ↔ CSO only, no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196" y="338328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TechSoup STEP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1796" y="338328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Assessment only, no GM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0196" y="374904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alibri"/>
              </a:rPr>
              <a:t>• Xapien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1796" y="3749040"/>
            <a:ext cx="19455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1F2937"/>
                </a:solidFill>
                <a:latin typeface="Calibri"/>
              </a:rPr>
              <a:t>Due diligence specialist, no GM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77295" cy="15087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102352"/>
            <a:ext cx="1091153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KUJA — THE ONLY DUAL-SIDED PLATFORM WITH NGO-FIRST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77840"/>
            <a:ext cx="1091153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Marketplace · Two-pillar Organisation Trust Profile · Embedded AI Intelligence working partner for NGOs AND donors · Compliance simplified for both sides · Mobile + offline · ERP. No competitor combines these — most never tried to serve the NGO at all.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Core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Y = fully supported · P = partial · — = not available. Kuja column highlighted.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146016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952461"/>
                <a:gridCol w="952461"/>
                <a:gridCol w="952461"/>
                <a:gridCol w="952461"/>
                <a:gridCol w="952461"/>
                <a:gridCol w="952461"/>
                <a:gridCol w="952461"/>
                <a:gridCol w="952461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Kuja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Fluxx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Submit-
table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Smart-
Simple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Bonterra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UN Partner
Portal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Global-
Giving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Instrumentl</a:t>
                      </a:r>
                    </a:p>
                  </a:txBody>
                  <a:tcPr marL="54864" marR="54864" marT="27432" marB="27432" anchor="ctr">
                    <a:solidFill>
                      <a:srgbClr val="1B3A5C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Embedded AI Intelligence (action-oriented)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Two-Pillar Organisation Trust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Capacity Passporting (one assessment, many frameworks)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Custom Donor Framework Builder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Application Co-Author with Provenance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Real-Time Document Scoring on Upload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Pre-Submission Readiness + Compliance Pre-Empt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Reviewer One-Screen Summary + Evidence Extraction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Sanctions / AML / CTF Screening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Govt. Registry &amp; Standing Verification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Beneficial Ownership + Adverse Media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Compliance Calendar + Reminders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AI Report Drafting + Donor Pre-Flight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4-Pillar Health + Slips Forecast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Two-Sided Marketplace + Match Scoring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Mobile-First PWA + Offline-First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Six-Language UI with Role-Aware Tone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6FA"/>
                    </a:solidFill>
                  </a:tcPr>
                </a:tc>
              </a:tr>
              <a:tr h="2768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F2937"/>
                          </a:solidFill>
                          <a:latin typeface="Calibri"/>
                        </a:rPr>
                        <a:t>Audit Chain + 2FA + GDPR-Erasure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59E0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64748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46520"/>
            <a:ext cx="1146017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C2410C"/>
                </a:solidFill>
                <a:latin typeface="Calibri"/>
              </a:rPr>
              <a:t>Kuja delivers every feature fully. Closest competitor (Fluxx / SmartSimple) covers fewer than half — and none on the differentiators specific to Global South NGOs.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Feature Coverage vs.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40/40 fully supported · 17 differentiators no competitor offers.</a:t>
            </a:r>
          </a:p>
        </p:txBody>
      </p:sp>
      <p:pic>
        <p:nvPicPr>
          <p:cNvPr id="5" name="Picture 4" descr="05_feature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1669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Category-Defining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commitments no competitor matches.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28016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Embedded AI Intelligence, Not a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AI is woven through every workflow as a working partner. Grounded in user data, traceable to sources, action-oriented (an editable starting point), and falls back gracefully when the AI service is unavailable. Competitors offering AI today provide chatbots or analytics dashboards — not a working AI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7180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5468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Two-Pillar Organisation Trust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NGO presents Capacity + Due Diligence side by side, both passported across applications. No competitor offers both pillars together. No competitor offers passporting on the due-diligence side.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632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02920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Compliance Simplified for Both Sides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8640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NGOs get an AI compliance working partner (extract obligations → calendar → reminders → drafting → scoring → pre-flight → revision guidance). Donors get pre-assessed scored reports, 4-pillar health, trajectory forecasting, slips-in-N-days warnings, and a risk register. The donor is never surprised; the NGO is never blocked.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Structural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Seven additional structural strengths.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Only End-to-End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Marketplace, trust profile, AI applications, dual-scoring review, AI-supported reporting + health, ERP — single platform.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Progressive web app · auto-save · background sync · vision-based evidence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Built By and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Six languages at parity with role-aware tone · Adeso's 30+ years of humanitarian experience.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Dual-Sided Network Effects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CSOs gain visibility, AI working partner, calendar of obligations. Donors gain vetted pipeline + portfolio health.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Auditable by Construction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Provenance on every AI claim · tamper-evident hash-chained audit log · donor override transparency.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2044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Seamless ERP Conversion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KujaBuild (Odoo 17) onboards seamlessly because most data is already captured in earlier stages.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Credibility of Adeso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Somali-founded · NEAR Network co-founder · three decades of African humanitarian impact.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Target Market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Five segments · phased geographic expansion · dual-sided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64592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3444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African CSOs / NGOs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23444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100,000+ registered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3444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Free marketplace tier + paid assessment + ERP option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4884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Global South CSOs (LatAm, Asia)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19456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500,000+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Phase 2–3 geographic expansion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10896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15468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Bilateral / multilateral donors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50+ major institutions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15468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Premium end-to-end solution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06908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6908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11480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Private foundations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1480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200,000+ globally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11480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Application portal +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2920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2920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07492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INGOs seeking local partners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07492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1,000+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07492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Marketplace + assessment integration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v5.0 launch wave shipped Q2 2026 · momentum continues through 2028.</a:t>
            </a:r>
          </a:p>
        </p:txBody>
      </p:sp>
      <p:pic>
        <p:nvPicPr>
          <p:cNvPr id="5" name="Picture 4" descr="06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54692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4008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Why Adeso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Right team · right moment · right product.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ADESO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Somali-founded African social enterprise. 30+ years of humanitarian impact. Co-founder of the NEAR Network — the largest network of national and local organisations in the Global South. Built by the communities Kuja serves.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USAID dissolution in 2025 ($36B cut, 83% of programmes cancelled) has created urgent demand for diversified funding infrastructure and direct donor-to-NGO connections. 92% of nonprofits already use AI but 76% lack a strategy.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KUJA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only platform combining marketplace, two-pillar Trust Profile, Embedded AI Intelligence, compliance simplified for both sides, mobile-first delivery, and ERP operations — purpose-built for the Global South.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Findable. Fundable. Trusted.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