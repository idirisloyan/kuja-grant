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916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Calibri"/>
              </a:rPr>
              <a:t>Kuja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FFE4D6"/>
                </a:solidFill>
                <a:latin typeface="Calibri"/>
              </a:rPr>
              <a:t>An AI-Powered Grant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Built for the Global South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MARKET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FFE4D6"/>
                </a:solidFill>
                <a:latin typeface="Calibri"/>
              </a:rPr>
              <a:t>v5.0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INTERNAL · FOR TEAM AND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Problem We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Grant funding for Global South non-profits is structurally inefficient.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 NGOs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657600" cy="4572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Capacity assessment fatigue — answer the same 80–120 questions across CHS, UN-HACT, NUPAS, STEP, and donor-specific variants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Application overhead with no help to know if their answer is strong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Compliance evidence scattered across email, drives, and binders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Reporting templates that vary by donor with no guidance on what each donor cares about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Decision opacity — most applications rejected with little or no feedback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Language exclusion — donor portals are English-only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65760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8872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 DONORS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657600" cy="4572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7452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Sourcing is slow and intuition-driven — finding strong NGOs requires personal networks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Capacity signal is non-standard — every donor maintains their own framework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Application quality variance comes from language proficiency, not programme quality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Compliance is reactive — sanctions, registry, document validation happen at the last minute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Reports do not roll up — aggregating outcomes requires manual extraction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No early-warning signal when grants drift off 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188720"/>
            <a:ext cx="365760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8872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 REVIEWERS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737360"/>
            <a:ext cx="3657600" cy="4572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87452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Each application takes hours to read carefully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Rationales drift — reviewers anchor on each other, not the rubric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Patterns across the portfolio are invisible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No standardised way to cite specific evidence per criterion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F2937"/>
                </a:solidFill>
                <a:latin typeface="Calibri"/>
              </a:rPr>
              <a:t>• Suspect quality cannot be flagged with confidence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$2.75B today · $4.79B by 2030 · 10.3% CAGR</a:t>
            </a:r>
          </a:p>
        </p:txBody>
      </p:sp>
      <p:pic>
        <p:nvPicPr>
          <p:cNvPr id="5" name="Picture 4" descr="01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680960" cy="47114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097280"/>
            <a:ext cx="3566160" cy="52120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Why it matters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3736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00" b="1">
                <a:solidFill>
                  <a:srgbClr val="1B3A5C"/>
                </a:solidFill>
                <a:latin typeface="Calibri"/>
              </a:rPr>
              <a:t>• Sector disruption. </a:t>
            </a:r>
            <a:r>
              <a:rPr sz="1000">
                <a:solidFill>
                  <a:srgbClr val="1F2937"/>
                </a:solidFill>
                <a:latin typeface="Calibri"/>
              </a:rPr>
              <a:t> USAID dissolution in 2025 with 83% of programmes cancelled has created urgent demand for diversified funding infrastructure.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00" b="1">
                <a:solidFill>
                  <a:srgbClr val="1B3A5C"/>
                </a:solidFill>
                <a:latin typeface="Calibri"/>
              </a:rPr>
              <a:t>• AI inflection. </a:t>
            </a:r>
            <a:r>
              <a:rPr sz="1000">
                <a:solidFill>
                  <a:srgbClr val="1F2937"/>
                </a:solidFill>
                <a:latin typeface="Calibri"/>
              </a:rPr>
              <a:t> 92% of nonprofits use AI in some capacity, but 76% lack formal AI strategy — there is a window for an AI-native platform.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00" b="1">
                <a:solidFill>
                  <a:srgbClr val="1B3A5C"/>
                </a:solidFill>
                <a:latin typeface="Calibri"/>
              </a:rPr>
              <a:t>• Cloud shift. </a:t>
            </a:r>
            <a:r>
              <a:rPr sz="1000">
                <a:solidFill>
                  <a:srgbClr val="1F2937"/>
                </a:solidFill>
                <a:latin typeface="Calibri"/>
              </a:rPr>
              <a:t> 65% of new grant management deployments are cloud-based.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00" b="1">
                <a:solidFill>
                  <a:srgbClr val="1B3A5C"/>
                </a:solidFill>
                <a:latin typeface="Calibri"/>
              </a:rPr>
              <a:t>• Localisation pressure. </a:t>
            </a:r>
            <a:r>
              <a:rPr sz="1000">
                <a:solidFill>
                  <a:srgbClr val="1F2937"/>
                </a:solidFill>
                <a:latin typeface="Calibri"/>
              </a:rPr>
              <a:t> Grand Bargain 2.0 targets 25% direct local funding; actual &lt;5%.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Total / Serviceable / Obtainable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Three views on the same opportunity</a:t>
            </a:r>
          </a:p>
        </p:txBody>
      </p:sp>
      <p:pic>
        <p:nvPicPr>
          <p:cNvPr id="5" name="Picture 4" descr="02_tam_sam_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60361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Sector Is Shifting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Four trends are creating urgent demand for new grant infrastructure</a:t>
            </a:r>
          </a:p>
        </p:txBody>
      </p:sp>
      <p:pic>
        <p:nvPicPr>
          <p:cNvPr id="5" name="Picture 4" descr="03_sector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55248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Kuja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An end-to-end platform anchored on three category-defining commitments.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TWO-PILLAR TRUST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657600" cy="45720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1B3A5C"/>
                </a:solidFill>
                <a:latin typeface="Calibri"/>
              </a:rPr>
              <a:t>Every NGO presents a Capacity Profile ("can they execute?") and a Due Diligence Profile ("are they safe to fund?"). Both pillars passport across applications.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Five capacity frameworks built in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Custom donor framework builder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Sanctions / AML / CTF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Registration &amp; standing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Beneficial ownership + COI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Adverse media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657600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18872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EMBEDDED AI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657600" cy="45720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2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1B3A5C"/>
                </a:solidFill>
                <a:latin typeface="Calibri"/>
              </a:rPr>
              <a:t>Twenty-one AI surfaces woven into every workflow. Action-oriented, grounded in user data, traceable to sources, editable end to 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004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Application &amp; report drafting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Real-time document scoring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Pre-submission readiness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Reviewer one-screen summary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Compliance pre-empt + pre-flight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Portfolio insights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188720"/>
            <a:ext cx="3657600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18872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COMPLIANCE FOR BOTH SIDES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737360"/>
            <a:ext cx="3657600" cy="45720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87452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1B3A5C"/>
                </a:solidFill>
                <a:latin typeface="Calibri"/>
              </a:rPr>
              <a:t>Simplifies compliance and risk for the entire relationship — NGOs are supported through every obligation; donors get pre-assessed reports + portfolio health.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004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AI compliance calendar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Proactive reminders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AI report drafting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4-pillar health score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Trajectory + slips forecast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1B3A5C"/>
                </a:solidFill>
                <a:latin typeface="Calibri"/>
              </a:rPr>
              <a:t>• Risk register with owners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Organisation Trust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Two pillars · one source of truth · travels with the organisation</a:t>
            </a:r>
          </a:p>
        </p:txBody>
      </p:sp>
      <p:pic>
        <p:nvPicPr>
          <p:cNvPr id="5" name="Picture 4" descr="07_trus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55090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Capacity Passporting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Do the assessment once. Carry it forward to every donor's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2926080" cy="201168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C2410C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926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1B3A5C"/>
                </a:solidFill>
                <a:latin typeface="Calibri"/>
              </a:rPr>
              <a:t>NGO completes the Kuja Capacity Framework once · stored on the org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286000"/>
            <a:ext cx="3200400" cy="25603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4688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E4D6"/>
                </a:solidFill>
                <a:latin typeface="Calibri"/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2608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Capacity Passport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56616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FFE4D6"/>
                </a:solidFill>
                <a:latin typeface="Calibri"/>
              </a:rPr>
              <a:t>Framework-neutral facts · AI maps across target frameworks · provenance traced to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2860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2410C"/>
                </a:solidFill>
                <a:latin typeface="Calibri"/>
              </a:rPr>
              <a:t>STEP 3 — Prefilled across any donor framework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697480"/>
            <a:ext cx="3657600" cy="4114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69748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  <a:latin typeface="Calibri"/>
              </a:rPr>
              <a:t>UN-HACT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200400"/>
            <a:ext cx="3657600" cy="4114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320040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  <a:latin typeface="Calibri"/>
              </a:rPr>
              <a:t>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703320"/>
            <a:ext cx="3657600" cy="4114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70332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  <a:latin typeface="Calibri"/>
              </a:rPr>
              <a:t>CHS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206240"/>
            <a:ext cx="3657600" cy="4114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420624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  <a:latin typeface="Calibri"/>
              </a:rPr>
              <a:t>NUPAS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4709160"/>
            <a:ext cx="3657600" cy="4114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70916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  <a:latin typeface="Calibri"/>
              </a:rPr>
              <a:t>Donor custom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212080"/>
            <a:ext cx="9418320" cy="109728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349240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Effort reduction per subsequent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12 hours of duplicated work  →  under 1 hour of review and refinement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Due Diligence Beyond Sanctions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Four sub-pillars · passported across applications · auditable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577840" cy="24688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577840" cy="45720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Sanctions, AML &amp; CTF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1">
                <a:solidFill>
                  <a:srgbClr val="C2410C"/>
                </a:solidFill>
                <a:latin typeface="Calibri"/>
              </a:rPr>
              <a:t>UN · OFAC · EU + watchlists + CTF designations.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Continuous re-screening on schedule, on change, and on every new application. Coverage includes declared beneficial owners and named officers.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97280"/>
            <a:ext cx="5577840" cy="24688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577840" cy="45720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09728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Registration &amp; 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1">
                <a:solidFill>
                  <a:srgbClr val="C2410C"/>
                </a:solidFill>
                <a:latin typeface="Calibri"/>
              </a:rPr>
              <a:t>7 government registries today · expanding to all jurisdictions with public portals.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94560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Legal name, status, number verified against organisation-claimed values. Tax-exempt certification verified per country.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03320"/>
            <a:ext cx="5577840" cy="24688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5577840" cy="45720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Beneficial Ownership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1">
                <a:solidFill>
                  <a:srgbClr val="C2410C"/>
                </a:solidFill>
                <a:latin typeface="Calibri"/>
              </a:rPr>
              <a:t>Officer disclosure + ownership-chain transparency.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Conflict-of-interest checks against donor staff directories surface conflicts before award. Historical preservation for retrospective audit.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03320"/>
            <a:ext cx="5577840" cy="24688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3703320"/>
            <a:ext cx="5577840" cy="45720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70332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Adverse 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5196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1">
                <a:solidFill>
                  <a:srgbClr val="C2410C"/>
                </a:solidFill>
                <a:latin typeface="Calibri"/>
              </a:rPr>
              <a:t>Daily news scan with AI-classified relevance and severity.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800600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Auto-raised risk register entries above configured thresholds. Plain-language context summary with source link and suggested next steps.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Embedded AI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21 AI-driven surfaces woven into every workflow — grounded, traceable, action-oriented.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Match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Application co-author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Real-time document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19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19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Submission readiness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Compliance pre-empt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Report co-author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39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20639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Donor-perspective pre-flight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Compliance to-do 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188720"/>
            <a:ext cx="365760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18872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DONOR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182880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18288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Grant brief from 2-line prompt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237744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37744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Grant import from PDF/DOCX/TXT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292608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9260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Median-NGO preview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3474719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474719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Burden critique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402336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02336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Portfolio insights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457200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5720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Cross-grant patterns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0" y="5120639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120639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Compliance explanation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60" y="566928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56692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Health narrative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1188720"/>
            <a:ext cx="365760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118872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REVIEWER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182880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18288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One-screen summary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237744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237744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Evidence extraction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292608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29260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Comparable signal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3474719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0" y="3474719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Decision-changers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0" y="402336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402336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Per-criterion rationale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457200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45720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Red-flag detection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5120639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0" y="5120639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Suggest-criteria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12480" y="5669280"/>
            <a:ext cx="3474720" cy="45720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0" y="56692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Audit-ready record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Compliance — Simplified for Both Sides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The platform's flagship: NGOs are supported, donors are confident.</a:t>
            </a:r>
          </a:p>
        </p:txBody>
      </p:sp>
      <p:pic>
        <p:nvPicPr>
          <p:cNvPr id="5" name="Picture 4" descr="08_compliance_both_s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8888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Mobile-First, Offline-First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The operating reality of Global South CSOs — not an afterthought.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029200" cy="5029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E4D6"/>
                </a:solidFill>
                <a:latin typeface="Calibri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46634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The primary device for most Global South NGO staff is a phone. Connectivity is intermittent. Bandwidth is limited. The platform treats this as a first-class scenario rather than a degraded mode.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4663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Field officers draft, capture evidence, and complete reports without a connection — the system syncs in the background when the network returns.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280160"/>
            <a:ext cx="2926080" cy="155448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4173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2410C"/>
                </a:solidFill>
                <a:latin typeface="Calibri"/>
              </a:rPr>
              <a:t>Progressive Web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78308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Installable on phone home screen · same login as desktop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280160"/>
            <a:ext cx="2926080" cy="155448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4173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2410C"/>
                </a:solidFill>
                <a:latin typeface="Calibri"/>
              </a:rPr>
              <a:t>Offline-first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78308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Draft applications, complete assessments, write reports without a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017520"/>
            <a:ext cx="2926080" cy="155448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31546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2410C"/>
                </a:solidFill>
                <a:latin typeface="Calibri"/>
              </a:rPr>
              <a:t>Continuous auto-save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52044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Every keystroke saved to local device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017520"/>
            <a:ext cx="2926080" cy="155448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31546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2410C"/>
                </a:solidFill>
                <a:latin typeface="Calibri"/>
              </a:rPr>
              <a:t>Background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52044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Queued uploads transmit automatically on reconnection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4754879"/>
            <a:ext cx="2926080" cy="155448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892039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2410C"/>
                </a:solidFill>
                <a:latin typeface="Calibri"/>
              </a:rPr>
              <a:t>Camera as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5257799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Photographs of consent forms, beneficiaries, before/after — vision-based extraction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4754879"/>
            <a:ext cx="2926080" cy="1554480"/>
          </a:xfrm>
          <a:prstGeom prst="roundRect">
            <a:avLst/>
          </a:prstGeom>
          <a:solidFill>
            <a:srgbClr val="FFE4D6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892039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2410C"/>
                </a:solidFill>
                <a:latin typeface="Calibri"/>
              </a:rPr>
              <a:t>Low-bandwidth optimised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5257799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Heavy AI work runs async; core flows work on slow 3G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No competitor combines Global South focus with deep AI integration.</a:t>
            </a:r>
          </a:p>
        </p:txBody>
      </p:sp>
      <p:pic>
        <p:nvPicPr>
          <p:cNvPr id="5" name="Picture 4" descr="04_competitive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881360" cy="72459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Most Competitors Are Donor-Centric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The NGO is the structurally underserved side of the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37178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63717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DONOR-CENTRIC GRANT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637178" cy="310896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31713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B3A5C"/>
                </a:solidFill>
                <a:latin typeface="Calibri"/>
              </a:rPr>
              <a:t>Optimised for the funder's workflow. NGOs see a submission portal — not a working partner.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B3A5C"/>
                </a:solidFill>
                <a:latin typeface="Calibri"/>
              </a:rPr>
              <a:t>• Fluxx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65176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Enterprise; deep donor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B3A5C"/>
                </a:solidFill>
                <a:latin typeface="Calibri"/>
              </a:rPr>
              <a:t>• Submittable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01752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Proven scale (25M apps)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B3A5C"/>
                </a:solidFill>
                <a:latin typeface="Calibri"/>
              </a:rPr>
              <a:t>• SmartSimple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8328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Configurable, 45+ languages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4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B3A5C"/>
                </a:solidFill>
                <a:latin typeface="Calibri"/>
              </a:rPr>
              <a:t>• Foundant GLM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74904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Donor-friendly, user-friendly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B3A5C"/>
                </a:solidFill>
                <a:latin typeface="Calibri"/>
              </a:rPr>
              <a:t>• Benevity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1480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Corporate CSR, $14B+ donations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B3A5C"/>
                </a:solidFill>
                <a:latin typeface="Calibri"/>
              </a:rPr>
              <a:t>• Bonterra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48056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Grantmaker product launched Feb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7258" y="1097280"/>
            <a:ext cx="3637178" cy="5029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7258" y="1097280"/>
            <a:ext cx="363717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NGO-DISCOVERY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7258" y="1645920"/>
            <a:ext cx="3637178" cy="310896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0138" y="1783080"/>
            <a:ext cx="331713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B3A5C"/>
                </a:solidFill>
                <a:latin typeface="Calibri"/>
              </a:rPr>
              <a:t>Tools that help NGOs find grants — but stop there. No application, review, reporting, or compliance.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0138" y="26517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C5F8A"/>
                </a:solidFill>
                <a:latin typeface="Calibri"/>
              </a:rPr>
              <a:t>• Instrumentl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1738" y="265176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450K+ funders, 31K+ RFPs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0138" y="3017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C5F8A"/>
                </a:solidFill>
                <a:latin typeface="Calibri"/>
              </a:rPr>
              <a:t>• OpenGrants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1738" y="301752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AI matching + writer 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0138" y="33832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C5F8A"/>
                </a:solidFill>
                <a:latin typeface="Calibri"/>
              </a:rPr>
              <a:t>• GrantHub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1738" y="338328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Affordable pipeline tracker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7316" y="1097280"/>
            <a:ext cx="3637178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7316" y="1097280"/>
            <a:ext cx="363717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TWO-SIDED / SPECIALIST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7316" y="1645920"/>
            <a:ext cx="3637178" cy="310896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0196" y="1783080"/>
            <a:ext cx="331713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B3A5C"/>
                </a:solidFill>
                <a:latin typeface="Calibri"/>
              </a:rPr>
              <a:t>Rare. None combine marketplace, trust profile, embedded AI, and compliance support.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0196" y="26517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2410C"/>
                </a:solidFill>
                <a:latin typeface="Calibri"/>
              </a:rPr>
              <a:t>• GlobalGiving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1796" y="265176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Marketplace, 175 countries — no GM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0196" y="3017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2410C"/>
                </a:solidFill>
                <a:latin typeface="Calibri"/>
              </a:rPr>
              <a:t>• UN Partner Portal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1796" y="301752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UN ↔ CSO only, no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0196" y="33832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2410C"/>
                </a:solidFill>
                <a:latin typeface="Calibri"/>
              </a:rPr>
              <a:t>• TechSoup STEP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1796" y="338328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Assessment only, no GM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0196" y="374904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2410C"/>
                </a:solidFill>
                <a:latin typeface="Calibri"/>
              </a:rPr>
              <a:t>• Xapien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51796" y="3749040"/>
            <a:ext cx="19455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Due diligence specialist, no GM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37760"/>
            <a:ext cx="11277295" cy="150876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102352"/>
            <a:ext cx="109115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KUJA — THE ONLY DUAL-SIDED PLATFORM WITH NGO-FIRST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577840"/>
            <a:ext cx="1091153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Marketplace · Two-pillar Organisation Trust Profile · Embedded AI Intelligence working partner for NGOs AND donors · Compliance simplified for both sides · Mobile + offline · ERP. No competitor combines these — most never tried to serve the NGO at all.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Core Feature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Y = fully supported · P = partial · — = not available. Kuja column highlighted.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1146016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952461"/>
                <a:gridCol w="952461"/>
                <a:gridCol w="952461"/>
                <a:gridCol w="952461"/>
                <a:gridCol w="952461"/>
                <a:gridCol w="952461"/>
                <a:gridCol w="952461"/>
                <a:gridCol w="952461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54864" marR="54864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Kuja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Fluxx</a:t>
                      </a:r>
                    </a:p>
                  </a:txBody>
                  <a:tcPr marL="54864" marR="54864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Submit-
table</a:t>
                      </a:r>
                    </a:p>
                  </a:txBody>
                  <a:tcPr marL="54864" marR="54864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Smart-
Simple</a:t>
                      </a:r>
                    </a:p>
                  </a:txBody>
                  <a:tcPr marL="54864" marR="54864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Bonterra</a:t>
                      </a:r>
                    </a:p>
                  </a:txBody>
                  <a:tcPr marL="54864" marR="54864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UN Partner
Portal</a:t>
                      </a:r>
                    </a:p>
                  </a:txBody>
                  <a:tcPr marL="54864" marR="54864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Global-
Giving</a:t>
                      </a:r>
                    </a:p>
                  </a:txBody>
                  <a:tcPr marL="54864" marR="54864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Instrumentl</a:t>
                      </a:r>
                    </a:p>
                  </a:txBody>
                  <a:tcPr marL="54864" marR="54864" marT="27432" marB="27432" anchor="ctr">
                    <a:solidFill>
                      <a:srgbClr val="1B3A5C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Embedded AI Intelligence (action-oriented)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Two-Pillar Organisation Trust 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Capacity Passporting (one assessment, many frameworks)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Custom Donor Framework Builder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AI Application Co-Author with Provenance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Real-Time Document Scoring on Upload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Pre-Submission Readiness + Compliance Pre-Empt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Reviewer One-Screen Summary + Evidence Extraction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Sanctions / AML / CTF Screening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Govt. Registry &amp; Standing Verification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Beneficial Ownership + Adverse Media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AI Compliance Calendar + Reminders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AI Report Drafting + Donor Pre-Flight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4-Pillar Health + Slips Forecast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Two-Sided Marketplace + Match Scoring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Mobile-First PWA + Offline-First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Six-Language UI with Role-Aware Tone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</a:tr>
              <a:tr h="2768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Audit Chain + 2FA + GDPR-Erasure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46520"/>
            <a:ext cx="1146017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C2410C"/>
                </a:solidFill>
                <a:latin typeface="Calibri"/>
              </a:rPr>
              <a:t>Kuja delivers every feature fully. Closest competitor (Fluxx / SmartSimple) covers fewer than half — and none on the differentiators specific to Global South NGOs.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Feature Coverage vs.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40/40 fully supported · 17 differentiators no competitor offers.</a:t>
            </a:r>
          </a:p>
        </p:txBody>
      </p:sp>
      <p:pic>
        <p:nvPicPr>
          <p:cNvPr id="5" name="Picture 4" descr="05_feature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6166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Competitive Advantages — Category-Defining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Three commitments no competitor matches.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73736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097280" cy="173736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2801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410C"/>
                </a:solidFill>
                <a:latin typeface="Calibri"/>
              </a:rPr>
              <a:t>Embedded AI Intelligence, Not a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37360"/>
            <a:ext cx="9784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AI is woven through every workflow as a working partner. Grounded in user data, traceable to sources, action-oriented (an editable starting point), and falls back gracefully when the AI service is unavailable. Competitors offering AI today provide chatbots or analytics dashboards — not a working AI partner.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11247120" cy="173736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971800"/>
            <a:ext cx="1097280" cy="173736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10972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1546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410C"/>
                </a:solidFill>
                <a:latin typeface="Calibri"/>
              </a:rPr>
              <a:t>Two-Pillar Organisation Trust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611880"/>
            <a:ext cx="9784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Every NGO presents Capacity + Due Diligence side by side, both passported across applications. No competitor offers both pillars together. No competitor offers passporting on the due-diligence side.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11247120" cy="173736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1097280" cy="173736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0292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410C"/>
                </a:solidFill>
                <a:latin typeface="Calibri"/>
              </a:rPr>
              <a:t>Compliance Simplified for Both Sides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486400"/>
            <a:ext cx="9784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NGOs get an AI compliance working partner (extract obligations → calendar → reminders → drafting → scoring → pre-flight → revision guidance). Donors get pre-assessed scored reports, 4-pillar health, trajectory forecasting, slips-in-N-days warnings, and a risk register. The donor is never surprised; the NGO is never blocked.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Competitive Advantages — Structural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Seven additional structural strengths.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43200" cy="24688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48640" cy="5486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8016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  <a:latin typeface="Calibri"/>
              </a:rPr>
              <a:t>Only End-to-End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Marketplace, trust profile, AI applications, dual-scoring review, AI-supported reporting + health, ERP — single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097280"/>
            <a:ext cx="2743200" cy="24688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234440"/>
            <a:ext cx="548640" cy="5486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2344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28016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  <a:latin typeface="Calibri"/>
              </a:rPr>
              <a:t>Mobile-First, Offline-First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116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Progressive web app · auto-save · background sync · vision-based evidence extraction.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97280"/>
            <a:ext cx="2743200" cy="24688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1234440"/>
            <a:ext cx="548640" cy="5486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344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28016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  <a:latin typeface="Calibri"/>
              </a:rPr>
              <a:t>Built By and For the Global South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116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Six languages at parity with role-aware tone · Adeso's 30+ years of humanitarian experience.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097280"/>
            <a:ext cx="2743200" cy="24688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1234440"/>
            <a:ext cx="548640" cy="5486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2344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128016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  <a:latin typeface="Calibri"/>
              </a:rPr>
              <a:t>Dual-Sided Network Effects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0116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CSOs gain visibility, AI working partner, calendar of obligations. Donors gain vetted pipeline + portfolio health.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49040"/>
            <a:ext cx="2743200" cy="24688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3886200"/>
            <a:ext cx="548640" cy="5486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862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93192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  <a:latin typeface="Calibri"/>
              </a:rPr>
              <a:t>Auditable by Construction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6634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Provenance on every AI claim · tamper-evident hash-chained audit log · donor override transparency.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749040"/>
            <a:ext cx="2743200" cy="24688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20440" y="3886200"/>
            <a:ext cx="548640" cy="5486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38862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93192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  <a:latin typeface="Calibri"/>
              </a:rPr>
              <a:t>Seamless ERP Conversion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6634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KujaBuild (Odoo 17) onboards seamlessly because most data is already captured in earlier stages.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749040"/>
            <a:ext cx="2743200" cy="24688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3886200"/>
            <a:ext cx="548640" cy="5486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8862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93192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  <a:latin typeface="Calibri"/>
              </a:rPr>
              <a:t>Credibility of Adeso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6634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Somali-founded · NEAR Network co-founder · three decades of African humanitarian impact.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Target Market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Five segments · phased geographic expansion · dual-sided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88720"/>
            <a:ext cx="10515600" cy="8686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88720"/>
            <a:ext cx="164592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234440"/>
            <a:ext cx="4114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African CSOs / NGOs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23444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3A5C"/>
                </a:solidFill>
                <a:latin typeface="Calibri"/>
              </a:rPr>
              <a:t>100,000+ registered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23444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Free marketplace tier + paid assessment + ERP option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10515600" cy="8686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148840"/>
            <a:ext cx="164592" cy="8686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4114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Global South CSOs (LatAm, Asia)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19456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C5F8A"/>
                </a:solidFill>
                <a:latin typeface="Calibri"/>
              </a:rPr>
              <a:t>500,000+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19456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Phase 2–3 geographic expansion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08960"/>
            <a:ext cx="10515600" cy="8686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108960"/>
            <a:ext cx="164592" cy="868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154680"/>
            <a:ext cx="4114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Bilateral / multilateral donors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15468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C2410C"/>
                </a:solidFill>
                <a:latin typeface="Calibri"/>
              </a:rPr>
              <a:t>50+ major institutions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15468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Premium end-to-end solution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069080"/>
            <a:ext cx="10515600" cy="8686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069080"/>
            <a:ext cx="164592" cy="868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14800"/>
            <a:ext cx="4114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Private foundations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11480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C2410C"/>
                </a:solidFill>
                <a:latin typeface="Calibri"/>
              </a:rPr>
              <a:t>200,000+ globally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11480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Application portal + matching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029200"/>
            <a:ext cx="10515600" cy="8686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029200"/>
            <a:ext cx="164592" cy="8686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074920"/>
            <a:ext cx="4114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INGOs seeking local partners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07492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C5F8A"/>
                </a:solidFill>
                <a:latin typeface="Calibri"/>
              </a:rPr>
              <a:t>1,000+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07492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Marketplace + assessment integration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FFE4D6"/>
                </a:solidFill>
                <a:latin typeface="Calibri"/>
              </a:rPr>
              <a:t>v5.0 launch wave shipped Q2 2026 · momentum continues through 2028.</a:t>
            </a:r>
          </a:p>
        </p:txBody>
      </p:sp>
      <p:pic>
        <p:nvPicPr>
          <p:cNvPr id="5" name="Picture 4" descr="06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692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Kuja  ·  AI-Powered Grant Management for the Global South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75120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Market Analysis  ·  v5.0  ·  May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Why Adeso ·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2801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FFE4D6"/>
                </a:solidFill>
                <a:latin typeface="Calibri"/>
              </a:rPr>
              <a:t>Right team · right moment · right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36576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3657600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WHY ADESO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Somali-founded African social enterprise. 30+ years of humanitarian impact. Co-founder of the NEAR Network — the largest network of national and local organisations in the Global South. Built by the communities Kuja serves.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749039"/>
            <a:ext cx="36576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3749039"/>
            <a:ext cx="3657600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3749039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38912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USAID dissolution in 2025 ($36B cut, 83% of programmes cancelled) has created urgent demand for diversified funding infrastructure and direct donor-to-NGO connections. 92% of nonprofits already use AI but 76% lack a strategy.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749039"/>
            <a:ext cx="36576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3749039"/>
            <a:ext cx="3657600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749039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WHY KUJA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38912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The only platform combining marketplace, two-pillar Trust Profile, Embedded AI Intelligence, compliance simplified for both sides, mobile-first delivery, and ERP operations — purpose-built for the Global South.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FFE4D6"/>
                </a:solidFill>
                <a:latin typeface="Calibri"/>
              </a:rPr>
              <a:t>Findable. Fundable. Trusted.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