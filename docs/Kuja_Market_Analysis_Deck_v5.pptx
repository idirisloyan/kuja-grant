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91840"/>
            <a:ext cx="12191695" cy="54864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554480"/>
            <a:ext cx="12191695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0" b="1" i="0">
                <a:solidFill>
                  <a:srgbClr val="FFFFFF"/>
                </a:solidFill>
                <a:latin typeface="Calibri"/>
              </a:rPr>
              <a:t>Kuja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520440"/>
            <a:ext cx="121916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0" i="0">
                <a:solidFill>
                  <a:srgbClr val="FFE4D6"/>
                </a:solidFill>
                <a:latin typeface="Calibri"/>
              </a:rPr>
              <a:t>An AI-Powered Grant Management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160520"/>
            <a:ext cx="1219169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 i="1">
                <a:solidFill>
                  <a:srgbClr val="FFFFFF"/>
                </a:solidFill>
                <a:latin typeface="Calibri"/>
              </a:rPr>
              <a:t>Built for the Global South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5212080"/>
            <a:ext cx="1219169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MARKET ANALYSIS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5760720"/>
            <a:ext cx="121916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1">
                <a:solidFill>
                  <a:srgbClr val="FFE4D6"/>
                </a:solidFill>
                <a:latin typeface="Calibri"/>
              </a:rPr>
              <a:t>v5.0  ·  May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6400800"/>
            <a:ext cx="121916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1">
                <a:solidFill>
                  <a:srgbClr val="FFFFFF"/>
                </a:solidFill>
                <a:latin typeface="Calibri"/>
              </a:rPr>
              <a:t>INTERNAL · FOR TEAM AND PARTNERS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47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Where We Started — The Original Vision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1">
                <a:solidFill>
                  <a:srgbClr val="FFE4D6"/>
                </a:solidFill>
                <a:latin typeface="Calibri"/>
              </a:rPr>
              <a:t>Kuja launched as a two-product play backed by a back-office service, with an aggressive sell-to-NGOs-and-donors GTM.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097280"/>
            <a:ext cx="3657600" cy="3291840"/>
          </a:xfrm>
          <a:prstGeom prst="roundRect">
            <a:avLst/>
          </a:prstGeom>
          <a:solidFill>
            <a:srgbClr val="F2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097280"/>
            <a:ext cx="3657600" cy="502920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143000"/>
            <a:ext cx="32918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KujaLink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691640"/>
            <a:ext cx="3291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1">
                <a:solidFill>
                  <a:srgbClr val="64748B"/>
                </a:solidFill>
                <a:latin typeface="Calibri"/>
              </a:rPr>
              <a:t>The Marketplace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057400"/>
            <a:ext cx="32004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1F2937"/>
                </a:solidFill>
                <a:latin typeface="Calibri"/>
              </a:rPr>
              <a:t>• Two-sided NGO ↔ donor discovery platform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1F2937"/>
                </a:solidFill>
                <a:latin typeface="Calibri"/>
              </a:rPr>
              <a:t>• Capacity profiles, opportunity matching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1F2937"/>
                </a:solidFill>
                <a:latin typeface="Calibri"/>
              </a:rPr>
              <a:t>• Originally framed as the demand-side wedge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097280"/>
            <a:ext cx="3657600" cy="3291840"/>
          </a:xfrm>
          <a:prstGeom prst="roundRect">
            <a:avLst/>
          </a:prstGeom>
          <a:solidFill>
            <a:srgbClr val="F2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120" y="1097280"/>
            <a:ext cx="3657600" cy="50292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1143000"/>
            <a:ext cx="32918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Kuja ERP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1691640"/>
            <a:ext cx="3291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1">
                <a:solidFill>
                  <a:srgbClr val="64748B"/>
                </a:solidFill>
                <a:latin typeface="Calibri"/>
              </a:rPr>
              <a:t>Built on Odoo 17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2057400"/>
            <a:ext cx="32004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1F2937"/>
                </a:solidFill>
                <a:latin typeface="Calibri"/>
              </a:rPr>
              <a:t>• Full back-office stack: HR · Finance · Ops · Procurement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1F2937"/>
                </a:solidFill>
                <a:latin typeface="Calibri"/>
              </a:rPr>
              <a:t>• Customised for NGOs with grant-aware budgeting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1F2937"/>
                </a:solidFill>
                <a:latin typeface="Calibri"/>
              </a:rPr>
              <a:t>• Intended as the recurring-revenue engine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21040" y="1097280"/>
            <a:ext cx="3657600" cy="3291840"/>
          </a:xfrm>
          <a:prstGeom prst="roundRect">
            <a:avLst/>
          </a:prstGeom>
          <a:solidFill>
            <a:srgbClr val="F2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21040" y="1097280"/>
            <a:ext cx="3657600" cy="502920"/>
          </a:xfrm>
          <a:prstGeom prst="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03920" y="1143000"/>
            <a:ext cx="32918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Back-Office Services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1691640"/>
            <a:ext cx="3291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1">
                <a:solidFill>
                  <a:srgbClr val="64748B"/>
                </a:solidFill>
                <a:latin typeface="Calibri"/>
              </a:rPr>
              <a:t>Managed Service Layer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49640" y="2057400"/>
            <a:ext cx="32004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1F2937"/>
                </a:solidFill>
                <a:latin typeface="Calibri"/>
              </a:rPr>
              <a:t>• Consultancy for NGOs without internal capacity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1F2937"/>
                </a:solidFill>
                <a:latin typeface="Calibri"/>
              </a:rPr>
              <a:t>• HR, finance, operations run by Adeso team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1F2937"/>
                </a:solidFill>
                <a:latin typeface="Calibri"/>
              </a:rPr>
              <a:t>• Wraparound for orgs adopting Kuja ERP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4617720"/>
            <a:ext cx="11247120" cy="731520"/>
          </a:xfrm>
          <a:prstGeom prst="round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4663440"/>
            <a:ext cx="27432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E4D6"/>
                </a:solidFill>
                <a:latin typeface="Calibri"/>
              </a:rPr>
              <a:t>ORIGINAL GTM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0" y="4663440"/>
            <a:ext cx="84124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Sell aggressively to NGOs AND donors  ·  monetise marketplace, ERP licences, and managed services in parallel.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5532120"/>
            <a:ext cx="11247120" cy="960120"/>
          </a:xfrm>
          <a:prstGeom prst="roundRect">
            <a:avLst/>
          </a:prstGeom>
          <a:solidFill>
            <a:srgbClr val="FFE4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562356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C2410C"/>
                </a:solidFill>
                <a:latin typeface="Calibri"/>
              </a:rPr>
              <a:t>STATUS TODAY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916168"/>
            <a:ext cx="108813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KujaLink shipped and is live in production. The ERP build is still in development after four years — over USD 3M invested. Back-office services remain a small, bespoke engagement.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6675120"/>
            <a:ext cx="73152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1">
                <a:solidFill>
                  <a:srgbClr val="FFFFFF"/>
                </a:solidFill>
                <a:latin typeface="Calibri"/>
              </a:rPr>
              <a:t>Kuja  ·  AI-Powered Grant Management for the Global South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675120"/>
            <a:ext cx="71323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1">
                <a:solidFill>
                  <a:srgbClr val="FFFFFF"/>
                </a:solidFill>
                <a:latin typeface="Calibri"/>
              </a:rPr>
              <a:t>Market Analysis  ·  v5.0  ·  May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47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Investment to Date — Where the USD 3M+ Went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1">
                <a:solidFill>
                  <a:srgbClr val="FFE4D6"/>
                </a:solidFill>
                <a:latin typeface="Calibri"/>
              </a:rPr>
              <a:t>Four years of spend on Kuja ERP, concentrated in consultants and staff.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960120"/>
            <a:ext cx="11247120" cy="777240"/>
          </a:xfrm>
          <a:prstGeom prst="round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005840"/>
            <a:ext cx="54864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USD 4.23M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1005840"/>
            <a:ext cx="73152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i="0">
                <a:solidFill>
                  <a:srgbClr val="FFE4D6"/>
                </a:solidFill>
                <a:latin typeface="Calibri"/>
              </a:rPr>
              <a:t>total invested in Kuja ERP, 2022 – Mar 2026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965960"/>
            <a:ext cx="5486400" cy="4297680"/>
          </a:xfrm>
          <a:prstGeom prst="roundRect">
            <a:avLst/>
          </a:prstGeom>
          <a:solidFill>
            <a:srgbClr val="F2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5029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1B3A5C"/>
                </a:solidFill>
                <a:latin typeface="Calibri"/>
              </a:rPr>
              <a:t>BY YEAR (USD)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560320"/>
            <a:ext cx="100584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1F2937"/>
                </a:solidFill>
                <a:latin typeface="Calibri"/>
              </a:rPr>
              <a:t>2022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737360" y="2560320"/>
            <a:ext cx="885245" cy="59436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14045" y="2560320"/>
            <a:ext cx="137160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1F2937"/>
                </a:solidFill>
                <a:latin typeface="Calibri"/>
              </a:rPr>
              <a:t>$334K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291840"/>
            <a:ext cx="100584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1F2937"/>
                </a:solidFill>
                <a:latin typeface="Calibri"/>
              </a:rPr>
              <a:t>2023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737360" y="3291840"/>
            <a:ext cx="3657600" cy="594360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0" y="3291840"/>
            <a:ext cx="137160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1F2937"/>
                </a:solidFill>
                <a:latin typeface="Calibri"/>
              </a:rPr>
              <a:t>$1.38M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4023360"/>
            <a:ext cx="100584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1F2937"/>
                </a:solidFill>
                <a:latin typeface="Calibri"/>
              </a:rPr>
              <a:t>2024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737360" y="4023360"/>
            <a:ext cx="3101008" cy="594360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29808" y="4023360"/>
            <a:ext cx="137160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1F2937"/>
                </a:solidFill>
                <a:latin typeface="Calibri"/>
              </a:rPr>
              <a:t>$1.17M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4754880"/>
            <a:ext cx="100584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1F2937"/>
                </a:solidFill>
                <a:latin typeface="Calibri"/>
              </a:rPr>
              <a:t>2025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737360" y="4754880"/>
            <a:ext cx="3101008" cy="594360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29808" y="4754880"/>
            <a:ext cx="137160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1F2937"/>
                </a:solidFill>
                <a:latin typeface="Calibri"/>
              </a:rPr>
              <a:t>$1.17M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5486400"/>
            <a:ext cx="100584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1F2937"/>
                </a:solidFill>
                <a:latin typeface="Calibri"/>
              </a:rPr>
              <a:t>2026 YTD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737360" y="5486400"/>
            <a:ext cx="439972" cy="594360"/>
          </a:xfrm>
          <a:prstGeom prst="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268772" y="5486400"/>
            <a:ext cx="137160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1F2937"/>
                </a:solidFill>
                <a:latin typeface="Calibri"/>
              </a:rPr>
              <a:t>$166K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45352" y="1965960"/>
            <a:ext cx="5486400" cy="4297680"/>
          </a:xfrm>
          <a:prstGeom prst="roundRect">
            <a:avLst/>
          </a:prstGeom>
          <a:solidFill>
            <a:srgbClr val="F2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73952" y="2103120"/>
            <a:ext cx="5029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1B3A5C"/>
                </a:solidFill>
                <a:latin typeface="Calibri"/>
              </a:rPr>
              <a:t>BY COST DRIVER (USD)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28232" y="2560320"/>
            <a:ext cx="16916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1F2937"/>
                </a:solidFill>
                <a:latin typeface="Calibri"/>
              </a:rPr>
              <a:t>Consultants &amp; Pro Services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165592" y="2560320"/>
            <a:ext cx="3017520" cy="457200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256264" y="2560320"/>
            <a:ext cx="10972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1F2937"/>
                </a:solidFill>
                <a:latin typeface="Calibri"/>
              </a:rPr>
              <a:t>$1.91M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28232" y="3136392"/>
            <a:ext cx="16916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1F2937"/>
                </a:solidFill>
                <a:latin typeface="Calibri"/>
              </a:rPr>
              <a:t>Staff Salaries &amp; Benefits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165592" y="3136392"/>
            <a:ext cx="2701549" cy="4572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940293" y="3136392"/>
            <a:ext cx="10972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1F2937"/>
                </a:solidFill>
                <a:latin typeface="Calibri"/>
              </a:rPr>
              <a:t>$1.71M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28232" y="3712464"/>
            <a:ext cx="16916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1F2937"/>
                </a:solidFill>
                <a:latin typeface="Calibri"/>
              </a:rPr>
              <a:t>Indirect Cost Allocations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165592" y="3712464"/>
            <a:ext cx="745690" cy="457200"/>
          </a:xfrm>
          <a:prstGeom prst="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984434" y="3712464"/>
            <a:ext cx="10972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1F2937"/>
                </a:solidFill>
                <a:latin typeface="Calibri"/>
              </a:rPr>
              <a:t>$472K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28232" y="4288536"/>
            <a:ext cx="16916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1F2937"/>
                </a:solidFill>
                <a:latin typeface="Calibri"/>
              </a:rPr>
              <a:t>Programmatic Delivery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165592" y="4288536"/>
            <a:ext cx="97950" cy="45720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336694" y="4288536"/>
            <a:ext cx="10972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1F2937"/>
                </a:solidFill>
                <a:latin typeface="Calibri"/>
              </a:rPr>
              <a:t>$62K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28232" y="4864608"/>
            <a:ext cx="16916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1F2937"/>
                </a:solidFill>
                <a:latin typeface="Calibri"/>
              </a:rPr>
              <a:t>Travel &amp; Accommodation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165592" y="4864608"/>
            <a:ext cx="90051" cy="45720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328795" y="4864608"/>
            <a:ext cx="10972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1F2937"/>
                </a:solidFill>
                <a:latin typeface="Calibri"/>
              </a:rPr>
              <a:t>$57K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28232" y="5440680"/>
            <a:ext cx="16916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1F2937"/>
                </a:solidFill>
                <a:latin typeface="Calibri"/>
              </a:rPr>
              <a:t>Ops &amp; Admin Support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165592" y="5440680"/>
            <a:ext cx="37916" cy="45720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276660" y="5440680"/>
            <a:ext cx="10972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1F2937"/>
                </a:solidFill>
                <a:latin typeface="Calibri"/>
              </a:rPr>
              <a:t>$24K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7200" y="635508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1">
                <a:solidFill>
                  <a:srgbClr val="64748B"/>
                </a:solidFill>
                <a:latin typeface="Calibri"/>
              </a:rPr>
              <a:t>≈85% of spend went to consultants and staff. The product has yet to reach commercial release.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57200" y="6675120"/>
            <a:ext cx="73152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1">
                <a:solidFill>
                  <a:srgbClr val="FFFFFF"/>
                </a:solidFill>
                <a:latin typeface="Calibri"/>
              </a:rPr>
              <a:t>Kuja  ·  AI-Powered Grant Management for the Global South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0" y="6675120"/>
            <a:ext cx="71323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1">
                <a:solidFill>
                  <a:srgbClr val="FFFFFF"/>
                </a:solidFill>
                <a:latin typeface="Calibri"/>
              </a:rPr>
              <a:t>Market Analysis  ·  v5.0  ·  May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47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Market Reality — Why Selling ERP to NGOs Is Hard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1">
                <a:solidFill>
                  <a:srgbClr val="FFE4D6"/>
                </a:solidFill>
                <a:latin typeface="Calibri"/>
              </a:rPr>
              <a:t>A saturated market of nonprofit accounting tools, sold at deep discount, with high switching costs.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051560"/>
            <a:ext cx="3657600" cy="5074920"/>
          </a:xfrm>
          <a:prstGeom prst="roundRect">
            <a:avLst/>
          </a:prstGeom>
          <a:solidFill>
            <a:srgbClr val="F2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3657600" cy="502920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097280"/>
            <a:ext cx="32918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THE CROWDED MARKET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645920"/>
            <a:ext cx="32918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1">
                <a:solidFill>
                  <a:srgbClr val="64748B"/>
                </a:solidFill>
                <a:latin typeface="Calibri"/>
              </a:rPr>
              <a:t>NGOs already have many strong, NGO-tuned options: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320040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00" b="1">
                <a:solidFill>
                  <a:srgbClr val="C2410C"/>
                </a:solidFill>
                <a:latin typeface="Calibri"/>
              </a:rPr>
              <a:t>• QuickBooks Online</a:t>
            </a:r>
            <a:r>
              <a:rPr sz="1000">
                <a:solidFill>
                  <a:srgbClr val="1F2937"/>
                </a:solidFill>
                <a:latin typeface="Calibri"/>
              </a:rPr>
              <a:t> Class tracking + fund accounting; free/discounted via TechSoup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00" b="1">
                <a:solidFill>
                  <a:srgbClr val="C2410C"/>
                </a:solidFill>
                <a:latin typeface="Calibri"/>
              </a:rPr>
              <a:t>• Aplos</a:t>
            </a:r>
            <a:r>
              <a:rPr sz="1000">
                <a:solidFill>
                  <a:srgbClr val="1F2937"/>
                </a:solidFill>
                <a:latin typeface="Calibri"/>
              </a:rPr>
              <a:t> Built for nonprofits; ~USD 60–190/mo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00" b="1">
                <a:solidFill>
                  <a:srgbClr val="C2410C"/>
                </a:solidFill>
                <a:latin typeface="Calibri"/>
              </a:rPr>
              <a:t>• Sage Intacct for NPOs</a:t>
            </a:r>
            <a:r>
              <a:rPr sz="1000">
                <a:solidFill>
                  <a:srgbClr val="1F2937"/>
                </a:solidFill>
                <a:latin typeface="Calibri"/>
              </a:rPr>
              <a:t> High-end, dimension-based fund accounting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00" b="1">
                <a:solidFill>
                  <a:srgbClr val="C2410C"/>
                </a:solidFill>
                <a:latin typeface="Calibri"/>
              </a:rPr>
              <a:t>• Blackbaud Financial Edge NXT</a:t>
            </a:r>
            <a:r>
              <a:rPr sz="1000">
                <a:solidFill>
                  <a:srgbClr val="1F2937"/>
                </a:solidFill>
                <a:latin typeface="Calibri"/>
              </a:rPr>
              <a:t> Long-standing nonprofit ERP standard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00" b="1">
                <a:solidFill>
                  <a:srgbClr val="C2410C"/>
                </a:solidFill>
                <a:latin typeface="Calibri"/>
              </a:rPr>
              <a:t>• MIP Fund Accounting</a:t>
            </a:r>
            <a:r>
              <a:rPr sz="1000">
                <a:solidFill>
                  <a:srgbClr val="1F2937"/>
                </a:solidFill>
                <a:latin typeface="Calibri"/>
              </a:rPr>
              <a:t> Community Brands; strong in mid-size INGOs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00" b="1">
                <a:solidFill>
                  <a:srgbClr val="C2410C"/>
                </a:solidFill>
                <a:latin typeface="Calibri"/>
              </a:rPr>
              <a:t>• NetSuite for Nonprofits</a:t>
            </a:r>
            <a:r>
              <a:rPr sz="1000">
                <a:solidFill>
                  <a:srgbClr val="1F2937"/>
                </a:solidFill>
                <a:latin typeface="Calibri"/>
              </a:rPr>
              <a:t> Oracle SuiteSuccess SKU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00" b="1">
                <a:solidFill>
                  <a:srgbClr val="C2410C"/>
                </a:solidFill>
                <a:latin typeface="Calibri"/>
              </a:rPr>
              <a:t>• Xero · Zoho Books · Wave · Odoo Community</a:t>
            </a:r>
            <a:r>
              <a:rPr sz="1000">
                <a:solidFill>
                  <a:srgbClr val="1F2937"/>
                </a:solidFill>
                <a:latin typeface="Calibri"/>
              </a:rPr>
              <a:t> Low-cost / free SMB tier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051560"/>
            <a:ext cx="3657600" cy="5074920"/>
          </a:xfrm>
          <a:prstGeom prst="roundRect">
            <a:avLst/>
          </a:prstGeom>
          <a:solidFill>
            <a:srgbClr val="F2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120" y="1051560"/>
            <a:ext cx="3657600" cy="50292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1097280"/>
            <a:ext cx="32918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WHY NGOs WON'T SWITCH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1645920"/>
            <a:ext cx="32918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1">
                <a:solidFill>
                  <a:srgbClr val="64748B"/>
                </a:solidFill>
                <a:latin typeface="Calibri"/>
              </a:rPr>
              <a:t>Even when a better option exists, the math rarely works: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2103120"/>
            <a:ext cx="320040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00" b="1">
                <a:solidFill>
                  <a:srgbClr val="1B3A5C"/>
                </a:solidFill>
                <a:latin typeface="Calibri"/>
              </a:rPr>
              <a:t>• Already on something</a:t>
            </a:r>
            <a:r>
              <a:rPr sz="1000">
                <a:solidFill>
                  <a:srgbClr val="1F2937"/>
                </a:solidFill>
                <a:latin typeface="Calibri"/>
              </a:rPr>
              <a:t> Migration cost ≫ marginal feature gain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00" b="1">
                <a:solidFill>
                  <a:srgbClr val="1B3A5C"/>
                </a:solidFill>
                <a:latin typeface="Calibri"/>
              </a:rPr>
              <a:t>• Indirect-cost caps</a:t>
            </a:r>
            <a:r>
              <a:rPr sz="1000">
                <a:solidFill>
                  <a:srgbClr val="1F2937"/>
                </a:solidFill>
                <a:latin typeface="Calibri"/>
              </a:rPr>
              <a:t> Donors cap overheads at 7–15%; software competes with salaries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00" b="1">
                <a:solidFill>
                  <a:srgbClr val="1B3A5C"/>
                </a:solidFill>
                <a:latin typeface="Calibri"/>
              </a:rPr>
              <a:t>• Donor reporting</a:t>
            </a:r>
            <a:r>
              <a:rPr sz="1000">
                <a:solidFill>
                  <a:srgbClr val="1F2937"/>
                </a:solidFill>
                <a:latin typeface="Calibri"/>
              </a:rPr>
              <a:t> Funders demand familiar exports — Blackbaud, Sage, QB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00" b="1">
                <a:solidFill>
                  <a:srgbClr val="1B3A5C"/>
                </a:solidFill>
                <a:latin typeface="Calibri"/>
              </a:rPr>
              <a:t>• Country-by-country complexity</a:t>
            </a:r>
            <a:r>
              <a:rPr sz="1000">
                <a:solidFill>
                  <a:srgbClr val="1F2937"/>
                </a:solidFill>
                <a:latin typeface="Calibri"/>
              </a:rPr>
              <a:t> Local tax, payroll, statutory reporting — hard to centralise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00" b="1">
                <a:solidFill>
                  <a:srgbClr val="1B3A5C"/>
                </a:solidFill>
                <a:latin typeface="Calibri"/>
              </a:rPr>
              <a:t>• Capacity to operate</a:t>
            </a:r>
            <a:r>
              <a:rPr sz="1000">
                <a:solidFill>
                  <a:srgbClr val="1F2937"/>
                </a:solidFill>
                <a:latin typeface="Calibri"/>
              </a:rPr>
              <a:t> Many lack the finance team to run any ERP at all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21040" y="1051560"/>
            <a:ext cx="3657600" cy="5074920"/>
          </a:xfrm>
          <a:prstGeom prst="roundRect">
            <a:avLst/>
          </a:prstGeom>
          <a:solidFill>
            <a:srgbClr val="F2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21040" y="1051560"/>
            <a:ext cx="3657600" cy="502920"/>
          </a:xfrm>
          <a:prstGeom prst="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03920" y="1097280"/>
            <a:ext cx="32918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THE PRICING SQUEEZE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1645920"/>
            <a:ext cx="32918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1">
                <a:solidFill>
                  <a:srgbClr val="64748B"/>
                </a:solidFill>
                <a:latin typeface="Calibri"/>
              </a:rPr>
              <a:t>Incumbents have neutralised price as a wedge: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49640" y="2103120"/>
            <a:ext cx="320040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00" b="1">
                <a:solidFill>
                  <a:srgbClr val="2C5F8A"/>
                </a:solidFill>
                <a:latin typeface="Calibri"/>
              </a:rPr>
              <a:t>• TechSoup discounts</a:t>
            </a:r>
            <a:r>
              <a:rPr sz="1000">
                <a:solidFill>
                  <a:srgbClr val="1F2937"/>
                </a:solidFill>
                <a:latin typeface="Calibri"/>
              </a:rPr>
              <a:t> 60–90% off list for QB, Sage, Microsoft, Blackbaud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00" b="1">
                <a:solidFill>
                  <a:srgbClr val="2C5F8A"/>
                </a:solidFill>
                <a:latin typeface="Calibri"/>
              </a:rPr>
              <a:t>• Google for Nonprofits</a:t>
            </a:r>
            <a:r>
              <a:rPr sz="1000">
                <a:solidFill>
                  <a:srgbClr val="1F2937"/>
                </a:solidFill>
                <a:latin typeface="Calibri"/>
              </a:rPr>
              <a:t> Free workspace + Workspace Marketplace add-ons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00" b="1">
                <a:solidFill>
                  <a:srgbClr val="2C5F8A"/>
                </a:solidFill>
                <a:latin typeface="Calibri"/>
              </a:rPr>
              <a:t>• Microsoft for Nonprofits</a:t>
            </a:r>
            <a:r>
              <a:rPr sz="1000">
                <a:solidFill>
                  <a:srgbClr val="1F2937"/>
                </a:solidFill>
                <a:latin typeface="Calibri"/>
              </a:rPr>
              <a:t> Free / steeply discounted M365 + Dynamics 365 grants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00" b="1">
                <a:solidFill>
                  <a:srgbClr val="2C5F8A"/>
                </a:solidFill>
                <a:latin typeface="Calibri"/>
              </a:rPr>
              <a:t>• Free tier ERPs</a:t>
            </a:r>
            <a:r>
              <a:rPr sz="1000">
                <a:solidFill>
                  <a:srgbClr val="1F2937"/>
                </a:solidFill>
                <a:latin typeface="Calibri"/>
              </a:rPr>
              <a:t> Odoo Community, ERPNext — same engine, USD 0 licence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00" b="1">
                <a:solidFill>
                  <a:srgbClr val="2C5F8A"/>
                </a:solidFill>
                <a:latin typeface="Calibri"/>
              </a:rPr>
              <a:t>• Bundled finance services</a:t>
            </a:r>
            <a:r>
              <a:rPr sz="1000">
                <a:solidFill>
                  <a:srgbClr val="1F2937"/>
                </a:solidFill>
                <a:latin typeface="Calibri"/>
              </a:rPr>
              <a:t> Big-4 / regional consultancies bundle their own stacks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6217920"/>
            <a:ext cx="11247120" cy="411480"/>
          </a:xfrm>
          <a:prstGeom prst="roundRect">
            <a:avLst/>
          </a:prstGeom>
          <a:solidFill>
            <a:srgbClr val="FFE4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6254496"/>
            <a:ext cx="108813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1">
                <a:solidFill>
                  <a:srgbClr val="C2410C"/>
                </a:solidFill>
                <a:latin typeface="Calibri"/>
              </a:rPr>
              <a:t>Takeaway: even an NGO-customised ERP is a feature competing in a commoditised category against deeply discounted, donor-trusted incumbents.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6675120"/>
            <a:ext cx="73152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1">
                <a:solidFill>
                  <a:srgbClr val="FFFFFF"/>
                </a:solidFill>
                <a:latin typeface="Calibri"/>
              </a:rPr>
              <a:t>Kuja  ·  AI-Powered Grant Management for the Global South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6675120"/>
            <a:ext cx="71323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1">
                <a:solidFill>
                  <a:srgbClr val="FFFFFF"/>
                </a:solidFill>
                <a:latin typeface="Calibri"/>
              </a:rPr>
              <a:t>Market Analysis  ·  v5.0  ·  May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47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The Strategic Pivot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1">
                <a:solidFill>
                  <a:srgbClr val="FFE4D6"/>
                </a:solidFill>
                <a:latin typeface="Calibri"/>
              </a:rPr>
              <a:t>Keep the grant platform as the wedge. Re-channel the ERP to a buyer who can actually fund it.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5486400" cy="45720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05840"/>
            <a:ext cx="54864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THEN — Original Strategy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5352" y="1005840"/>
            <a:ext cx="5486400" cy="457200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45352" y="1005840"/>
            <a:ext cx="54864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NOW — Refocused Strategy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08760"/>
            <a:ext cx="5486400" cy="2194560"/>
          </a:xfrm>
          <a:prstGeom prst="roundRect">
            <a:avLst/>
          </a:prstGeom>
          <a:solidFill>
            <a:srgbClr val="F2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645920"/>
            <a:ext cx="50292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 b="1">
                <a:solidFill>
                  <a:srgbClr val="64748B"/>
                </a:solidFill>
                <a:latin typeface="Calibri"/>
              </a:rPr>
              <a:t>• Two products in parallel</a:t>
            </a:r>
            <a:r>
              <a:rPr sz="1100">
                <a:solidFill>
                  <a:srgbClr val="1F2937"/>
                </a:solidFill>
                <a:latin typeface="Calibri"/>
              </a:rPr>
              <a:t> KujaLink + Kuja ERP, both sold direct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 b="1">
                <a:solidFill>
                  <a:srgbClr val="64748B"/>
                </a:solidFill>
                <a:latin typeface="Calibri"/>
              </a:rPr>
              <a:t>• Buyer = NGOs and donors</a:t>
            </a:r>
            <a:r>
              <a:rPr sz="1100">
                <a:solidFill>
                  <a:srgbClr val="1F2937"/>
                </a:solidFill>
                <a:latin typeface="Calibri"/>
              </a:rPr>
              <a:t> Both products pushed to both sides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 b="1">
                <a:solidFill>
                  <a:srgbClr val="64748B"/>
                </a:solidFill>
                <a:latin typeface="Calibri"/>
              </a:rPr>
              <a:t>• ERP as recurring revenue</a:t>
            </a:r>
            <a:r>
              <a:rPr sz="1100">
                <a:solidFill>
                  <a:srgbClr val="1F2937"/>
                </a:solidFill>
                <a:latin typeface="Calibri"/>
              </a:rPr>
              <a:t> Bet on NGOs paying licences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 b="1">
                <a:solidFill>
                  <a:srgbClr val="64748B"/>
                </a:solidFill>
                <a:latin typeface="Calibri"/>
              </a:rPr>
              <a:t>• Back-office service alongside</a:t>
            </a:r>
            <a:r>
              <a:rPr sz="1100">
                <a:solidFill>
                  <a:srgbClr val="1F2937"/>
                </a:solidFill>
                <a:latin typeface="Calibri"/>
              </a:rPr>
              <a:t> Bundled where needed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5352" y="1508760"/>
            <a:ext cx="5486400" cy="2194560"/>
          </a:xfrm>
          <a:prstGeom prst="roundRect">
            <a:avLst/>
          </a:prstGeom>
          <a:solidFill>
            <a:srgbClr val="FFE4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3952" y="1645920"/>
            <a:ext cx="50292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 b="1">
                <a:solidFill>
                  <a:srgbClr val="C2410C"/>
                </a:solidFill>
                <a:latin typeface="Calibri"/>
              </a:rPr>
              <a:t>• Lead with grant management</a:t>
            </a:r>
            <a:r>
              <a:rPr sz="1100">
                <a:solidFill>
                  <a:srgbClr val="1F2937"/>
                </a:solidFill>
                <a:latin typeface="Calibri"/>
              </a:rPr>
              <a:t> Kuja Grant Platform = the wedge product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 b="1">
                <a:solidFill>
                  <a:srgbClr val="C2410C"/>
                </a:solidFill>
                <a:latin typeface="Calibri"/>
              </a:rPr>
              <a:t>• Two-sided market</a:t>
            </a:r>
            <a:r>
              <a:rPr sz="1100">
                <a:solidFill>
                  <a:srgbClr val="1F2937"/>
                </a:solidFill>
                <a:latin typeface="Calibri"/>
              </a:rPr>
              <a:t> NGOs (capacity + visibility) + donors (oversight + AI)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 b="1">
                <a:solidFill>
                  <a:srgbClr val="C2410C"/>
                </a:solidFill>
                <a:latin typeface="Calibri"/>
              </a:rPr>
              <a:t>• ERP repositioned</a:t>
            </a:r>
            <a:r>
              <a:rPr sz="1100">
                <a:solidFill>
                  <a:srgbClr val="1F2937"/>
                </a:solidFill>
                <a:latin typeface="Calibri"/>
              </a:rPr>
              <a:t> Sold to donors / INGOs as a service THEY fund for grantees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 b="1">
                <a:solidFill>
                  <a:srgbClr val="C2410C"/>
                </a:solidFill>
                <a:latin typeface="Calibri"/>
              </a:rPr>
              <a:t>• Services + ERP bundled for donors</a:t>
            </a:r>
            <a:r>
              <a:rPr sz="1100">
                <a:solidFill>
                  <a:srgbClr val="1F2937"/>
                </a:solidFill>
                <a:latin typeface="Calibri"/>
              </a:rPr>
              <a:t> Capacity-building line item in grants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84048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>
                <a:solidFill>
                  <a:srgbClr val="1B3A5C"/>
                </a:solidFill>
                <a:latin typeface="Calibri"/>
              </a:rPr>
              <a:t>TWO DISTINCT GO-TO-MARKET MOTIONS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160520"/>
            <a:ext cx="5486400" cy="2240280"/>
          </a:xfrm>
          <a:prstGeom prst="roundRect">
            <a:avLst/>
          </a:prstGeom>
          <a:solidFill>
            <a:srgbClr val="F2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160520"/>
            <a:ext cx="5486400" cy="4572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4160520"/>
            <a:ext cx="54864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Kuja Grant Platform (SaaS)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709160"/>
            <a:ext cx="50292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1F2937"/>
                </a:solidFill>
                <a:latin typeface="Calibri"/>
              </a:rPr>
              <a:t>• Sold to NGOs + donors directly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1F2937"/>
                </a:solidFill>
                <a:latin typeface="Calibri"/>
              </a:rPr>
              <a:t>• Subscription + per-grant pricing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1F2937"/>
                </a:solidFill>
                <a:latin typeface="Calibri"/>
              </a:rPr>
              <a:t>• Network effects: more donors → more NGOs → more donors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1F2937"/>
                </a:solidFill>
                <a:latin typeface="Calibri"/>
              </a:rPr>
              <a:t>• Already shipped and live in production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45352" y="4160520"/>
            <a:ext cx="5486400" cy="2240280"/>
          </a:xfrm>
          <a:prstGeom prst="roundRect">
            <a:avLst/>
          </a:prstGeom>
          <a:solidFill>
            <a:srgbClr val="F2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45352" y="4160520"/>
            <a:ext cx="5486400" cy="457200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4160520"/>
            <a:ext cx="54864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Kuja ERP-as-a-Service (Donor-funded)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73952" y="4709160"/>
            <a:ext cx="50292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1F2937"/>
                </a:solidFill>
                <a:latin typeface="Calibri"/>
              </a:rPr>
              <a:t>• Sold to donors / INGOs, not to NGO buyers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1F2937"/>
                </a:solidFill>
                <a:latin typeface="Calibri"/>
              </a:rPr>
              <a:t>• Donor sponsors ERP + back-office service for selected grantees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1F2937"/>
                </a:solidFill>
                <a:latin typeface="Calibri"/>
              </a:rPr>
              <a:t>• Funded from existing capacity-building grant line items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1F2937"/>
                </a:solidFill>
                <a:latin typeface="Calibri"/>
              </a:rPr>
              <a:t>• Aligns Odoo 17 customisation with who values grant budgeting most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35508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1">
                <a:solidFill>
                  <a:srgbClr val="C2410C"/>
                </a:solidFill>
                <a:latin typeface="Calibri"/>
              </a:rPr>
              <a:t>Why this works: donors have budget for grantee capacity-building. NGOs don't have budget for ERP licences. Match the product to the wallet.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6675120"/>
            <a:ext cx="73152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1">
                <a:solidFill>
                  <a:srgbClr val="FFFFFF"/>
                </a:solidFill>
                <a:latin typeface="Calibri"/>
              </a:rPr>
              <a:t>Kuja  ·  AI-Powered Grant Management for the Global South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6675120"/>
            <a:ext cx="71323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1">
                <a:solidFill>
                  <a:srgbClr val="FFFFFF"/>
                </a:solidFill>
                <a:latin typeface="Calibri"/>
              </a:rPr>
              <a:t>Market Analysis  ·  v5.0  ·  May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47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The Problem We Address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1">
                <a:solidFill>
                  <a:srgbClr val="FFE4D6"/>
                </a:solidFill>
                <a:latin typeface="Calibri"/>
              </a:rPr>
              <a:t>Grant funding for Global South non-profits is structurally inefficient.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3657600" cy="502920"/>
          </a:xfrm>
          <a:prstGeom prst="round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FOR NGOs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737360"/>
            <a:ext cx="3657600" cy="4572000"/>
          </a:xfrm>
          <a:prstGeom prst="roundRect">
            <a:avLst/>
          </a:prstGeom>
          <a:solidFill>
            <a:srgbClr val="F2F6FA"/>
          </a:solidFill>
          <a:ln w="15240">
            <a:solidFill>
              <a:srgbClr val="1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1874520"/>
            <a:ext cx="33375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50">
                <a:solidFill>
                  <a:srgbClr val="1F2937"/>
                </a:solidFill>
                <a:latin typeface="Calibri"/>
              </a:rPr>
              <a:t>• Capacity assessment fatigue — answer the same 80–120 questions across CHS, UN-HACT, NUPAS, STEP, and donor-specific variants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50">
                <a:solidFill>
                  <a:srgbClr val="1F2937"/>
                </a:solidFill>
                <a:latin typeface="Calibri"/>
              </a:rPr>
              <a:t>• Application overhead with no help to know if their answer is strong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50">
                <a:solidFill>
                  <a:srgbClr val="1F2937"/>
                </a:solidFill>
                <a:latin typeface="Calibri"/>
              </a:rPr>
              <a:t>• Compliance evidence scattered across email, drives, and binders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50">
                <a:solidFill>
                  <a:srgbClr val="1F2937"/>
                </a:solidFill>
                <a:latin typeface="Calibri"/>
              </a:rPr>
              <a:t>• Reporting templates that vary by donor with no guidance on what each donor cares about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50">
                <a:solidFill>
                  <a:srgbClr val="1F2937"/>
                </a:solidFill>
                <a:latin typeface="Calibri"/>
              </a:rPr>
              <a:t>• Decision opacity — most applications rejected with little or no feedback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50">
                <a:solidFill>
                  <a:srgbClr val="1F2937"/>
                </a:solidFill>
                <a:latin typeface="Calibri"/>
              </a:rPr>
              <a:t>• Language exclusion — donor portals are English-only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188720"/>
            <a:ext cx="3657600" cy="502920"/>
          </a:xfrm>
          <a:prstGeom prst="round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0" y="1188720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FOR DONORS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1737360"/>
            <a:ext cx="3657600" cy="4572000"/>
          </a:xfrm>
          <a:prstGeom prst="roundRect">
            <a:avLst/>
          </a:prstGeom>
          <a:solidFill>
            <a:srgbClr val="F2F6FA"/>
          </a:solidFill>
          <a:ln w="15240">
            <a:solidFill>
              <a:srgbClr val="1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53712" y="1874520"/>
            <a:ext cx="33375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50">
                <a:solidFill>
                  <a:srgbClr val="1F2937"/>
                </a:solidFill>
                <a:latin typeface="Calibri"/>
              </a:rPr>
              <a:t>• Sourcing is slow and intuition-driven — finding strong NGOs requires personal networks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50">
                <a:solidFill>
                  <a:srgbClr val="1F2937"/>
                </a:solidFill>
                <a:latin typeface="Calibri"/>
              </a:rPr>
              <a:t>• Capacity signal is non-standard — every donor maintains their own framework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50">
                <a:solidFill>
                  <a:srgbClr val="1F2937"/>
                </a:solidFill>
                <a:latin typeface="Calibri"/>
              </a:rPr>
              <a:t>• Application quality variance comes from language proficiency, not programme quality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50">
                <a:solidFill>
                  <a:srgbClr val="1F2937"/>
                </a:solidFill>
                <a:latin typeface="Calibri"/>
              </a:rPr>
              <a:t>• Compliance is reactive — sanctions, registry, document validation happen at the last minute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50">
                <a:solidFill>
                  <a:srgbClr val="1F2937"/>
                </a:solidFill>
                <a:latin typeface="Calibri"/>
              </a:rPr>
              <a:t>• Reports do not roll up — aggregating outcomes requires manual extraction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50">
                <a:solidFill>
                  <a:srgbClr val="1F2937"/>
                </a:solidFill>
                <a:latin typeface="Calibri"/>
              </a:rPr>
              <a:t>• No early-warning signal when grants drift off track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21040" y="1188720"/>
            <a:ext cx="3657600" cy="502920"/>
          </a:xfrm>
          <a:prstGeom prst="round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1188720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FOR REVIEWERS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21040" y="1737360"/>
            <a:ext cx="3657600" cy="4572000"/>
          </a:xfrm>
          <a:prstGeom prst="roundRect">
            <a:avLst/>
          </a:prstGeom>
          <a:solidFill>
            <a:srgbClr val="F2F6FA"/>
          </a:solidFill>
          <a:ln w="15240">
            <a:solidFill>
              <a:srgbClr val="1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85632" y="1874520"/>
            <a:ext cx="33375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50">
                <a:solidFill>
                  <a:srgbClr val="1F2937"/>
                </a:solidFill>
                <a:latin typeface="Calibri"/>
              </a:rPr>
              <a:t>• Each application takes hours to read carefully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50">
                <a:solidFill>
                  <a:srgbClr val="1F2937"/>
                </a:solidFill>
                <a:latin typeface="Calibri"/>
              </a:rPr>
              <a:t>• Rationales drift — reviewers anchor on each other, not the rubric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50">
                <a:solidFill>
                  <a:srgbClr val="1F2937"/>
                </a:solidFill>
                <a:latin typeface="Calibri"/>
              </a:rPr>
              <a:t>• Patterns across the portfolio are invisible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50">
                <a:solidFill>
                  <a:srgbClr val="1F2937"/>
                </a:solidFill>
                <a:latin typeface="Calibri"/>
              </a:rPr>
              <a:t>• No standardised way to cite specific evidence per criterion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50">
                <a:solidFill>
                  <a:srgbClr val="1F2937"/>
                </a:solidFill>
                <a:latin typeface="Calibri"/>
              </a:rPr>
              <a:t>• Suspect quality cannot be flagged with confidence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6675120"/>
            <a:ext cx="73152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1">
                <a:solidFill>
                  <a:srgbClr val="FFFFFF"/>
                </a:solidFill>
                <a:latin typeface="Calibri"/>
              </a:rPr>
              <a:t>Kuja  ·  AI-Powered Grant Management for the Global South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6675120"/>
            <a:ext cx="71323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1">
                <a:solidFill>
                  <a:srgbClr val="FFFFFF"/>
                </a:solidFill>
                <a:latin typeface="Calibri"/>
              </a:rPr>
              <a:t>Market Analysis  ·  v5.0  ·  May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47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Market Opportunity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1">
                <a:solidFill>
                  <a:srgbClr val="FFE4D6"/>
                </a:solidFill>
                <a:latin typeface="Calibri"/>
              </a:rPr>
              <a:t>$2.75B today · $4.79B by 2030 · 10.3% CAGR</a:t>
            </a:r>
          </a:p>
        </p:txBody>
      </p:sp>
      <p:pic>
        <p:nvPicPr>
          <p:cNvPr id="5" name="Picture 4" descr="01_market_siz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7680960" cy="471149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229600" y="1097280"/>
            <a:ext cx="3566160" cy="5212080"/>
          </a:xfrm>
          <a:prstGeom prst="roundRect">
            <a:avLst/>
          </a:prstGeom>
          <a:solidFill>
            <a:srgbClr val="F2F6FA"/>
          </a:solidFill>
          <a:ln w="15240">
            <a:solidFill>
              <a:srgbClr val="1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0" y="1280160"/>
            <a:ext cx="3291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1B3A5C"/>
                </a:solidFill>
                <a:latin typeface="Calibri"/>
              </a:rPr>
              <a:t>Why it matters now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1737360"/>
            <a:ext cx="32918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00" b="1">
                <a:solidFill>
                  <a:srgbClr val="1B3A5C"/>
                </a:solidFill>
                <a:latin typeface="Calibri"/>
              </a:rPr>
              <a:t>• Sector disruption. </a:t>
            </a:r>
            <a:r>
              <a:rPr sz="1000">
                <a:solidFill>
                  <a:srgbClr val="1F2937"/>
                </a:solidFill>
                <a:latin typeface="Calibri"/>
              </a:rPr>
              <a:t> USAID dissolution in 2025 with 83% of programmes cancelled has created urgent demand for diversified funding infrastructure.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00" b="1">
                <a:solidFill>
                  <a:srgbClr val="1B3A5C"/>
                </a:solidFill>
                <a:latin typeface="Calibri"/>
              </a:rPr>
              <a:t>• AI inflection. </a:t>
            </a:r>
            <a:r>
              <a:rPr sz="1000">
                <a:solidFill>
                  <a:srgbClr val="1F2937"/>
                </a:solidFill>
                <a:latin typeface="Calibri"/>
              </a:rPr>
              <a:t> 92% of nonprofits use AI in some capacity, but 76% lack formal AI strategy — there is a window for an AI-native platform.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00" b="1">
                <a:solidFill>
                  <a:srgbClr val="1B3A5C"/>
                </a:solidFill>
                <a:latin typeface="Calibri"/>
              </a:rPr>
              <a:t>• Cloud shift. </a:t>
            </a:r>
            <a:r>
              <a:rPr sz="1000">
                <a:solidFill>
                  <a:srgbClr val="1F2937"/>
                </a:solidFill>
                <a:latin typeface="Calibri"/>
              </a:rPr>
              <a:t> 65% of new grant management deployments are cloud-based.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00" b="1">
                <a:solidFill>
                  <a:srgbClr val="1B3A5C"/>
                </a:solidFill>
                <a:latin typeface="Calibri"/>
              </a:rPr>
              <a:t>• Localisation pressure. </a:t>
            </a:r>
            <a:r>
              <a:rPr sz="1000">
                <a:solidFill>
                  <a:srgbClr val="1F2937"/>
                </a:solidFill>
                <a:latin typeface="Calibri"/>
              </a:rPr>
              <a:t> Grand Bargain 2.0 targets 25% direct local funding; actual &lt;5%.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6675120"/>
            <a:ext cx="73152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1">
                <a:solidFill>
                  <a:srgbClr val="FFFFFF"/>
                </a:solidFill>
                <a:latin typeface="Calibri"/>
              </a:rPr>
              <a:t>Kuja  ·  AI-Powered Grant Management for the Global South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675120"/>
            <a:ext cx="71323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1">
                <a:solidFill>
                  <a:srgbClr val="FFFFFF"/>
                </a:solidFill>
                <a:latin typeface="Calibri"/>
              </a:rPr>
              <a:t>Market Analysis  ·  v5.0  ·  May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47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Total / Serviceable / Obtainable Market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1">
                <a:solidFill>
                  <a:srgbClr val="FFE4D6"/>
                </a:solidFill>
                <a:latin typeface="Calibri"/>
              </a:rPr>
              <a:t>Three views on the same opportunity</a:t>
            </a:r>
          </a:p>
        </p:txBody>
      </p:sp>
      <p:pic>
        <p:nvPicPr>
          <p:cNvPr id="5" name="Picture 4" descr="02_tam_sam_s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097280"/>
            <a:ext cx="10881360" cy="6036193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675120"/>
            <a:ext cx="73152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1">
                <a:solidFill>
                  <a:srgbClr val="FFFFFF"/>
                </a:solidFill>
                <a:latin typeface="Calibri"/>
              </a:rPr>
              <a:t>Kuja  ·  AI-Powered Grant Management for the Global South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675120"/>
            <a:ext cx="71323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1">
                <a:solidFill>
                  <a:srgbClr val="FFFFFF"/>
                </a:solidFill>
                <a:latin typeface="Calibri"/>
              </a:rPr>
              <a:t>Market Analysis  ·  v5.0  ·  May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47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The Sector Is Shifting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1">
                <a:solidFill>
                  <a:srgbClr val="FFE4D6"/>
                </a:solidFill>
                <a:latin typeface="Calibri"/>
              </a:rPr>
              <a:t>Four trends are creating urgent demand for new grant infrastructure</a:t>
            </a:r>
          </a:p>
        </p:txBody>
      </p:sp>
      <p:pic>
        <p:nvPicPr>
          <p:cNvPr id="5" name="Picture 4" descr="03_sector_tren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097280"/>
            <a:ext cx="10881360" cy="5524862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675120"/>
            <a:ext cx="73152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1">
                <a:solidFill>
                  <a:srgbClr val="FFFFFF"/>
                </a:solidFill>
                <a:latin typeface="Calibri"/>
              </a:rPr>
              <a:t>Kuja  ·  AI-Powered Grant Management for the Global South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675120"/>
            <a:ext cx="71323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1">
                <a:solidFill>
                  <a:srgbClr val="FFFFFF"/>
                </a:solidFill>
                <a:latin typeface="Calibri"/>
              </a:rPr>
              <a:t>Market Analysis  ·  v5.0  ·  May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47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What Kuja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1">
                <a:solidFill>
                  <a:srgbClr val="FFE4D6"/>
                </a:solidFill>
                <a:latin typeface="Calibri"/>
              </a:rPr>
              <a:t>An end-to-end platform anchored on three category-defining commitments.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3657600" cy="502920"/>
          </a:xfrm>
          <a:prstGeom prst="round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TWO-PILLAR TRUST PROFILE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737360"/>
            <a:ext cx="3657600" cy="4572000"/>
          </a:xfrm>
          <a:prstGeom prst="roundRect">
            <a:avLst/>
          </a:prstGeom>
          <a:solidFill>
            <a:srgbClr val="FFE4D6"/>
          </a:solidFill>
          <a:ln w="1524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874520"/>
            <a:ext cx="329184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1">
                <a:solidFill>
                  <a:srgbClr val="1B3A5C"/>
                </a:solidFill>
                <a:latin typeface="Calibri"/>
              </a:rPr>
              <a:t>Every NGO presents a Capacity Profile ("can they execute?") and a Due Diligence Profile ("are they safe to fund?"). Both pillars passport across applications.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00400"/>
            <a:ext cx="32918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50">
                <a:solidFill>
                  <a:srgbClr val="1B3A5C"/>
                </a:solidFill>
                <a:latin typeface="Calibri"/>
              </a:rPr>
              <a:t>• Five capacity frameworks built in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50">
                <a:solidFill>
                  <a:srgbClr val="1B3A5C"/>
                </a:solidFill>
                <a:latin typeface="Calibri"/>
              </a:rPr>
              <a:t>• Custom donor framework builder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50">
                <a:solidFill>
                  <a:srgbClr val="1B3A5C"/>
                </a:solidFill>
                <a:latin typeface="Calibri"/>
              </a:rPr>
              <a:t>• Sanctions / AML / CTF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50">
                <a:solidFill>
                  <a:srgbClr val="1B3A5C"/>
                </a:solidFill>
                <a:latin typeface="Calibri"/>
              </a:rPr>
              <a:t>• Registration &amp; standing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50">
                <a:solidFill>
                  <a:srgbClr val="1B3A5C"/>
                </a:solidFill>
                <a:latin typeface="Calibri"/>
              </a:rPr>
              <a:t>• Beneficial ownership + COI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50">
                <a:solidFill>
                  <a:srgbClr val="1B3A5C"/>
                </a:solidFill>
                <a:latin typeface="Calibri"/>
              </a:rPr>
              <a:t>• Adverse media monitoring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188720"/>
            <a:ext cx="3657600" cy="502920"/>
          </a:xfrm>
          <a:prstGeom prst="round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89120" y="1188720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EMBEDDED AI INTELLIGENCE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1737360"/>
            <a:ext cx="3657600" cy="4572000"/>
          </a:xfrm>
          <a:prstGeom prst="roundRect">
            <a:avLst/>
          </a:prstGeom>
          <a:solidFill>
            <a:srgbClr val="FFE4D6"/>
          </a:solidFill>
          <a:ln w="1524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874520"/>
            <a:ext cx="329184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1">
                <a:solidFill>
                  <a:srgbClr val="1B3A5C"/>
                </a:solidFill>
                <a:latin typeface="Calibri"/>
              </a:rPr>
              <a:t>Twenty-one AI surfaces woven into every workflow. Action-oriented, grounded in user data, traceable to sources, editable end to end.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3200400"/>
            <a:ext cx="32918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50">
                <a:solidFill>
                  <a:srgbClr val="1B3A5C"/>
                </a:solidFill>
                <a:latin typeface="Calibri"/>
              </a:rPr>
              <a:t>• Application &amp; report drafting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50">
                <a:solidFill>
                  <a:srgbClr val="1B3A5C"/>
                </a:solidFill>
                <a:latin typeface="Calibri"/>
              </a:rPr>
              <a:t>• Real-time document scoring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50">
                <a:solidFill>
                  <a:srgbClr val="1B3A5C"/>
                </a:solidFill>
                <a:latin typeface="Calibri"/>
              </a:rPr>
              <a:t>• Pre-submission readiness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50">
                <a:solidFill>
                  <a:srgbClr val="1B3A5C"/>
                </a:solidFill>
                <a:latin typeface="Calibri"/>
              </a:rPr>
              <a:t>• Reviewer one-screen summary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50">
                <a:solidFill>
                  <a:srgbClr val="1B3A5C"/>
                </a:solidFill>
                <a:latin typeface="Calibri"/>
              </a:rPr>
              <a:t>• Compliance pre-empt + pre-flight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50">
                <a:solidFill>
                  <a:srgbClr val="1B3A5C"/>
                </a:solidFill>
                <a:latin typeface="Calibri"/>
              </a:rPr>
              <a:t>• Portfolio insights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21040" y="1188720"/>
            <a:ext cx="3657600" cy="502920"/>
          </a:xfrm>
          <a:prstGeom prst="round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21040" y="1188720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COMPLIANCE FOR BOTH SIDES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321040" y="1737360"/>
            <a:ext cx="3657600" cy="4572000"/>
          </a:xfrm>
          <a:prstGeom prst="roundRect">
            <a:avLst/>
          </a:prstGeom>
          <a:solidFill>
            <a:srgbClr val="FFE4D6"/>
          </a:solidFill>
          <a:ln w="1524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03920" y="1874520"/>
            <a:ext cx="329184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1">
                <a:solidFill>
                  <a:srgbClr val="1B3A5C"/>
                </a:solidFill>
                <a:latin typeface="Calibri"/>
              </a:rPr>
              <a:t>Simplifies compliance and risk for the entire relationship — NGOs are supported through every obligation; donors get pre-assessed reports + portfolio health.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0" y="3200400"/>
            <a:ext cx="32918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50">
                <a:solidFill>
                  <a:srgbClr val="1B3A5C"/>
                </a:solidFill>
                <a:latin typeface="Calibri"/>
              </a:rPr>
              <a:t>• AI compliance calendar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50">
                <a:solidFill>
                  <a:srgbClr val="1B3A5C"/>
                </a:solidFill>
                <a:latin typeface="Calibri"/>
              </a:rPr>
              <a:t>• Proactive reminders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50">
                <a:solidFill>
                  <a:srgbClr val="1B3A5C"/>
                </a:solidFill>
                <a:latin typeface="Calibri"/>
              </a:rPr>
              <a:t>• AI report drafting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50">
                <a:solidFill>
                  <a:srgbClr val="1B3A5C"/>
                </a:solidFill>
                <a:latin typeface="Calibri"/>
              </a:rPr>
              <a:t>• 4-pillar health score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50">
                <a:solidFill>
                  <a:srgbClr val="1B3A5C"/>
                </a:solidFill>
                <a:latin typeface="Calibri"/>
              </a:rPr>
              <a:t>• Trajectory + slips forecast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50">
                <a:solidFill>
                  <a:srgbClr val="1B3A5C"/>
                </a:solidFill>
                <a:latin typeface="Calibri"/>
              </a:rPr>
              <a:t>• Risk register with owners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6675120"/>
            <a:ext cx="73152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1">
                <a:solidFill>
                  <a:srgbClr val="FFFFFF"/>
                </a:solidFill>
                <a:latin typeface="Calibri"/>
              </a:rPr>
              <a:t>Kuja  ·  AI-Powered Grant Management for the Global South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6675120"/>
            <a:ext cx="71323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1">
                <a:solidFill>
                  <a:srgbClr val="FFFFFF"/>
                </a:solidFill>
                <a:latin typeface="Calibri"/>
              </a:rPr>
              <a:t>Market Analysis  ·  v5.0  ·  May 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47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The Organisation Trust Profile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1">
                <a:solidFill>
                  <a:srgbClr val="FFE4D6"/>
                </a:solidFill>
                <a:latin typeface="Calibri"/>
              </a:rPr>
              <a:t>Two pillars · one source of truth · travels with the organisation</a:t>
            </a:r>
          </a:p>
        </p:txBody>
      </p:sp>
      <p:pic>
        <p:nvPicPr>
          <p:cNvPr id="5" name="Picture 4" descr="07_trust_profi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097280"/>
            <a:ext cx="10881360" cy="5509077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675120"/>
            <a:ext cx="73152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1">
                <a:solidFill>
                  <a:srgbClr val="FFFFFF"/>
                </a:solidFill>
                <a:latin typeface="Calibri"/>
              </a:rPr>
              <a:t>Kuja  ·  AI-Powered Grant Management for the Global South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675120"/>
            <a:ext cx="71323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1">
                <a:solidFill>
                  <a:srgbClr val="FFFFFF"/>
                </a:solidFill>
                <a:latin typeface="Calibri"/>
              </a:rPr>
              <a:t>Market Analysis  ·  v5.0  ·  May 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47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Capacity Passporting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1">
                <a:solidFill>
                  <a:srgbClr val="FFE4D6"/>
                </a:solidFill>
                <a:latin typeface="Calibri"/>
              </a:rPr>
              <a:t>Do the assessment once. Carry it forward to every donor's framework.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560320"/>
            <a:ext cx="2926080" cy="2011680"/>
          </a:xfrm>
          <a:prstGeom prst="roundRect">
            <a:avLst/>
          </a:prstGeom>
          <a:solidFill>
            <a:srgbClr val="FFE4D6"/>
          </a:solidFill>
          <a:ln w="1524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743200"/>
            <a:ext cx="2926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 i="0">
                <a:solidFill>
                  <a:srgbClr val="C2410C"/>
                </a:solidFill>
                <a:latin typeface="Calibri"/>
              </a:rPr>
              <a:t>STEP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200400"/>
            <a:ext cx="292608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50" b="1" i="0">
                <a:solidFill>
                  <a:srgbClr val="1B3A5C"/>
                </a:solidFill>
                <a:latin typeface="Calibri"/>
              </a:rPr>
              <a:t>NGO completes the Kuja Capacity Framework once · stored on the org profile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0" y="2286000"/>
            <a:ext cx="3200400" cy="2560320"/>
          </a:xfrm>
          <a:prstGeom prst="round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0" y="2468880"/>
            <a:ext cx="3200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 i="0">
                <a:solidFill>
                  <a:srgbClr val="FFE4D6"/>
                </a:solidFill>
                <a:latin typeface="Calibri"/>
              </a:rPr>
              <a:t>STEP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2926080"/>
            <a:ext cx="3200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Capacity Passport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0" y="3566160"/>
            <a:ext cx="3200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1">
                <a:solidFill>
                  <a:srgbClr val="FFE4D6"/>
                </a:solidFill>
                <a:latin typeface="Calibri"/>
              </a:rPr>
              <a:t>Framework-neutral facts · AI maps across target frameworks · provenance traced to source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79" y="228600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C2410C"/>
                </a:solidFill>
                <a:latin typeface="Calibri"/>
              </a:rPr>
              <a:t>STEP 3 — Prefilled across any donor framework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55279" y="2697480"/>
            <a:ext cx="3657600" cy="411480"/>
          </a:xfrm>
          <a:prstGeom prst="roundRect">
            <a:avLst/>
          </a:prstGeom>
          <a:solidFill>
            <a:srgbClr val="F2F6FA"/>
          </a:solidFill>
          <a:ln w="15240">
            <a:solidFill>
              <a:srgbClr val="1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55279" y="2697480"/>
            <a:ext cx="36576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 i="0">
                <a:solidFill>
                  <a:srgbClr val="1B3A5C"/>
                </a:solidFill>
                <a:latin typeface="Calibri"/>
              </a:rPr>
              <a:t>UN-HACT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55279" y="3200400"/>
            <a:ext cx="3657600" cy="411480"/>
          </a:xfrm>
          <a:prstGeom prst="roundRect">
            <a:avLst/>
          </a:prstGeom>
          <a:solidFill>
            <a:srgbClr val="F2F6FA"/>
          </a:solidFill>
          <a:ln w="15240">
            <a:solidFill>
              <a:srgbClr val="1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55279" y="3200400"/>
            <a:ext cx="36576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 i="0">
                <a:solidFill>
                  <a:srgbClr val="1B3A5C"/>
                </a:solidFill>
                <a:latin typeface="Calibri"/>
              </a:rPr>
              <a:t>STEP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55279" y="3703320"/>
            <a:ext cx="3657600" cy="411480"/>
          </a:xfrm>
          <a:prstGeom prst="roundRect">
            <a:avLst/>
          </a:prstGeom>
          <a:solidFill>
            <a:srgbClr val="F2F6FA"/>
          </a:solidFill>
          <a:ln w="15240">
            <a:solidFill>
              <a:srgbClr val="1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55279" y="3703320"/>
            <a:ext cx="36576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 i="0">
                <a:solidFill>
                  <a:srgbClr val="1B3A5C"/>
                </a:solidFill>
                <a:latin typeface="Calibri"/>
              </a:rPr>
              <a:t>CHS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55279" y="4206240"/>
            <a:ext cx="3657600" cy="411480"/>
          </a:xfrm>
          <a:prstGeom prst="roundRect">
            <a:avLst/>
          </a:prstGeom>
          <a:solidFill>
            <a:srgbClr val="F2F6FA"/>
          </a:solidFill>
          <a:ln w="15240">
            <a:solidFill>
              <a:srgbClr val="1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55279" y="4206240"/>
            <a:ext cx="36576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 i="0">
                <a:solidFill>
                  <a:srgbClr val="1B3A5C"/>
                </a:solidFill>
                <a:latin typeface="Calibri"/>
              </a:rPr>
              <a:t>NUPAS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55279" y="4709160"/>
            <a:ext cx="3657600" cy="411480"/>
          </a:xfrm>
          <a:prstGeom prst="roundRect">
            <a:avLst/>
          </a:prstGeom>
          <a:solidFill>
            <a:srgbClr val="F2F6FA"/>
          </a:solidFill>
          <a:ln w="15240">
            <a:solidFill>
              <a:srgbClr val="1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55279" y="4709160"/>
            <a:ext cx="36576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 i="0">
                <a:solidFill>
                  <a:srgbClr val="1B3A5C"/>
                </a:solidFill>
                <a:latin typeface="Calibri"/>
              </a:rPr>
              <a:t>Donor custom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71600" y="5212080"/>
            <a:ext cx="9418320" cy="1097280"/>
          </a:xfrm>
          <a:prstGeom prst="round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71600" y="5349240"/>
            <a:ext cx="9418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1">
                <a:solidFill>
                  <a:srgbClr val="FFFFFF"/>
                </a:solidFill>
                <a:latin typeface="Calibri"/>
              </a:rPr>
              <a:t>Effort reduction per subsequent application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71600" y="5669280"/>
            <a:ext cx="94183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12 hours of duplicated work  →  under 1 hour of review and refinement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6675120"/>
            <a:ext cx="73152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1">
                <a:solidFill>
                  <a:srgbClr val="FFFFFF"/>
                </a:solidFill>
                <a:latin typeface="Calibri"/>
              </a:rPr>
              <a:t>Kuja  ·  AI-Powered Grant Management for the Global South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675120"/>
            <a:ext cx="71323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1">
                <a:solidFill>
                  <a:srgbClr val="FFFFFF"/>
                </a:solidFill>
                <a:latin typeface="Calibri"/>
              </a:rPr>
              <a:t>Market Analysis  ·  v5.0  ·  May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47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Due Diligence Beyond Sanctions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1">
                <a:solidFill>
                  <a:srgbClr val="FFE4D6"/>
                </a:solidFill>
                <a:latin typeface="Calibri"/>
              </a:rPr>
              <a:t>Four sub-pillars · passported across applications · auditable end to end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097280"/>
            <a:ext cx="5577840" cy="2468880"/>
          </a:xfrm>
          <a:prstGeom prst="roundRect">
            <a:avLst/>
          </a:prstGeom>
          <a:solidFill>
            <a:srgbClr val="F2F6FA"/>
          </a:solidFill>
          <a:ln w="1524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5577840" cy="457200"/>
          </a:xfrm>
          <a:prstGeom prst="round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097280"/>
            <a:ext cx="53035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Sanctions, AML &amp; CTF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645920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 i="1">
                <a:solidFill>
                  <a:srgbClr val="C2410C"/>
                </a:solidFill>
                <a:latin typeface="Calibri"/>
              </a:rPr>
              <a:t>UN · OFAC · EU + watchlists + CTF designations.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194560"/>
            <a:ext cx="53035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Continuous re-screening on schedule, on change, and on every new application. Coverage includes declared beneficial owners and named officers.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097280"/>
            <a:ext cx="5577840" cy="2468880"/>
          </a:xfrm>
          <a:prstGeom prst="roundRect">
            <a:avLst/>
          </a:prstGeom>
          <a:solidFill>
            <a:srgbClr val="F2F6FA"/>
          </a:solidFill>
          <a:ln w="1524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172200" y="1097280"/>
            <a:ext cx="5577840" cy="457200"/>
          </a:xfrm>
          <a:prstGeom prst="round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1097280"/>
            <a:ext cx="53035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Registration &amp; Standing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80" y="1645920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 i="1">
                <a:solidFill>
                  <a:srgbClr val="C2410C"/>
                </a:solidFill>
                <a:latin typeface="Calibri"/>
              </a:rPr>
              <a:t>7 government registries today · expanding to all jurisdictions with public portals.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2194560"/>
            <a:ext cx="53035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Legal name, status, number verified against organisation-claimed values. Tax-exempt certification verified per country.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703320"/>
            <a:ext cx="5577840" cy="2468880"/>
          </a:xfrm>
          <a:prstGeom prst="roundRect">
            <a:avLst/>
          </a:prstGeom>
          <a:solidFill>
            <a:srgbClr val="F2F6FA"/>
          </a:solidFill>
          <a:ln w="1524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57200" y="3703320"/>
            <a:ext cx="5577840" cy="457200"/>
          </a:xfrm>
          <a:prstGeom prst="round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703320"/>
            <a:ext cx="53035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Beneficial Ownership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251960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 i="1">
                <a:solidFill>
                  <a:srgbClr val="C2410C"/>
                </a:solidFill>
                <a:latin typeface="Calibri"/>
              </a:rPr>
              <a:t>Officer disclosure + ownership-chain transparency.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800600"/>
            <a:ext cx="53035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Conflict-of-interest checks against donor staff directories surface conflicts before award. Historical preservation for retrospective audit.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3703320"/>
            <a:ext cx="5577840" cy="2468880"/>
          </a:xfrm>
          <a:prstGeom prst="roundRect">
            <a:avLst/>
          </a:prstGeom>
          <a:solidFill>
            <a:srgbClr val="F2F6FA"/>
          </a:solidFill>
          <a:ln w="1524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172200" y="3703320"/>
            <a:ext cx="5577840" cy="457200"/>
          </a:xfrm>
          <a:prstGeom prst="round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5080" y="3703320"/>
            <a:ext cx="53035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Adverse Media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4251960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 i="1">
                <a:solidFill>
                  <a:srgbClr val="C2410C"/>
                </a:solidFill>
                <a:latin typeface="Calibri"/>
              </a:rPr>
              <a:t>Daily news scan with AI-classified relevance and severity.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4800600"/>
            <a:ext cx="53035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Auto-raised risk register entries above configured thresholds. Plain-language context summary with source link and suggested next steps.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6675120"/>
            <a:ext cx="73152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1">
                <a:solidFill>
                  <a:srgbClr val="FFFFFF"/>
                </a:solidFill>
                <a:latin typeface="Calibri"/>
              </a:rPr>
              <a:t>Kuja  ·  AI-Powered Grant Management for the Global South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6675120"/>
            <a:ext cx="71323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1">
                <a:solidFill>
                  <a:srgbClr val="FFFFFF"/>
                </a:solidFill>
                <a:latin typeface="Calibri"/>
              </a:rPr>
              <a:t>Market Analysis  ·  v5.0  ·  May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47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Embedded AI Intelligence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1">
                <a:solidFill>
                  <a:srgbClr val="FFE4D6"/>
                </a:solidFill>
                <a:latin typeface="Calibri"/>
              </a:rPr>
              <a:t>21 AI-driven surfaces woven into every workflow — grounded, traceable, action-oriented.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3657600" cy="502920"/>
          </a:xfrm>
          <a:prstGeom prst="round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NGO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828800"/>
            <a:ext cx="3474720" cy="457200"/>
          </a:xfrm>
          <a:prstGeom prst="roundRect">
            <a:avLst/>
          </a:prstGeom>
          <a:solidFill>
            <a:srgbClr val="FFE4D6"/>
          </a:solidFill>
          <a:ln w="1524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828800"/>
            <a:ext cx="32918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1B3A5C"/>
                </a:solidFill>
                <a:latin typeface="Calibri"/>
              </a:rPr>
              <a:t>Match scoring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377440"/>
            <a:ext cx="3474720" cy="457200"/>
          </a:xfrm>
          <a:prstGeom prst="roundRect">
            <a:avLst/>
          </a:prstGeom>
          <a:solidFill>
            <a:srgbClr val="FFE4D6"/>
          </a:solidFill>
          <a:ln w="1524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377440"/>
            <a:ext cx="32918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1B3A5C"/>
                </a:solidFill>
                <a:latin typeface="Calibri"/>
              </a:rPr>
              <a:t>Application co-author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926080"/>
            <a:ext cx="3474720" cy="457200"/>
          </a:xfrm>
          <a:prstGeom prst="roundRect">
            <a:avLst/>
          </a:prstGeom>
          <a:solidFill>
            <a:srgbClr val="FFE4D6"/>
          </a:solidFill>
          <a:ln w="1524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926080"/>
            <a:ext cx="32918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1B3A5C"/>
                </a:solidFill>
                <a:latin typeface="Calibri"/>
              </a:rPr>
              <a:t>Real-time document scoring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474719"/>
            <a:ext cx="3474720" cy="457200"/>
          </a:xfrm>
          <a:prstGeom prst="roundRect">
            <a:avLst/>
          </a:prstGeom>
          <a:solidFill>
            <a:srgbClr val="FFE4D6"/>
          </a:solidFill>
          <a:ln w="1524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474719"/>
            <a:ext cx="32918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1B3A5C"/>
                </a:solidFill>
                <a:latin typeface="Calibri"/>
              </a:rPr>
              <a:t>Submission readiness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023360"/>
            <a:ext cx="3474720" cy="457200"/>
          </a:xfrm>
          <a:prstGeom prst="roundRect">
            <a:avLst/>
          </a:prstGeom>
          <a:solidFill>
            <a:srgbClr val="FFE4D6"/>
          </a:solidFill>
          <a:ln w="1524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023360"/>
            <a:ext cx="32918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1B3A5C"/>
                </a:solidFill>
                <a:latin typeface="Calibri"/>
              </a:rPr>
              <a:t>Compliance pre-empt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572000"/>
            <a:ext cx="3474720" cy="457200"/>
          </a:xfrm>
          <a:prstGeom prst="roundRect">
            <a:avLst/>
          </a:prstGeom>
          <a:solidFill>
            <a:srgbClr val="FFE4D6"/>
          </a:solidFill>
          <a:ln w="1524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4572000"/>
            <a:ext cx="32918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1B3A5C"/>
                </a:solidFill>
                <a:latin typeface="Calibri"/>
              </a:rPr>
              <a:t>Report co-author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5120639"/>
            <a:ext cx="3474720" cy="457200"/>
          </a:xfrm>
          <a:prstGeom prst="roundRect">
            <a:avLst/>
          </a:prstGeom>
          <a:solidFill>
            <a:srgbClr val="FFE4D6"/>
          </a:solidFill>
          <a:ln w="1524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5120639"/>
            <a:ext cx="32918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1B3A5C"/>
                </a:solidFill>
                <a:latin typeface="Calibri"/>
              </a:rPr>
              <a:t>Donor-perspective pre-flight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5669280"/>
            <a:ext cx="3474720" cy="457200"/>
          </a:xfrm>
          <a:prstGeom prst="roundRect">
            <a:avLst/>
          </a:prstGeom>
          <a:solidFill>
            <a:srgbClr val="FFE4D6"/>
          </a:solidFill>
          <a:ln w="1524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5669280"/>
            <a:ext cx="32918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1B3A5C"/>
                </a:solidFill>
                <a:latin typeface="Calibri"/>
              </a:rPr>
              <a:t>Compliance to-do list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89120" y="1188720"/>
            <a:ext cx="3657600" cy="502920"/>
          </a:xfrm>
          <a:prstGeom prst="round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9120" y="1188720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DONOR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80560" y="1828800"/>
            <a:ext cx="3474720" cy="457200"/>
          </a:xfrm>
          <a:prstGeom prst="roundRect">
            <a:avLst/>
          </a:prstGeom>
          <a:solidFill>
            <a:srgbClr val="FFE4D6"/>
          </a:solidFill>
          <a:ln w="1524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0" y="1828800"/>
            <a:ext cx="32918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1B3A5C"/>
                </a:solidFill>
                <a:latin typeface="Calibri"/>
              </a:rPr>
              <a:t>Grant brief from 2-line prompt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80560" y="2377440"/>
            <a:ext cx="3474720" cy="457200"/>
          </a:xfrm>
          <a:prstGeom prst="roundRect">
            <a:avLst/>
          </a:prstGeom>
          <a:solidFill>
            <a:srgbClr val="FFE4D6"/>
          </a:solidFill>
          <a:ln w="1524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0" y="2377440"/>
            <a:ext cx="32918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1B3A5C"/>
                </a:solidFill>
                <a:latin typeface="Calibri"/>
              </a:rPr>
              <a:t>Grant import from PDF/DOCX/TXT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480560" y="2926080"/>
            <a:ext cx="3474720" cy="457200"/>
          </a:xfrm>
          <a:prstGeom prst="roundRect">
            <a:avLst/>
          </a:prstGeom>
          <a:solidFill>
            <a:srgbClr val="FFE4D6"/>
          </a:solidFill>
          <a:ln w="1524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0" y="2926080"/>
            <a:ext cx="32918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1B3A5C"/>
                </a:solidFill>
                <a:latin typeface="Calibri"/>
              </a:rPr>
              <a:t>Median-NGO preview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480560" y="3474719"/>
            <a:ext cx="3474720" cy="457200"/>
          </a:xfrm>
          <a:prstGeom prst="roundRect">
            <a:avLst/>
          </a:prstGeom>
          <a:solidFill>
            <a:srgbClr val="FFE4D6"/>
          </a:solidFill>
          <a:ln w="1524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0" y="3474719"/>
            <a:ext cx="32918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1B3A5C"/>
                </a:solidFill>
                <a:latin typeface="Calibri"/>
              </a:rPr>
              <a:t>Burden critique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480560" y="4023360"/>
            <a:ext cx="3474720" cy="457200"/>
          </a:xfrm>
          <a:prstGeom prst="roundRect">
            <a:avLst/>
          </a:prstGeom>
          <a:solidFill>
            <a:srgbClr val="FFE4D6"/>
          </a:solidFill>
          <a:ln w="1524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0" y="4023360"/>
            <a:ext cx="32918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1B3A5C"/>
                </a:solidFill>
                <a:latin typeface="Calibri"/>
              </a:rPr>
              <a:t>Portfolio insights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480560" y="4572000"/>
            <a:ext cx="3474720" cy="457200"/>
          </a:xfrm>
          <a:prstGeom prst="roundRect">
            <a:avLst/>
          </a:prstGeom>
          <a:solidFill>
            <a:srgbClr val="FFE4D6"/>
          </a:solidFill>
          <a:ln w="1524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72000" y="4572000"/>
            <a:ext cx="32918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1B3A5C"/>
                </a:solidFill>
                <a:latin typeface="Calibri"/>
              </a:rPr>
              <a:t>Cross-grant patterns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480560" y="5120639"/>
            <a:ext cx="3474720" cy="457200"/>
          </a:xfrm>
          <a:prstGeom prst="roundRect">
            <a:avLst/>
          </a:prstGeom>
          <a:solidFill>
            <a:srgbClr val="FFE4D6"/>
          </a:solidFill>
          <a:ln w="1524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0" y="5120639"/>
            <a:ext cx="32918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1B3A5C"/>
                </a:solidFill>
                <a:latin typeface="Calibri"/>
              </a:rPr>
              <a:t>Compliance explanation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480560" y="5669280"/>
            <a:ext cx="3474720" cy="457200"/>
          </a:xfrm>
          <a:prstGeom prst="roundRect">
            <a:avLst/>
          </a:prstGeom>
          <a:solidFill>
            <a:srgbClr val="FFE4D6"/>
          </a:solidFill>
          <a:ln w="1524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72000" y="5669280"/>
            <a:ext cx="32918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1B3A5C"/>
                </a:solidFill>
                <a:latin typeface="Calibri"/>
              </a:rPr>
              <a:t>Health narrative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321040" y="1188720"/>
            <a:ext cx="3657600" cy="502920"/>
          </a:xfrm>
          <a:prstGeom prst="round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321040" y="1188720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REVIEWER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412480" y="1828800"/>
            <a:ext cx="3474720" cy="457200"/>
          </a:xfrm>
          <a:prstGeom prst="roundRect">
            <a:avLst/>
          </a:prstGeom>
          <a:solidFill>
            <a:srgbClr val="FFE4D6"/>
          </a:solidFill>
          <a:ln w="1524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503920" y="1828800"/>
            <a:ext cx="32918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1B3A5C"/>
                </a:solidFill>
                <a:latin typeface="Calibri"/>
              </a:rPr>
              <a:t>One-screen summary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412480" y="2377440"/>
            <a:ext cx="3474720" cy="457200"/>
          </a:xfrm>
          <a:prstGeom prst="roundRect">
            <a:avLst/>
          </a:prstGeom>
          <a:solidFill>
            <a:srgbClr val="FFE4D6"/>
          </a:solidFill>
          <a:ln w="1524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503920" y="2377440"/>
            <a:ext cx="32918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1B3A5C"/>
                </a:solidFill>
                <a:latin typeface="Calibri"/>
              </a:rPr>
              <a:t>Evidence extraction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412480" y="2926080"/>
            <a:ext cx="3474720" cy="457200"/>
          </a:xfrm>
          <a:prstGeom prst="roundRect">
            <a:avLst/>
          </a:prstGeom>
          <a:solidFill>
            <a:srgbClr val="FFE4D6"/>
          </a:solidFill>
          <a:ln w="1524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503920" y="2926080"/>
            <a:ext cx="32918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1B3A5C"/>
                </a:solidFill>
                <a:latin typeface="Calibri"/>
              </a:rPr>
              <a:t>Comparable signal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412480" y="3474719"/>
            <a:ext cx="3474720" cy="457200"/>
          </a:xfrm>
          <a:prstGeom prst="roundRect">
            <a:avLst/>
          </a:prstGeom>
          <a:solidFill>
            <a:srgbClr val="FFE4D6"/>
          </a:solidFill>
          <a:ln w="1524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503920" y="3474719"/>
            <a:ext cx="32918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1B3A5C"/>
                </a:solidFill>
                <a:latin typeface="Calibri"/>
              </a:rPr>
              <a:t>Decision-changers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412480" y="4023360"/>
            <a:ext cx="3474720" cy="457200"/>
          </a:xfrm>
          <a:prstGeom prst="roundRect">
            <a:avLst/>
          </a:prstGeom>
          <a:solidFill>
            <a:srgbClr val="FFE4D6"/>
          </a:solidFill>
          <a:ln w="1524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503920" y="4023360"/>
            <a:ext cx="32918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1B3A5C"/>
                </a:solidFill>
                <a:latin typeface="Calibri"/>
              </a:rPr>
              <a:t>Per-criterion rationale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412480" y="4572000"/>
            <a:ext cx="3474720" cy="457200"/>
          </a:xfrm>
          <a:prstGeom prst="roundRect">
            <a:avLst/>
          </a:prstGeom>
          <a:solidFill>
            <a:srgbClr val="FFE4D6"/>
          </a:solidFill>
          <a:ln w="1524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503920" y="4572000"/>
            <a:ext cx="32918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1B3A5C"/>
                </a:solidFill>
                <a:latin typeface="Calibri"/>
              </a:rPr>
              <a:t>Red-flag detection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8412480" y="5120639"/>
            <a:ext cx="3474720" cy="457200"/>
          </a:xfrm>
          <a:prstGeom prst="roundRect">
            <a:avLst/>
          </a:prstGeom>
          <a:solidFill>
            <a:srgbClr val="FFE4D6"/>
          </a:solidFill>
          <a:ln w="1524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503920" y="5120639"/>
            <a:ext cx="32918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1B3A5C"/>
                </a:solidFill>
                <a:latin typeface="Calibri"/>
              </a:rPr>
              <a:t>Suggest-criteria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8412480" y="5669280"/>
            <a:ext cx="3474720" cy="457200"/>
          </a:xfrm>
          <a:prstGeom prst="roundRect">
            <a:avLst/>
          </a:prstGeom>
          <a:solidFill>
            <a:srgbClr val="FFE4D6"/>
          </a:solidFill>
          <a:ln w="1524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503920" y="5669280"/>
            <a:ext cx="32918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1B3A5C"/>
                </a:solidFill>
                <a:latin typeface="Calibri"/>
              </a:rPr>
              <a:t>Audit-ready record</a:t>
            </a:r>
          </a:p>
        </p:txBody>
      </p:sp>
      <p:sp>
        <p:nvSpPr>
          <p:cNvPr id="59" name="Rectangle 58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57200" y="6675120"/>
            <a:ext cx="73152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1">
                <a:solidFill>
                  <a:srgbClr val="FFFFFF"/>
                </a:solidFill>
                <a:latin typeface="Calibri"/>
              </a:rPr>
              <a:t>Kuja  ·  AI-Powered Grant Management for the Global South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572000" y="6675120"/>
            <a:ext cx="71323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1">
                <a:solidFill>
                  <a:srgbClr val="FFFFFF"/>
                </a:solidFill>
                <a:latin typeface="Calibri"/>
              </a:rPr>
              <a:t>Market Analysis  ·  v5.0  ·  May 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47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Compliance — Simplified for Both Sides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1">
                <a:solidFill>
                  <a:srgbClr val="FFE4D6"/>
                </a:solidFill>
                <a:latin typeface="Calibri"/>
              </a:rPr>
              <a:t>The platform's flagship: NGOs are supported, donors are confident.</a:t>
            </a:r>
          </a:p>
        </p:txBody>
      </p:sp>
      <p:pic>
        <p:nvPicPr>
          <p:cNvPr id="5" name="Picture 4" descr="08_compliance_both_sid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097280"/>
            <a:ext cx="10881360" cy="4888887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675120"/>
            <a:ext cx="73152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1">
                <a:solidFill>
                  <a:srgbClr val="FFFFFF"/>
                </a:solidFill>
                <a:latin typeface="Calibri"/>
              </a:rPr>
              <a:t>Kuja  ·  AI-Powered Grant Management for the Global South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675120"/>
            <a:ext cx="71323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1">
                <a:solidFill>
                  <a:srgbClr val="FFFFFF"/>
                </a:solidFill>
                <a:latin typeface="Calibri"/>
              </a:rPr>
              <a:t>Market Analysis  ·  v5.0  ·  May 2026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47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Mobile-First, Offline-First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1">
                <a:solidFill>
                  <a:srgbClr val="FFE4D6"/>
                </a:solidFill>
                <a:latin typeface="Calibri"/>
              </a:rPr>
              <a:t>The operating reality of Global South CSOs — not an afterthought.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80160"/>
            <a:ext cx="5029200" cy="5029200"/>
          </a:xfrm>
          <a:prstGeom prst="round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5029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>
                <a:solidFill>
                  <a:srgbClr val="FFE4D6"/>
                </a:solidFill>
                <a:latin typeface="Calibri"/>
              </a:rPr>
              <a:t>WHY IT MATTERS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466344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>
                <a:solidFill>
                  <a:srgbClr val="FFFFFF"/>
                </a:solidFill>
                <a:latin typeface="Calibri"/>
              </a:rPr>
              <a:t>The primary device for most Global South NGO staff is a phone. Connectivity is intermittent. Bandwidth is limited. The platform treats this as a first-class scenario rather than a degraded mode.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572000"/>
            <a:ext cx="466344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Field officers draft, capture evidence, and complete reports without a connection — the system syncs in the background when the network returns.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720" y="1280160"/>
            <a:ext cx="2926080" cy="1554480"/>
          </a:xfrm>
          <a:prstGeom prst="roundRect">
            <a:avLst/>
          </a:prstGeom>
          <a:solidFill>
            <a:srgbClr val="FFE4D6"/>
          </a:solidFill>
          <a:ln w="1524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97880" y="1417320"/>
            <a:ext cx="2651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 i="0">
                <a:solidFill>
                  <a:srgbClr val="C2410C"/>
                </a:solidFill>
                <a:latin typeface="Calibri"/>
              </a:rPr>
              <a:t>Progressive Web App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97880" y="1783080"/>
            <a:ext cx="26517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Installable on phone home screen · same login as desktop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69680" y="1280160"/>
            <a:ext cx="2926080" cy="1554480"/>
          </a:xfrm>
          <a:prstGeom prst="roundRect">
            <a:avLst/>
          </a:prstGeom>
          <a:solidFill>
            <a:srgbClr val="FFE4D6"/>
          </a:solidFill>
          <a:ln w="1524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06840" y="1417320"/>
            <a:ext cx="2651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 i="0">
                <a:solidFill>
                  <a:srgbClr val="C2410C"/>
                </a:solidFill>
                <a:latin typeface="Calibri"/>
              </a:rPr>
              <a:t>Offline-first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06840" y="1783080"/>
            <a:ext cx="26517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Draft applications, complete assessments, write reports without a network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760720" y="3017520"/>
            <a:ext cx="2926080" cy="1554480"/>
          </a:xfrm>
          <a:prstGeom prst="roundRect">
            <a:avLst/>
          </a:prstGeom>
          <a:solidFill>
            <a:srgbClr val="FFE4D6"/>
          </a:solidFill>
          <a:ln w="1524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97880" y="3154680"/>
            <a:ext cx="2651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 i="0">
                <a:solidFill>
                  <a:srgbClr val="C2410C"/>
                </a:solidFill>
                <a:latin typeface="Calibri"/>
              </a:rPr>
              <a:t>Continuous auto-save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97880" y="3520440"/>
            <a:ext cx="26517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Every keystroke saved to local device storage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869680" y="3017520"/>
            <a:ext cx="2926080" cy="1554480"/>
          </a:xfrm>
          <a:prstGeom prst="roundRect">
            <a:avLst/>
          </a:prstGeom>
          <a:solidFill>
            <a:srgbClr val="FFE4D6"/>
          </a:solidFill>
          <a:ln w="1524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06840" y="3154680"/>
            <a:ext cx="2651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 i="0">
                <a:solidFill>
                  <a:srgbClr val="C2410C"/>
                </a:solidFill>
                <a:latin typeface="Calibri"/>
              </a:rPr>
              <a:t>Background sync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06840" y="3520440"/>
            <a:ext cx="26517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Queued uploads transmit automatically on reconnection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760720" y="4754879"/>
            <a:ext cx="2926080" cy="1554480"/>
          </a:xfrm>
          <a:prstGeom prst="roundRect">
            <a:avLst/>
          </a:prstGeom>
          <a:solidFill>
            <a:srgbClr val="FFE4D6"/>
          </a:solidFill>
          <a:ln w="1524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97880" y="4892039"/>
            <a:ext cx="2651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 i="0">
                <a:solidFill>
                  <a:srgbClr val="C2410C"/>
                </a:solidFill>
                <a:latin typeface="Calibri"/>
              </a:rPr>
              <a:t>Camera as evidence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97880" y="5257799"/>
            <a:ext cx="26517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Photographs of consent forms, beneficiaries, before/after — vision-based extraction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869680" y="4754879"/>
            <a:ext cx="2926080" cy="1554480"/>
          </a:xfrm>
          <a:prstGeom prst="roundRect">
            <a:avLst/>
          </a:prstGeom>
          <a:solidFill>
            <a:srgbClr val="FFE4D6"/>
          </a:solidFill>
          <a:ln w="1524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006840" y="4892039"/>
            <a:ext cx="2651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 i="0">
                <a:solidFill>
                  <a:srgbClr val="C2410C"/>
                </a:solidFill>
                <a:latin typeface="Calibri"/>
              </a:rPr>
              <a:t>Low-bandwidth optimised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06840" y="5257799"/>
            <a:ext cx="26517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Heavy AI work runs async; core flows work on slow 3G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6675120"/>
            <a:ext cx="73152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1">
                <a:solidFill>
                  <a:srgbClr val="FFFFFF"/>
                </a:solidFill>
                <a:latin typeface="Calibri"/>
              </a:rPr>
              <a:t>Kuja  ·  AI-Powered Grant Management for the Global South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6675120"/>
            <a:ext cx="71323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1">
                <a:solidFill>
                  <a:srgbClr val="FFFFFF"/>
                </a:solidFill>
                <a:latin typeface="Calibri"/>
              </a:rPr>
              <a:t>Market Analysis  ·  v5.0  ·  May 2026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47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Competitive Landscape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1">
                <a:solidFill>
                  <a:srgbClr val="FFE4D6"/>
                </a:solidFill>
                <a:latin typeface="Calibri"/>
              </a:rPr>
              <a:t>No competitor combines Global South focus with deep AI integration.</a:t>
            </a:r>
          </a:p>
        </p:txBody>
      </p:sp>
      <p:pic>
        <p:nvPicPr>
          <p:cNvPr id="5" name="Picture 4" descr="04_competitive_2x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005840"/>
            <a:ext cx="10881360" cy="724592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675120"/>
            <a:ext cx="73152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1">
                <a:solidFill>
                  <a:srgbClr val="FFFFFF"/>
                </a:solidFill>
                <a:latin typeface="Calibri"/>
              </a:rPr>
              <a:t>Kuja  ·  AI-Powered Grant Management for the Global South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675120"/>
            <a:ext cx="71323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1">
                <a:solidFill>
                  <a:srgbClr val="FFFFFF"/>
                </a:solidFill>
                <a:latin typeface="Calibri"/>
              </a:rPr>
              <a:t>Market Analysis  ·  v5.0  ·  May 2026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47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Most Competitors Are Donor-Centric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1">
                <a:solidFill>
                  <a:srgbClr val="FFE4D6"/>
                </a:solidFill>
                <a:latin typeface="Calibri"/>
              </a:rPr>
              <a:t>The NGO is the structurally underserved side of the market.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097280"/>
            <a:ext cx="3637178" cy="502920"/>
          </a:xfrm>
          <a:prstGeom prst="round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363717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DONOR-CENTRIC GRANT MANAGEMENT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645920"/>
            <a:ext cx="3637178" cy="3108960"/>
          </a:xfrm>
          <a:prstGeom prst="roundRect">
            <a:avLst/>
          </a:prstGeom>
          <a:solidFill>
            <a:srgbClr val="F2F6FA"/>
          </a:solidFill>
          <a:ln w="15240">
            <a:solidFill>
              <a:srgbClr val="1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783080"/>
            <a:ext cx="3317138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1">
                <a:solidFill>
                  <a:srgbClr val="1B3A5C"/>
                </a:solidFill>
                <a:latin typeface="Calibri"/>
              </a:rPr>
              <a:t>Optimised for the funder's workflow. NGOs see a submission portal — not a working partner.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5176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i="0">
                <a:solidFill>
                  <a:srgbClr val="1B3A5C"/>
                </a:solidFill>
                <a:latin typeface="Calibri"/>
              </a:rPr>
              <a:t>• Fluxx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2651760"/>
            <a:ext cx="1945538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1">
                <a:solidFill>
                  <a:srgbClr val="1F2937"/>
                </a:solidFill>
                <a:latin typeface="Calibri"/>
              </a:rPr>
              <a:t>Enterprise; deep donor lifecycle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01752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i="0">
                <a:solidFill>
                  <a:srgbClr val="1B3A5C"/>
                </a:solidFill>
                <a:latin typeface="Calibri"/>
              </a:rPr>
              <a:t>• Submittable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3017520"/>
            <a:ext cx="1945538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1">
                <a:solidFill>
                  <a:srgbClr val="1F2937"/>
                </a:solidFill>
                <a:latin typeface="Calibri"/>
              </a:rPr>
              <a:t>Proven scale (25M apps)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38328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i="0">
                <a:solidFill>
                  <a:srgbClr val="1B3A5C"/>
                </a:solidFill>
                <a:latin typeface="Calibri"/>
              </a:rPr>
              <a:t>• SmartSimple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1680" y="3383280"/>
            <a:ext cx="1945538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1">
                <a:solidFill>
                  <a:srgbClr val="1F2937"/>
                </a:solidFill>
                <a:latin typeface="Calibri"/>
              </a:rPr>
              <a:t>Configurable, 45+ languages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74904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i="0">
                <a:solidFill>
                  <a:srgbClr val="1B3A5C"/>
                </a:solidFill>
                <a:latin typeface="Calibri"/>
              </a:rPr>
              <a:t>• Foundant GLM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0" y="3749040"/>
            <a:ext cx="1945538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1">
                <a:solidFill>
                  <a:srgbClr val="1F2937"/>
                </a:solidFill>
                <a:latin typeface="Calibri"/>
              </a:rPr>
              <a:t>Donor-friendly, user-friendly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11480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i="0">
                <a:solidFill>
                  <a:srgbClr val="1B3A5C"/>
                </a:solidFill>
                <a:latin typeface="Calibri"/>
              </a:rPr>
              <a:t>• Benevity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11680" y="4114800"/>
            <a:ext cx="1945538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1">
                <a:solidFill>
                  <a:srgbClr val="1F2937"/>
                </a:solidFill>
                <a:latin typeface="Calibri"/>
              </a:rPr>
              <a:t>Corporate CSR, $14B+ donations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48056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i="0">
                <a:solidFill>
                  <a:srgbClr val="1B3A5C"/>
                </a:solidFill>
                <a:latin typeface="Calibri"/>
              </a:rPr>
              <a:t>• Bonterra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11680" y="4480560"/>
            <a:ext cx="1945538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1">
                <a:solidFill>
                  <a:srgbClr val="1F2937"/>
                </a:solidFill>
                <a:latin typeface="Calibri"/>
              </a:rPr>
              <a:t>Grantmaker product launched Feb 2026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77258" y="1097280"/>
            <a:ext cx="3637178" cy="502920"/>
          </a:xfrm>
          <a:prstGeom prst="round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77258" y="1097280"/>
            <a:ext cx="363717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NGO-DISCOVERY ONLY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77258" y="1645920"/>
            <a:ext cx="3637178" cy="3108960"/>
          </a:xfrm>
          <a:prstGeom prst="roundRect">
            <a:avLst/>
          </a:prstGeom>
          <a:solidFill>
            <a:srgbClr val="F2F6FA"/>
          </a:solidFill>
          <a:ln w="15240">
            <a:solidFill>
              <a:srgbClr val="2C5F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60138" y="1783080"/>
            <a:ext cx="3317138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1">
                <a:solidFill>
                  <a:srgbClr val="1B3A5C"/>
                </a:solidFill>
                <a:latin typeface="Calibri"/>
              </a:rPr>
              <a:t>Tools that help NGOs find grants — but stop there. No application, review, reporting, or compliance.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60138" y="265176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i="0">
                <a:solidFill>
                  <a:srgbClr val="2C5F8A"/>
                </a:solidFill>
                <a:latin typeface="Calibri"/>
              </a:rPr>
              <a:t>• Instrumentl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31738" y="2651760"/>
            <a:ext cx="1945538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1">
                <a:solidFill>
                  <a:srgbClr val="1F2937"/>
                </a:solidFill>
                <a:latin typeface="Calibri"/>
              </a:rPr>
              <a:t>450K+ funders, 31K+ RFPs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60138" y="301752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i="0">
                <a:solidFill>
                  <a:srgbClr val="2C5F8A"/>
                </a:solidFill>
                <a:latin typeface="Calibri"/>
              </a:rPr>
              <a:t>• OpenGrants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31738" y="3017520"/>
            <a:ext cx="1945538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1">
                <a:solidFill>
                  <a:srgbClr val="1F2937"/>
                </a:solidFill>
                <a:latin typeface="Calibri"/>
              </a:rPr>
              <a:t>AI matching + writer marketplace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60138" y="338328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i="0">
                <a:solidFill>
                  <a:srgbClr val="2C5F8A"/>
                </a:solidFill>
                <a:latin typeface="Calibri"/>
              </a:rPr>
              <a:t>• GrantHub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31738" y="3383280"/>
            <a:ext cx="1945538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1">
                <a:solidFill>
                  <a:srgbClr val="1F2937"/>
                </a:solidFill>
                <a:latin typeface="Calibri"/>
              </a:rPr>
              <a:t>Affordable pipeline tracker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97316" y="1097280"/>
            <a:ext cx="3637178" cy="502920"/>
          </a:xfrm>
          <a:prstGeom prst="round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097316" y="1097280"/>
            <a:ext cx="363717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TWO-SIDED / SPECIALIST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097316" y="1645920"/>
            <a:ext cx="3637178" cy="3108960"/>
          </a:xfrm>
          <a:prstGeom prst="roundRect">
            <a:avLst/>
          </a:prstGeom>
          <a:solidFill>
            <a:srgbClr val="F2F6FA"/>
          </a:solidFill>
          <a:ln w="1524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80196" y="1783080"/>
            <a:ext cx="3317138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1">
                <a:solidFill>
                  <a:srgbClr val="1B3A5C"/>
                </a:solidFill>
                <a:latin typeface="Calibri"/>
              </a:rPr>
              <a:t>Rare. None combine marketplace, trust profile, embedded AI, and compliance support.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80196" y="265176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i="0">
                <a:solidFill>
                  <a:srgbClr val="C2410C"/>
                </a:solidFill>
                <a:latin typeface="Calibri"/>
              </a:rPr>
              <a:t>• GlobalGiving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51796" y="2651760"/>
            <a:ext cx="1945538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1">
                <a:solidFill>
                  <a:srgbClr val="1F2937"/>
                </a:solidFill>
                <a:latin typeface="Calibri"/>
              </a:rPr>
              <a:t>Marketplace, 175 countries — no GM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80196" y="301752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i="0">
                <a:solidFill>
                  <a:srgbClr val="C2410C"/>
                </a:solidFill>
                <a:latin typeface="Calibri"/>
              </a:rPr>
              <a:t>• UN Partner Portal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51796" y="3017520"/>
            <a:ext cx="1945538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1">
                <a:solidFill>
                  <a:srgbClr val="1F2937"/>
                </a:solidFill>
                <a:latin typeface="Calibri"/>
              </a:rPr>
              <a:t>UN ↔ CSO only, no AI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80196" y="338328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i="0">
                <a:solidFill>
                  <a:srgbClr val="C2410C"/>
                </a:solidFill>
                <a:latin typeface="Calibri"/>
              </a:rPr>
              <a:t>• TechSoup STEP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51796" y="3383280"/>
            <a:ext cx="1945538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1">
                <a:solidFill>
                  <a:srgbClr val="1F2937"/>
                </a:solidFill>
                <a:latin typeface="Calibri"/>
              </a:rPr>
              <a:t>Assessment only, no GM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80196" y="374904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i="0">
                <a:solidFill>
                  <a:srgbClr val="C2410C"/>
                </a:solidFill>
                <a:latin typeface="Calibri"/>
              </a:rPr>
              <a:t>• Xapien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51796" y="3749040"/>
            <a:ext cx="1945538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1">
                <a:solidFill>
                  <a:srgbClr val="1F2937"/>
                </a:solidFill>
                <a:latin typeface="Calibri"/>
              </a:rPr>
              <a:t>Due diligence specialist, no GM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57200" y="4937760"/>
            <a:ext cx="11277295" cy="1508760"/>
          </a:xfrm>
          <a:prstGeom prst="round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0080" y="5102352"/>
            <a:ext cx="10911535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KUJA — THE ONLY DUAL-SIDED PLATFORM WITH NGO-FIRST AI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0080" y="5577840"/>
            <a:ext cx="10911535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 i="1">
                <a:solidFill>
                  <a:srgbClr val="FFFFFF"/>
                </a:solidFill>
                <a:latin typeface="Calibri"/>
              </a:rPr>
              <a:t>Marketplace · Two-pillar Organisation Trust Profile · Embedded AI Intelligence working partner for NGOs AND donors · Compliance simplified for both sides · Mobile + offline · ERP. No competitor combines these — most never tried to serve the NGO at all.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57200" y="6675120"/>
            <a:ext cx="73152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1">
                <a:solidFill>
                  <a:srgbClr val="FFFFFF"/>
                </a:solidFill>
                <a:latin typeface="Calibri"/>
              </a:rPr>
              <a:t>Kuja  ·  AI-Powered Grant Management for the Global South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0" y="6675120"/>
            <a:ext cx="71323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1">
                <a:solidFill>
                  <a:srgbClr val="FFFFFF"/>
                </a:solidFill>
                <a:latin typeface="Calibri"/>
              </a:rPr>
              <a:t>Market Analysis  ·  v5.0  ·  May 2026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47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Core Feature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1">
                <a:solidFill>
                  <a:srgbClr val="FFE4D6"/>
                </a:solidFill>
                <a:latin typeface="Calibri"/>
              </a:rPr>
              <a:t>Y = fully supported · P = partial · — = not available. Kuja column highlighted.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960120"/>
          <a:ext cx="11460168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952461"/>
                <a:gridCol w="952461"/>
                <a:gridCol w="952461"/>
                <a:gridCol w="952461"/>
                <a:gridCol w="952461"/>
                <a:gridCol w="952461"/>
                <a:gridCol w="952461"/>
                <a:gridCol w="952461"/>
              </a:tblGrid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Feature</a:t>
                      </a:r>
                    </a:p>
                  </a:txBody>
                  <a:tcPr marL="54864" marR="54864" marT="27432" marB="27432" anchor="ctr">
                    <a:solidFill>
                      <a:srgbClr val="1B3A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Kuja</a:t>
                      </a:r>
                    </a:p>
                  </a:txBody>
                  <a:tcPr marL="54864" marR="54864" marT="27432" marB="27432" anchor="ctr">
                    <a:solidFill>
                      <a:srgbClr val="C2410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Fluxx</a:t>
                      </a:r>
                    </a:p>
                  </a:txBody>
                  <a:tcPr marL="54864" marR="54864" marT="27432" marB="27432" anchor="ctr">
                    <a:solidFill>
                      <a:srgbClr val="1B3A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Submit-
table</a:t>
                      </a:r>
                    </a:p>
                  </a:txBody>
                  <a:tcPr marL="54864" marR="54864" marT="27432" marB="27432" anchor="ctr">
                    <a:solidFill>
                      <a:srgbClr val="1B3A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Smart-
Simple</a:t>
                      </a:r>
                    </a:p>
                  </a:txBody>
                  <a:tcPr marL="54864" marR="54864" marT="27432" marB="27432" anchor="ctr">
                    <a:solidFill>
                      <a:srgbClr val="1B3A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Bonterra</a:t>
                      </a:r>
                    </a:p>
                  </a:txBody>
                  <a:tcPr marL="54864" marR="54864" marT="27432" marB="27432" anchor="ctr">
                    <a:solidFill>
                      <a:srgbClr val="1B3A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UN Partner
Portal</a:t>
                      </a:r>
                    </a:p>
                  </a:txBody>
                  <a:tcPr marL="54864" marR="54864" marT="27432" marB="27432" anchor="ctr">
                    <a:solidFill>
                      <a:srgbClr val="1B3A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Global-
Giving</a:t>
                      </a:r>
                    </a:p>
                  </a:txBody>
                  <a:tcPr marL="54864" marR="54864" marT="27432" marB="27432" anchor="ctr">
                    <a:solidFill>
                      <a:srgbClr val="1B3A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Instrumentl</a:t>
                      </a:r>
                    </a:p>
                  </a:txBody>
                  <a:tcPr marL="54864" marR="54864" marT="27432" marB="27432" anchor="ctr">
                    <a:solidFill>
                      <a:srgbClr val="1B3A5C"/>
                    </a:solidFill>
                  </a:tcPr>
                </a:tc>
              </a:tr>
              <a:tr h="27686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1F2937"/>
                          </a:solidFill>
                          <a:latin typeface="Calibri"/>
                        </a:rPr>
                        <a:t>Embedded AI Intelligence (action-oriented)</a:t>
                      </a:r>
                    </a:p>
                  </a:txBody>
                  <a:tcPr marL="54864" marR="54864" marT="27432" marB="27432" anchor="ctr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Y</a:t>
                      </a:r>
                    </a:p>
                  </a:txBody>
                  <a:tcPr marL="54864" marR="54864" marT="27432" marB="27432" anchor="ctr">
                    <a:solidFill>
                      <a:srgbClr val="C2410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59E0B"/>
                          </a:solidFill>
                          <a:latin typeface="Calibri"/>
                        </a:rPr>
                        <a:t>P</a:t>
                      </a:r>
                    </a:p>
                  </a:txBody>
                  <a:tcPr marL="54864" marR="54864" marT="27432" marB="27432" anchor="ctr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59E0B"/>
                          </a:solidFill>
                          <a:latin typeface="Calibri"/>
                        </a:rPr>
                        <a:t>P</a:t>
                      </a:r>
                    </a:p>
                  </a:txBody>
                  <a:tcPr marL="54864" marR="54864" marT="27432" marB="27432" anchor="ctr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59E0B"/>
                          </a:solidFill>
                          <a:latin typeface="Calibri"/>
                        </a:rPr>
                        <a:t>P</a:t>
                      </a:r>
                    </a:p>
                  </a:txBody>
                  <a:tcPr marL="54864" marR="54864" marT="27432" marB="27432" anchor="ctr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59E0B"/>
                          </a:solidFill>
                          <a:latin typeface="Calibri"/>
                        </a:rPr>
                        <a:t>P</a:t>
                      </a:r>
                    </a:p>
                  </a:txBody>
                  <a:tcPr marL="54864" marR="54864" marT="27432" marB="27432" anchor="ctr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64748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64748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59E0B"/>
                          </a:solidFill>
                          <a:latin typeface="Calibri"/>
                        </a:rPr>
                        <a:t>P</a:t>
                      </a:r>
                    </a:p>
                  </a:txBody>
                  <a:tcPr marL="54864" marR="54864" marT="27432" marB="27432" anchor="ctr">
                    <a:solidFill>
                      <a:srgbClr val="F2F6FA"/>
                    </a:solidFill>
                  </a:tcPr>
                </a:tc>
              </a:tr>
              <a:tr h="27686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1F2937"/>
                          </a:solidFill>
                          <a:latin typeface="Calibri"/>
                        </a:rPr>
                        <a:t>Two-Pillar Organisation Trust Profile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Y</a:t>
                      </a:r>
                    </a:p>
                  </a:txBody>
                  <a:tcPr marL="54864" marR="54864" marT="27432" marB="27432" anchor="ctr">
                    <a:solidFill>
                      <a:srgbClr val="C2410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64748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64748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64748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64748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64748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64748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64748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7686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1F2937"/>
                          </a:solidFill>
                          <a:latin typeface="Calibri"/>
                        </a:rPr>
                        <a:t>Capacity Passporting (one assessment, many frameworks)</a:t>
                      </a:r>
                    </a:p>
                  </a:txBody>
                  <a:tcPr marL="54864" marR="54864" marT="27432" marB="27432" anchor="ctr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Y</a:t>
                      </a:r>
                    </a:p>
                  </a:txBody>
                  <a:tcPr marL="54864" marR="54864" marT="27432" marB="27432" anchor="ctr">
                    <a:solidFill>
                      <a:srgbClr val="C2410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64748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64748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64748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64748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59E0B"/>
                          </a:solidFill>
                          <a:latin typeface="Calibri"/>
                        </a:rPr>
                        <a:t>P</a:t>
                      </a:r>
                    </a:p>
                  </a:txBody>
                  <a:tcPr marL="54864" marR="54864" marT="27432" marB="27432" anchor="ctr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64748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64748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2F6FA"/>
                    </a:solidFill>
                  </a:tcPr>
                </a:tc>
              </a:tr>
              <a:tr h="27686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1F2937"/>
                          </a:solidFill>
                          <a:latin typeface="Calibri"/>
                        </a:rPr>
                        <a:t>Custom Donor Framework Builder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Y</a:t>
                      </a:r>
                    </a:p>
                  </a:txBody>
                  <a:tcPr marL="54864" marR="54864" marT="27432" marB="27432" anchor="ctr">
                    <a:solidFill>
                      <a:srgbClr val="C2410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59E0B"/>
                          </a:solidFill>
                          <a:latin typeface="Calibri"/>
                        </a:rPr>
                        <a:t>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59E0B"/>
                          </a:solidFill>
                          <a:latin typeface="Calibri"/>
                        </a:rPr>
                        <a:t>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6A34A"/>
                          </a:solidFill>
                          <a:latin typeface="Calibri"/>
                        </a:rPr>
                        <a:t>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59E0B"/>
                          </a:solidFill>
                          <a:latin typeface="Calibri"/>
                        </a:rPr>
                        <a:t>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64748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64748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64748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7686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1F2937"/>
                          </a:solidFill>
                          <a:latin typeface="Calibri"/>
                        </a:rPr>
                        <a:t>AI Application Co-Author with Provenance</a:t>
                      </a:r>
                    </a:p>
                  </a:txBody>
                  <a:tcPr marL="54864" marR="54864" marT="27432" marB="27432" anchor="ctr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Y</a:t>
                      </a:r>
                    </a:p>
                  </a:txBody>
                  <a:tcPr marL="54864" marR="54864" marT="27432" marB="27432" anchor="ctr">
                    <a:solidFill>
                      <a:srgbClr val="C2410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64748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64748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64748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64748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64748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64748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64748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2F6FA"/>
                    </a:solidFill>
                  </a:tcPr>
                </a:tc>
              </a:tr>
              <a:tr h="27686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1F2937"/>
                          </a:solidFill>
                          <a:latin typeface="Calibri"/>
                        </a:rPr>
                        <a:t>Real-Time Document Scoring on Upload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Y</a:t>
                      </a:r>
                    </a:p>
                  </a:txBody>
                  <a:tcPr marL="54864" marR="54864" marT="27432" marB="27432" anchor="ctr">
                    <a:solidFill>
                      <a:srgbClr val="C2410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59E0B"/>
                          </a:solidFill>
                          <a:latin typeface="Calibri"/>
                        </a:rPr>
                        <a:t>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59E0B"/>
                          </a:solidFill>
                          <a:latin typeface="Calibri"/>
                        </a:rPr>
                        <a:t>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59E0B"/>
                          </a:solidFill>
                          <a:latin typeface="Calibri"/>
                        </a:rPr>
                        <a:t>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59E0B"/>
                          </a:solidFill>
                          <a:latin typeface="Calibri"/>
                        </a:rPr>
                        <a:t>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64748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64748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64748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7686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1F2937"/>
                          </a:solidFill>
                          <a:latin typeface="Calibri"/>
                        </a:rPr>
                        <a:t>Pre-Submission Readiness + Compliance Pre-Empt</a:t>
                      </a:r>
                    </a:p>
                  </a:txBody>
                  <a:tcPr marL="54864" marR="54864" marT="27432" marB="27432" anchor="ctr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Y</a:t>
                      </a:r>
                    </a:p>
                  </a:txBody>
                  <a:tcPr marL="54864" marR="54864" marT="27432" marB="27432" anchor="ctr">
                    <a:solidFill>
                      <a:srgbClr val="C2410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64748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64748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64748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64748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64748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64748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64748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2F6FA"/>
                    </a:solidFill>
                  </a:tcPr>
                </a:tc>
              </a:tr>
              <a:tr h="27686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1F2937"/>
                          </a:solidFill>
                          <a:latin typeface="Calibri"/>
                        </a:rPr>
                        <a:t>Reviewer One-Screen Summary + Evidence Extraction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Y</a:t>
                      </a:r>
                    </a:p>
                  </a:txBody>
                  <a:tcPr marL="54864" marR="54864" marT="27432" marB="27432" anchor="ctr">
                    <a:solidFill>
                      <a:srgbClr val="C2410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64748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64748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64748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64748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64748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64748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64748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7686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1F2937"/>
                          </a:solidFill>
                          <a:latin typeface="Calibri"/>
                        </a:rPr>
                        <a:t>Sanctions / AML / CTF Screening</a:t>
                      </a:r>
                    </a:p>
                  </a:txBody>
                  <a:tcPr marL="54864" marR="54864" marT="27432" marB="27432" anchor="ctr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Y</a:t>
                      </a:r>
                    </a:p>
                  </a:txBody>
                  <a:tcPr marL="54864" marR="54864" marT="27432" marB="27432" anchor="ctr">
                    <a:solidFill>
                      <a:srgbClr val="C2410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64748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64748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64748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64748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64748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64748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64748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2F6FA"/>
                    </a:solidFill>
                  </a:tcPr>
                </a:tc>
              </a:tr>
              <a:tr h="27686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1F2937"/>
                          </a:solidFill>
                          <a:latin typeface="Calibri"/>
                        </a:rPr>
                        <a:t>Govt. Registry &amp; Standing Verification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Y</a:t>
                      </a:r>
                    </a:p>
                  </a:txBody>
                  <a:tcPr marL="54864" marR="54864" marT="27432" marB="27432" anchor="ctr">
                    <a:solidFill>
                      <a:srgbClr val="C2410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64748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64748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64748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64748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64748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64748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64748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7686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1F2937"/>
                          </a:solidFill>
                          <a:latin typeface="Calibri"/>
                        </a:rPr>
                        <a:t>Beneficial Ownership + Adverse Media</a:t>
                      </a:r>
                    </a:p>
                  </a:txBody>
                  <a:tcPr marL="54864" marR="54864" marT="27432" marB="27432" anchor="ctr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Y</a:t>
                      </a:r>
                    </a:p>
                  </a:txBody>
                  <a:tcPr marL="54864" marR="54864" marT="27432" marB="27432" anchor="ctr">
                    <a:solidFill>
                      <a:srgbClr val="C2410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64748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64748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64748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64748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64748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64748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64748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2F6FA"/>
                    </a:solidFill>
                  </a:tcPr>
                </a:tc>
              </a:tr>
              <a:tr h="27686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1F2937"/>
                          </a:solidFill>
                          <a:latin typeface="Calibri"/>
                        </a:rPr>
                        <a:t>AI Compliance Calendar + Reminders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Y</a:t>
                      </a:r>
                    </a:p>
                  </a:txBody>
                  <a:tcPr marL="54864" marR="54864" marT="27432" marB="27432" anchor="ctr">
                    <a:solidFill>
                      <a:srgbClr val="C2410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64748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64748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59E0B"/>
                          </a:solidFill>
                          <a:latin typeface="Calibri"/>
                        </a:rPr>
                        <a:t>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64748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64748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64748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64748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7686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1F2937"/>
                          </a:solidFill>
                          <a:latin typeface="Calibri"/>
                        </a:rPr>
                        <a:t>AI Report Drafting + Donor Pre-Flight</a:t>
                      </a:r>
                    </a:p>
                  </a:txBody>
                  <a:tcPr marL="54864" marR="54864" marT="27432" marB="27432" anchor="ctr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Y</a:t>
                      </a:r>
                    </a:p>
                  </a:txBody>
                  <a:tcPr marL="54864" marR="54864" marT="27432" marB="27432" anchor="ctr">
                    <a:solidFill>
                      <a:srgbClr val="C2410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64748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64748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64748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64748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64748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64748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64748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2F6FA"/>
                    </a:solidFill>
                  </a:tcPr>
                </a:tc>
              </a:tr>
              <a:tr h="27686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1F2937"/>
                          </a:solidFill>
                          <a:latin typeface="Calibri"/>
                        </a:rPr>
                        <a:t>4-Pillar Health + Slips Forecast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Y</a:t>
                      </a:r>
                    </a:p>
                  </a:txBody>
                  <a:tcPr marL="54864" marR="54864" marT="27432" marB="27432" anchor="ctr">
                    <a:solidFill>
                      <a:srgbClr val="C2410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64748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64748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64748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64748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64748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64748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64748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7686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1F2937"/>
                          </a:solidFill>
                          <a:latin typeface="Calibri"/>
                        </a:rPr>
                        <a:t>Two-Sided Marketplace + Match Scoring</a:t>
                      </a:r>
                    </a:p>
                  </a:txBody>
                  <a:tcPr marL="54864" marR="54864" marT="27432" marB="27432" anchor="ctr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Y</a:t>
                      </a:r>
                    </a:p>
                  </a:txBody>
                  <a:tcPr marL="54864" marR="54864" marT="27432" marB="27432" anchor="ctr">
                    <a:solidFill>
                      <a:srgbClr val="C2410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64748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64748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64748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64748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59E0B"/>
                          </a:solidFill>
                          <a:latin typeface="Calibri"/>
                        </a:rPr>
                        <a:t>P</a:t>
                      </a:r>
                    </a:p>
                  </a:txBody>
                  <a:tcPr marL="54864" marR="54864" marT="27432" marB="27432" anchor="ctr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6A34A"/>
                          </a:solidFill>
                          <a:latin typeface="Calibri"/>
                        </a:rPr>
                        <a:t>Y</a:t>
                      </a:r>
                    </a:p>
                  </a:txBody>
                  <a:tcPr marL="54864" marR="54864" marT="27432" marB="27432" anchor="ctr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6A34A"/>
                          </a:solidFill>
                          <a:latin typeface="Calibri"/>
                        </a:rPr>
                        <a:t>Y</a:t>
                      </a:r>
                    </a:p>
                  </a:txBody>
                  <a:tcPr marL="54864" marR="54864" marT="27432" marB="27432" anchor="ctr">
                    <a:solidFill>
                      <a:srgbClr val="F2F6FA"/>
                    </a:solidFill>
                  </a:tcPr>
                </a:tc>
              </a:tr>
              <a:tr h="27686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1F2937"/>
                          </a:solidFill>
                          <a:latin typeface="Calibri"/>
                        </a:rPr>
                        <a:t>Mobile-First PWA + Offline-First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Y</a:t>
                      </a:r>
                    </a:p>
                  </a:txBody>
                  <a:tcPr marL="54864" marR="54864" marT="27432" marB="27432" anchor="ctr">
                    <a:solidFill>
                      <a:srgbClr val="C2410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64748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64748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64748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64748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59E0B"/>
                          </a:solidFill>
                          <a:latin typeface="Calibri"/>
                        </a:rPr>
                        <a:t>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6A34A"/>
                          </a:solidFill>
                          <a:latin typeface="Calibri"/>
                        </a:rPr>
                        <a:t>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6A34A"/>
                          </a:solidFill>
                          <a:latin typeface="Calibri"/>
                        </a:rPr>
                        <a:t>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7686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1F2937"/>
                          </a:solidFill>
                          <a:latin typeface="Calibri"/>
                        </a:rPr>
                        <a:t>Six-Language UI with Role-Aware Tone</a:t>
                      </a:r>
                    </a:p>
                  </a:txBody>
                  <a:tcPr marL="54864" marR="54864" marT="27432" marB="27432" anchor="ctr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Y</a:t>
                      </a:r>
                    </a:p>
                  </a:txBody>
                  <a:tcPr marL="54864" marR="54864" marT="27432" marB="27432" anchor="ctr">
                    <a:solidFill>
                      <a:srgbClr val="C2410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59E0B"/>
                          </a:solidFill>
                          <a:latin typeface="Calibri"/>
                        </a:rPr>
                        <a:t>P</a:t>
                      </a:r>
                    </a:p>
                  </a:txBody>
                  <a:tcPr marL="54864" marR="54864" marT="27432" marB="27432" anchor="ctr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64748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6A34A"/>
                          </a:solidFill>
                          <a:latin typeface="Calibri"/>
                        </a:rPr>
                        <a:t>Y</a:t>
                      </a:r>
                    </a:p>
                  </a:txBody>
                  <a:tcPr marL="54864" marR="54864" marT="27432" marB="27432" anchor="ctr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64748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6A34A"/>
                          </a:solidFill>
                          <a:latin typeface="Calibri"/>
                        </a:rPr>
                        <a:t>Y</a:t>
                      </a:r>
                    </a:p>
                  </a:txBody>
                  <a:tcPr marL="54864" marR="54864" marT="27432" marB="27432" anchor="ctr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59E0B"/>
                          </a:solidFill>
                          <a:latin typeface="Calibri"/>
                        </a:rPr>
                        <a:t>P</a:t>
                      </a:r>
                    </a:p>
                  </a:txBody>
                  <a:tcPr marL="54864" marR="54864" marT="27432" marB="27432" anchor="ctr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64748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2F6FA"/>
                    </a:solidFill>
                  </a:tcPr>
                </a:tc>
              </a:tr>
              <a:tr h="27686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1F2937"/>
                          </a:solidFill>
                          <a:latin typeface="Calibri"/>
                        </a:rPr>
                        <a:t>Audit Chain + 2FA + GDPR-Erasure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Y</a:t>
                      </a:r>
                    </a:p>
                  </a:txBody>
                  <a:tcPr marL="54864" marR="54864" marT="27432" marB="27432" anchor="ctr">
                    <a:solidFill>
                      <a:srgbClr val="C2410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6A34A"/>
                          </a:solidFill>
                          <a:latin typeface="Calibri"/>
                        </a:rPr>
                        <a:t>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6A34A"/>
                          </a:solidFill>
                          <a:latin typeface="Calibri"/>
                        </a:rPr>
                        <a:t>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6A34A"/>
                          </a:solidFill>
                          <a:latin typeface="Calibri"/>
                        </a:rPr>
                        <a:t>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59E0B"/>
                          </a:solidFill>
                          <a:latin typeface="Calibri"/>
                        </a:rPr>
                        <a:t>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6A34A"/>
                          </a:solidFill>
                          <a:latin typeface="Calibri"/>
                        </a:rPr>
                        <a:t>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64748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64748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6446520"/>
            <a:ext cx="11460175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C2410C"/>
                </a:solidFill>
                <a:latin typeface="Calibri"/>
              </a:rPr>
              <a:t>Kuja delivers every feature fully. Closest competitor (Fluxx / SmartSimple) covers fewer than half — and none on the differentiators specific to Global South NGOs.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47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Feature Coverage vs. Competitors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1">
                <a:solidFill>
                  <a:srgbClr val="FFE4D6"/>
                </a:solidFill>
                <a:latin typeface="Calibri"/>
              </a:rPr>
              <a:t>40/40 fully supported · 17 differentiators no competitor offers.</a:t>
            </a:r>
          </a:p>
        </p:txBody>
      </p:sp>
      <p:pic>
        <p:nvPicPr>
          <p:cNvPr id="5" name="Picture 4" descr="05_feature_cou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097280"/>
            <a:ext cx="10881360" cy="6166991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675120"/>
            <a:ext cx="73152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1">
                <a:solidFill>
                  <a:srgbClr val="FFFFFF"/>
                </a:solidFill>
                <a:latin typeface="Calibri"/>
              </a:rPr>
              <a:t>Kuja  ·  AI-Powered Grant Management for the Global South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675120"/>
            <a:ext cx="71323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1">
                <a:solidFill>
                  <a:srgbClr val="FFFFFF"/>
                </a:solidFill>
                <a:latin typeface="Calibri"/>
              </a:rPr>
              <a:t>Market Analysis  ·  v5.0  ·  May 2026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47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Competitive Advantages — Category-Defining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1">
                <a:solidFill>
                  <a:srgbClr val="FFE4D6"/>
                </a:solidFill>
                <a:latin typeface="Calibri"/>
              </a:rPr>
              <a:t>Three commitments no competitor matches.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097280"/>
            <a:ext cx="11247120" cy="1737360"/>
          </a:xfrm>
          <a:prstGeom prst="roundRect">
            <a:avLst/>
          </a:prstGeom>
          <a:solidFill>
            <a:srgbClr val="F2F6FA"/>
          </a:solidFill>
          <a:ln w="1524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097280" cy="1737360"/>
          </a:xfrm>
          <a:prstGeom prst="round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097280"/>
            <a:ext cx="1097280" cy="1737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1280160"/>
            <a:ext cx="9784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C2410C"/>
                </a:solidFill>
                <a:latin typeface="Calibri"/>
              </a:rPr>
              <a:t>Embedded AI Intelligence, Not a Chatbot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37360" y="1737360"/>
            <a:ext cx="97840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AI is woven through every workflow as a working partner. Grounded in user data, traceable to sources, action-oriented (an editable starting point), and falls back gracefully when the AI service is unavailable. Competitors offering AI today provide chatbots or analytics dashboards — not a working AI partner.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971800"/>
            <a:ext cx="11247120" cy="1737360"/>
          </a:xfrm>
          <a:prstGeom prst="roundRect">
            <a:avLst/>
          </a:prstGeom>
          <a:solidFill>
            <a:srgbClr val="F2F6FA"/>
          </a:solidFill>
          <a:ln w="1524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57200" y="2971800"/>
            <a:ext cx="1097280" cy="1737360"/>
          </a:xfrm>
          <a:prstGeom prst="round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2971800"/>
            <a:ext cx="1097280" cy="1737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37360" y="3154680"/>
            <a:ext cx="9784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C2410C"/>
                </a:solidFill>
                <a:latin typeface="Calibri"/>
              </a:rPr>
              <a:t>Two-Pillar Organisation Trust Profile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37360" y="3611880"/>
            <a:ext cx="97840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Every NGO presents Capacity + Due Diligence side by side, both passported across applications. No competitor offers both pillars together. No competitor offers passporting on the due-diligence side.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846320"/>
            <a:ext cx="11247120" cy="1737360"/>
          </a:xfrm>
          <a:prstGeom prst="roundRect">
            <a:avLst/>
          </a:prstGeom>
          <a:solidFill>
            <a:srgbClr val="F2F6FA"/>
          </a:solidFill>
          <a:ln w="1524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57200" y="4846320"/>
            <a:ext cx="1097280" cy="1737360"/>
          </a:xfrm>
          <a:prstGeom prst="round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4846320"/>
            <a:ext cx="1097280" cy="1737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37360" y="5029200"/>
            <a:ext cx="9784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C2410C"/>
                </a:solidFill>
                <a:latin typeface="Calibri"/>
              </a:rPr>
              <a:t>Compliance Simplified for Both Sides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5486400"/>
            <a:ext cx="97840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NGOs get an AI compliance working partner (extract obligations → calendar → reminders → drafting → scoring → pre-flight → revision guidance). Donors get pre-assessed scored reports, 4-pillar health, trajectory forecasting, slips-in-N-days warnings, and a risk register. The donor is never surprised; the NGO is never blocked.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6675120"/>
            <a:ext cx="73152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1">
                <a:solidFill>
                  <a:srgbClr val="FFFFFF"/>
                </a:solidFill>
                <a:latin typeface="Calibri"/>
              </a:rPr>
              <a:t>Kuja  ·  AI-Powered Grant Management for the Global South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6675120"/>
            <a:ext cx="71323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1">
                <a:solidFill>
                  <a:srgbClr val="FFFFFF"/>
                </a:solidFill>
                <a:latin typeface="Calibri"/>
              </a:rPr>
              <a:t>Market Analysis  ·  v5.0  ·  May 2026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47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Competitive Advantages — Structural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1">
                <a:solidFill>
                  <a:srgbClr val="FFE4D6"/>
                </a:solidFill>
                <a:latin typeface="Calibri"/>
              </a:rPr>
              <a:t>Seven additional structural strengths.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097280"/>
            <a:ext cx="2743200" cy="2468880"/>
          </a:xfrm>
          <a:prstGeom prst="roundRect">
            <a:avLst/>
          </a:prstGeom>
          <a:solidFill>
            <a:srgbClr val="F2F6FA"/>
          </a:solidFill>
          <a:ln w="15240">
            <a:solidFill>
              <a:srgbClr val="1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234440"/>
            <a:ext cx="548640" cy="548640"/>
          </a:xfrm>
          <a:prstGeom prst="round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23444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1280160"/>
            <a:ext cx="17830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1B3A5C"/>
                </a:solidFill>
                <a:latin typeface="Calibri"/>
              </a:rPr>
              <a:t>Only End-to-End Platform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11680"/>
            <a:ext cx="24688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Marketplace, trust profile, AI applications, dual-scoring review, AI-supported reporting + health, ERP — single platform.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1097280"/>
            <a:ext cx="2743200" cy="2468880"/>
          </a:xfrm>
          <a:prstGeom prst="roundRect">
            <a:avLst/>
          </a:prstGeom>
          <a:solidFill>
            <a:srgbClr val="F2F6FA"/>
          </a:solidFill>
          <a:ln w="15240">
            <a:solidFill>
              <a:srgbClr val="1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520440" y="1234440"/>
            <a:ext cx="548640" cy="548640"/>
          </a:xfrm>
          <a:prstGeom prst="round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20440" y="123444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40" y="1280160"/>
            <a:ext cx="17830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1B3A5C"/>
                </a:solidFill>
                <a:latin typeface="Calibri"/>
              </a:rPr>
              <a:t>Mobile-First, Offline-First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440" y="2011680"/>
            <a:ext cx="24688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Progressive web app · auto-save · background sync · vision-based evidence extraction.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1097280"/>
            <a:ext cx="2743200" cy="2468880"/>
          </a:xfrm>
          <a:prstGeom prst="roundRect">
            <a:avLst/>
          </a:prstGeom>
          <a:solidFill>
            <a:srgbClr val="F2F6FA"/>
          </a:solidFill>
          <a:ln w="15240">
            <a:solidFill>
              <a:srgbClr val="1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46520" y="1234440"/>
            <a:ext cx="548640" cy="548640"/>
          </a:xfrm>
          <a:prstGeom prst="round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123444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0" y="1280160"/>
            <a:ext cx="17830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1B3A5C"/>
                </a:solidFill>
                <a:latin typeface="Calibri"/>
              </a:rPr>
              <a:t>Built By and For the Global South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2011680"/>
            <a:ext cx="24688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Six languages at parity with role-aware tone · Adeso's 30+ years of humanitarian experience.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35440" y="1097280"/>
            <a:ext cx="2743200" cy="2468880"/>
          </a:xfrm>
          <a:prstGeom prst="roundRect">
            <a:avLst/>
          </a:prstGeom>
          <a:solidFill>
            <a:srgbClr val="F2F6FA"/>
          </a:solidFill>
          <a:ln w="15240">
            <a:solidFill>
              <a:srgbClr val="1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372600" y="1234440"/>
            <a:ext cx="548640" cy="548640"/>
          </a:xfrm>
          <a:prstGeom prst="round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72600" y="123444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0" y="1280160"/>
            <a:ext cx="17830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1B3A5C"/>
                </a:solidFill>
                <a:latin typeface="Calibri"/>
              </a:rPr>
              <a:t>Dual-Sided Network Effects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72600" y="2011680"/>
            <a:ext cx="24688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CSOs gain visibility, AI working partner, calendar of obligations. Donors gain vetted pipeline + portfolio health.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3749040"/>
            <a:ext cx="2743200" cy="2468880"/>
          </a:xfrm>
          <a:prstGeom prst="roundRect">
            <a:avLst/>
          </a:prstGeom>
          <a:solidFill>
            <a:srgbClr val="F2F6FA"/>
          </a:solidFill>
          <a:ln w="15240">
            <a:solidFill>
              <a:srgbClr val="1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94360" y="3886200"/>
            <a:ext cx="548640" cy="548640"/>
          </a:xfrm>
          <a:prstGeom prst="round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388620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3931920"/>
            <a:ext cx="17830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1B3A5C"/>
                </a:solidFill>
                <a:latin typeface="Calibri"/>
              </a:rPr>
              <a:t>Auditable by Construction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360" y="4663440"/>
            <a:ext cx="24688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Provenance on every AI claim · tamper-evident hash-chained audit log · donor override transparency.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383280" y="3749040"/>
            <a:ext cx="2743200" cy="2468880"/>
          </a:xfrm>
          <a:prstGeom prst="roundRect">
            <a:avLst/>
          </a:prstGeom>
          <a:solidFill>
            <a:srgbClr val="F2F6FA"/>
          </a:solidFill>
          <a:ln w="15240">
            <a:solidFill>
              <a:srgbClr val="1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3520440" y="3886200"/>
            <a:ext cx="548640" cy="548640"/>
          </a:xfrm>
          <a:prstGeom prst="round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520440" y="388620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06240" y="3931920"/>
            <a:ext cx="17830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1B3A5C"/>
                </a:solidFill>
                <a:latin typeface="Calibri"/>
              </a:rPr>
              <a:t>Seamless ERP Conversion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0440" y="4663440"/>
            <a:ext cx="24688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KujaBuild (Odoo 17) onboards seamlessly because most data is already captured in earlier stages.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309360" y="3749040"/>
            <a:ext cx="2743200" cy="2468880"/>
          </a:xfrm>
          <a:prstGeom prst="roundRect">
            <a:avLst/>
          </a:prstGeom>
          <a:solidFill>
            <a:srgbClr val="F2F6FA"/>
          </a:solidFill>
          <a:ln w="15240">
            <a:solidFill>
              <a:srgbClr val="1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6446520" y="3886200"/>
            <a:ext cx="548640" cy="548640"/>
          </a:xfrm>
          <a:prstGeom prst="round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46520" y="388620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132320" y="3931920"/>
            <a:ext cx="17830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1B3A5C"/>
                </a:solidFill>
                <a:latin typeface="Calibri"/>
              </a:rPr>
              <a:t>Credibility of Adeso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46520" y="4663440"/>
            <a:ext cx="24688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Somali-founded · NEAR Network co-founder · three decades of African humanitarian impact.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7200" y="6675120"/>
            <a:ext cx="73152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1">
                <a:solidFill>
                  <a:srgbClr val="FFFFFF"/>
                </a:solidFill>
                <a:latin typeface="Calibri"/>
              </a:rPr>
              <a:t>Kuja  ·  AI-Powered Grant Management for the Global South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72000" y="6675120"/>
            <a:ext cx="71323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1">
                <a:solidFill>
                  <a:srgbClr val="FFFFFF"/>
                </a:solidFill>
                <a:latin typeface="Calibri"/>
              </a:rPr>
              <a:t>Market Analysis  ·  v5.0  ·  May 2026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47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Target Market Segments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1">
                <a:solidFill>
                  <a:srgbClr val="FFE4D6"/>
                </a:solidFill>
                <a:latin typeface="Calibri"/>
              </a:rPr>
              <a:t>Five segments · phased geographic expansion · dual-sided model.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188720"/>
            <a:ext cx="10515600" cy="868680"/>
          </a:xfrm>
          <a:prstGeom prst="roundRect">
            <a:avLst/>
          </a:prstGeom>
          <a:solidFill>
            <a:srgbClr val="F2F6FA"/>
          </a:solidFill>
          <a:ln w="15240">
            <a:solidFill>
              <a:srgbClr val="1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1188720"/>
            <a:ext cx="164592" cy="8686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1234440"/>
            <a:ext cx="4114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1B3A5C"/>
                </a:solidFill>
                <a:latin typeface="Calibri"/>
              </a:rPr>
              <a:t>African CSOs / NGOs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0" y="1234440"/>
            <a:ext cx="22860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 i="0">
                <a:solidFill>
                  <a:srgbClr val="1B3A5C"/>
                </a:solidFill>
                <a:latin typeface="Calibri"/>
              </a:rPr>
              <a:t>100,000+ registered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1234440"/>
            <a:ext cx="36576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1">
                <a:solidFill>
                  <a:srgbClr val="1F2937"/>
                </a:solidFill>
                <a:latin typeface="Calibri"/>
              </a:rPr>
              <a:t>Free marketplace tier + paid assessment + ERP option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148840"/>
            <a:ext cx="10515600" cy="868680"/>
          </a:xfrm>
          <a:prstGeom prst="roundRect">
            <a:avLst/>
          </a:prstGeom>
          <a:solidFill>
            <a:srgbClr val="F2F6FA"/>
          </a:solidFill>
          <a:ln w="15240">
            <a:solidFill>
              <a:srgbClr val="2C5F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2148840"/>
            <a:ext cx="164592" cy="868680"/>
          </a:xfrm>
          <a:prstGeom prst="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88720" y="2194560"/>
            <a:ext cx="4114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1B3A5C"/>
                </a:solidFill>
                <a:latin typeface="Calibri"/>
              </a:rPr>
              <a:t>Global South CSOs (LatAm, Asia)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0" y="2194560"/>
            <a:ext cx="22860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 i="0">
                <a:solidFill>
                  <a:srgbClr val="2C5F8A"/>
                </a:solidFill>
                <a:latin typeface="Calibri"/>
              </a:rPr>
              <a:t>500,000+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520" y="2194560"/>
            <a:ext cx="36576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1">
                <a:solidFill>
                  <a:srgbClr val="1F2937"/>
                </a:solidFill>
                <a:latin typeface="Calibri"/>
              </a:rPr>
              <a:t>Phase 2–3 geographic expansion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3108960"/>
            <a:ext cx="10515600" cy="868680"/>
          </a:xfrm>
          <a:prstGeom prst="roundRect">
            <a:avLst/>
          </a:prstGeom>
          <a:solidFill>
            <a:srgbClr val="F2F6FA"/>
          </a:solidFill>
          <a:ln w="1524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3108960"/>
            <a:ext cx="164592" cy="868680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8720" y="3154680"/>
            <a:ext cx="4114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1B3A5C"/>
                </a:solidFill>
                <a:latin typeface="Calibri"/>
              </a:rPr>
              <a:t>Bilateral / multilateral donors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0" y="3154680"/>
            <a:ext cx="22860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 i="0">
                <a:solidFill>
                  <a:srgbClr val="C2410C"/>
                </a:solidFill>
                <a:latin typeface="Calibri"/>
              </a:rPr>
              <a:t>50+ major institutions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89520" y="3154680"/>
            <a:ext cx="36576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1">
                <a:solidFill>
                  <a:srgbClr val="1F2937"/>
                </a:solidFill>
                <a:latin typeface="Calibri"/>
              </a:rPr>
              <a:t>Premium end-to-end solution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4069080"/>
            <a:ext cx="10515600" cy="868680"/>
          </a:xfrm>
          <a:prstGeom prst="roundRect">
            <a:avLst/>
          </a:prstGeom>
          <a:solidFill>
            <a:srgbClr val="F2F6FA"/>
          </a:solidFill>
          <a:ln w="1524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2960" y="4069080"/>
            <a:ext cx="164592" cy="868680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88720" y="4114800"/>
            <a:ext cx="4114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1B3A5C"/>
                </a:solidFill>
                <a:latin typeface="Calibri"/>
              </a:rPr>
              <a:t>Private foundations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520" y="4114800"/>
            <a:ext cx="22860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 i="0">
                <a:solidFill>
                  <a:srgbClr val="C2410C"/>
                </a:solidFill>
                <a:latin typeface="Calibri"/>
              </a:rPr>
              <a:t>200,000+ globally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9520" y="4114800"/>
            <a:ext cx="36576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1">
                <a:solidFill>
                  <a:srgbClr val="1F2937"/>
                </a:solidFill>
                <a:latin typeface="Calibri"/>
              </a:rPr>
              <a:t>Application portal + matching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" y="5029200"/>
            <a:ext cx="10515600" cy="868680"/>
          </a:xfrm>
          <a:prstGeom prst="roundRect">
            <a:avLst/>
          </a:prstGeom>
          <a:solidFill>
            <a:srgbClr val="F2F6FA"/>
          </a:solidFill>
          <a:ln w="15240">
            <a:solidFill>
              <a:srgbClr val="2C5F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22960" y="5029200"/>
            <a:ext cx="164592" cy="868680"/>
          </a:xfrm>
          <a:prstGeom prst="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88720" y="5074920"/>
            <a:ext cx="4114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1B3A5C"/>
                </a:solidFill>
                <a:latin typeface="Calibri"/>
              </a:rPr>
              <a:t>INGOs seeking local partners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03520" y="5074920"/>
            <a:ext cx="22860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 i="0">
                <a:solidFill>
                  <a:srgbClr val="2C5F8A"/>
                </a:solidFill>
                <a:latin typeface="Calibri"/>
              </a:rPr>
              <a:t>1,000+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89520" y="5074920"/>
            <a:ext cx="36576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1">
                <a:solidFill>
                  <a:srgbClr val="1F2937"/>
                </a:solidFill>
                <a:latin typeface="Calibri"/>
              </a:rPr>
              <a:t>Marketplace + assessment integration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6675120"/>
            <a:ext cx="73152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1">
                <a:solidFill>
                  <a:srgbClr val="FFFFFF"/>
                </a:solidFill>
                <a:latin typeface="Calibri"/>
              </a:rPr>
              <a:t>Kuja  ·  AI-Powered Grant Management for the Global South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0" y="6675120"/>
            <a:ext cx="71323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1">
                <a:solidFill>
                  <a:srgbClr val="FFFFFF"/>
                </a:solidFill>
                <a:latin typeface="Calibri"/>
              </a:rPr>
              <a:t>Market Analysis  ·  v5.0  ·  May 2026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47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What Just Shipped — May 2026 Launch Wave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1">
                <a:solidFill>
                  <a:srgbClr val="FFE4D6"/>
                </a:solidFill>
                <a:latin typeface="Calibri"/>
              </a:rPr>
              <a:t>Phase 24-31 · 153 smoke tests · 100+ browser specs · 0 prod regressions.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80160"/>
            <a:ext cx="2697480" cy="50292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2697480" cy="502920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280160"/>
            <a:ext cx="26974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CONVERSATION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20240"/>
            <a:ext cx="2331720" cy="4251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50">
                <a:solidFill>
                  <a:srgbClr val="1F2937"/>
                </a:solidFill>
                <a:latin typeface="Calibri"/>
              </a:rPr>
              <a:t>• Sustained AI chat (Phase 24B)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50">
                <a:solidFill>
                  <a:srgbClr val="1F2937"/>
                </a:solidFill>
                <a:latin typeface="Calibri"/>
              </a:rPr>
              <a:t>• Per-entity chat on grant/app/report (25B, 26A)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50">
                <a:solidFill>
                  <a:srgbClr val="1F2937"/>
                </a:solidFill>
                <a:latin typeface="Calibri"/>
              </a:rPr>
              <a:t>• Anti-hallucination discipline footer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50">
                <a:solidFill>
                  <a:srgbClr val="1F2937"/>
                </a:solidFill>
                <a:latin typeface="Calibri"/>
              </a:rPr>
              <a:t>• Reset + per-user thread isolation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73552" y="1280160"/>
            <a:ext cx="2697480" cy="50292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73552" y="1280160"/>
            <a:ext cx="2697480" cy="50292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73552" y="1280160"/>
            <a:ext cx="26974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REVIEWER OPS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56432" y="1920240"/>
            <a:ext cx="2331720" cy="4251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50">
                <a:solidFill>
                  <a:srgbClr val="1F2937"/>
                </a:solidFill>
                <a:latin typeface="Calibri"/>
              </a:rPr>
              <a:t>• Auto-assign on submit (Phase 25A)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50">
                <a:solidFill>
                  <a:srgbClr val="1F2937"/>
                </a:solidFill>
                <a:latin typeface="Calibri"/>
              </a:rPr>
              <a:t>• Nightly safety-net cron (Phase 26B)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50">
                <a:solidFill>
                  <a:srgbClr val="1F2937"/>
                </a:solidFill>
                <a:latin typeface="Calibri"/>
              </a:rPr>
              <a:t>• Side-by-side reviewer scoring (23A)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50">
                <a:solidFill>
                  <a:srgbClr val="1F2937"/>
                </a:solidFill>
                <a:latin typeface="Calibri"/>
              </a:rPr>
              <a:t>• Panel calibration cards (21A)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89904" y="1280160"/>
            <a:ext cx="2697480" cy="50292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C5F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089904" y="1280160"/>
            <a:ext cx="2697480" cy="502920"/>
          </a:xfrm>
          <a:prstGeom prst="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89904" y="1280160"/>
            <a:ext cx="26974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DONOR INTEL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72784" y="1920240"/>
            <a:ext cx="2331720" cy="4251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50">
                <a:solidFill>
                  <a:srgbClr val="1F2937"/>
                </a:solidFill>
                <a:latin typeface="Calibri"/>
              </a:rPr>
              <a:t>• Cohort analytics — your NGOs vs cohort (24C)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50">
                <a:solidFill>
                  <a:srgbClr val="1F2937"/>
                </a:solidFill>
                <a:latin typeface="Calibri"/>
              </a:rPr>
              <a:t>• Risk heatmap by sector × country (23B)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50">
                <a:solidFill>
                  <a:srgbClr val="1F2937"/>
                </a:solidFill>
                <a:latin typeface="Calibri"/>
              </a:rPr>
              <a:t>• Admin path on /donors/[id] (25C)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50">
                <a:solidFill>
                  <a:srgbClr val="1F2937"/>
                </a:solidFill>
                <a:latin typeface="Calibri"/>
              </a:rPr>
              <a:t>• Sparse-honest below MIN_COHORT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06256" y="1280160"/>
            <a:ext cx="2697480" cy="50292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06256" y="1280160"/>
            <a:ext cx="2697480" cy="502920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06256" y="1280160"/>
            <a:ext cx="26974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METRICS + TRUST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89136" y="1920240"/>
            <a:ext cx="2331720" cy="4251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50">
                <a:solidFill>
                  <a:srgbClr val="1F2937"/>
                </a:solidFill>
                <a:latin typeface="Calibri"/>
              </a:rPr>
              <a:t>• UserEvent backbone + 6 funnels (29-30)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50">
                <a:solidFill>
                  <a:srgbClr val="1F2937"/>
                </a:solidFill>
                <a:latin typeface="Calibri"/>
              </a:rPr>
              <a:t>• NPS micro-survey at submit (31)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50">
                <a:solidFill>
                  <a:srgbClr val="1F2937"/>
                </a:solidFill>
                <a:latin typeface="Calibri"/>
              </a:rPr>
              <a:t>• WebAuthn biometric re-auth (26C)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50">
                <a:solidFill>
                  <a:srgbClr val="1F2937"/>
                </a:solidFill>
                <a:latin typeface="Calibri"/>
              </a:rPr>
              <a:t>• Per-language parity breakdowns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0" y="6446520"/>
            <a:ext cx="12191695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50" b="0" i="1">
                <a:solidFill>
                  <a:srgbClr val="FFFFFF"/>
                </a:solidFill>
                <a:latin typeface="Calibri"/>
              </a:rPr>
              <a:t>Ship → measure → decide → ship next. Real-user data drives the next round of investment.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6675120"/>
            <a:ext cx="73152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1">
                <a:solidFill>
                  <a:srgbClr val="FFFFFF"/>
                </a:solidFill>
                <a:latin typeface="Calibri"/>
              </a:rPr>
              <a:t>Kuja  ·  AI-Powered Grant Management for the Global South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6675120"/>
            <a:ext cx="71323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1">
                <a:solidFill>
                  <a:srgbClr val="FFFFFF"/>
                </a:solidFill>
                <a:latin typeface="Calibri"/>
              </a:rPr>
              <a:t>Market Analysis  ·  v5.0  ·  May 2026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47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1">
                <a:solidFill>
                  <a:srgbClr val="FFE4D6"/>
                </a:solidFill>
                <a:latin typeface="Calibri"/>
              </a:rPr>
              <a:t>v5.0 launch wave shipped Q2 2026 · momentum continues through 2028.</a:t>
            </a:r>
          </a:p>
        </p:txBody>
      </p:sp>
      <p:pic>
        <p:nvPicPr>
          <p:cNvPr id="5" name="Picture 4" descr="06_road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05840"/>
            <a:ext cx="11247120" cy="546923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675120"/>
            <a:ext cx="73152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1">
                <a:solidFill>
                  <a:srgbClr val="FFFFFF"/>
                </a:solidFill>
                <a:latin typeface="Calibri"/>
              </a:rPr>
              <a:t>Kuja  ·  AI-Powered Grant Management for the Global South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675120"/>
            <a:ext cx="71323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1">
                <a:solidFill>
                  <a:srgbClr val="FFFFFF"/>
                </a:solidFill>
                <a:latin typeface="Calibri"/>
              </a:rPr>
              <a:t>Market Analysis  ·  v5.0  ·  May 2026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91840"/>
            <a:ext cx="12191695" cy="54864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640080"/>
            <a:ext cx="1219169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  <a:latin typeface="Calibri"/>
              </a:rPr>
              <a:t>Why Adeso · Why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1280160"/>
            <a:ext cx="1219169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 i="1">
                <a:solidFill>
                  <a:srgbClr val="FFE4D6"/>
                </a:solidFill>
                <a:latin typeface="Calibri"/>
              </a:rPr>
              <a:t>Right team · right moment · right product.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3749039"/>
            <a:ext cx="3657600" cy="24688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3749039"/>
            <a:ext cx="3657600" cy="502920"/>
          </a:xfrm>
          <a:prstGeom prst="round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3749039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WHY ADESO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389120"/>
            <a:ext cx="329184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Somali-founded African social enterprise. 30+ years of humanitarian impact. Co-founder of the NEAR Network — the largest network of national and local organisations in the Global South. Built by the communities Kuja serves.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3749039"/>
            <a:ext cx="3657600" cy="24688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297680" y="3749039"/>
            <a:ext cx="3657600" cy="502920"/>
          </a:xfrm>
          <a:prstGeom prst="round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97680" y="3749039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WHY NOW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4389120"/>
            <a:ext cx="329184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USAID dissolution in 2025 ($36B cut, 83% of programmes cancelled) has created urgent demand for diversified funding infrastructure and direct donor-to-NGO connections. 92% of nonprofits already use AI but 76% lack a strategy.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3749039"/>
            <a:ext cx="3657600" cy="24688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138160" y="3749039"/>
            <a:ext cx="3657600" cy="502920"/>
          </a:xfrm>
          <a:prstGeom prst="round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38160" y="3749039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WHY KUJA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4389120"/>
            <a:ext cx="329184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The only platform combining marketplace, two-pillar Trust Profile, Embedded AI Intelligence, compliance simplified for both sides, mobile-first delivery, and ERP operations — purpose-built for the Global South.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0" y="6492240"/>
            <a:ext cx="121916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 i="1">
                <a:solidFill>
                  <a:srgbClr val="FFE4D6"/>
                </a:solidFill>
                <a:latin typeface="Calibri"/>
              </a:rPr>
              <a:t>Findable. Fundable. Trusted.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