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554480"/>
            <a:ext cx="1219169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Calibri"/>
              </a:rPr>
              <a:t>Kuja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5204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 i="0">
                <a:solidFill>
                  <a:srgbClr val="FFE4D6"/>
                </a:solidFill>
                <a:latin typeface="Calibri"/>
              </a:rPr>
              <a:t>An AI-Powered Grant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6052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FFFF"/>
                </a:solidFill>
                <a:latin typeface="Calibri"/>
              </a:rPr>
              <a:t>Built for the Global South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MARKET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7607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FFE4D6"/>
                </a:solidFill>
                <a:latin typeface="Calibri"/>
              </a:rPr>
              <a:t>v5.0  ·  May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4008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INTERNAL · FOR TEAM AND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Problem We Address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Grant funding for Global South non-profits is structurally inefficient.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NGOs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assessment fatigue — answer the same 80–120 questions across CHS, UN-HACT, NUPAS, STEP, and donor-specific variants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overhead with no help to know if their answer is strong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evidence scattered across email, drives, and binders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Reporting templates that vary by donor with no guidance on what each donor cares about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Decision opacity — most applications rejected with little or no feedback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Language exclusion — donor portals are English-only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DONORS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Sourcing is slow and intuition-driven — finding strong NGOs requires personal networks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Capacity signal is non-standard — every donor maintains their own framework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Application quality variance comes from language proficiency, not programme quality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Compliance is reactive — sanctions, registry, document validation happen at the last minute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Reports do not roll up — aggregating outcomes requires manual extraction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early-warning signal when grants drift off track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FOR REVIEWERS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1874520"/>
            <a:ext cx="33375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Each application takes hours to read carefully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Rationales drift — reviewers anchor on each other, not the rubric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Patterns across the portfolio are invisible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No standardised way to cite specific evidence per criterion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F2937"/>
                </a:solidFill>
                <a:latin typeface="Calibri"/>
              </a:rPr>
              <a:t>• Suspect quality cannot be flagged with confidence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$2.75B today · $4.79B by 2030 · 10.3% CAGR</a:t>
            </a:r>
          </a:p>
        </p:txBody>
      </p:sp>
      <p:pic>
        <p:nvPicPr>
          <p:cNvPr id="5" name="Picture 4" descr="01_marke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680960" cy="471149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097280"/>
            <a:ext cx="3566160" cy="52120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801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Why it matters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737360"/>
            <a:ext cx="3291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Sector disruption. </a:t>
            </a:r>
            <a:r>
              <a:rPr sz="1000">
                <a:solidFill>
                  <a:srgbClr val="1F2937"/>
                </a:solidFill>
                <a:latin typeface="Calibri"/>
              </a:rPr>
              <a:t> USAID dissolution in 2025 with 83% of programmes cancelled has created urgent demand for diversified funding infrastructure.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AI inflection. </a:t>
            </a:r>
            <a:r>
              <a:rPr sz="1000">
                <a:solidFill>
                  <a:srgbClr val="1F2937"/>
                </a:solidFill>
                <a:latin typeface="Calibri"/>
              </a:rPr>
              <a:t> 92% of nonprofits use AI in some capacity, but 76% lack formal AI strategy — there is a window for an AI-native platform.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Cloud shift. </a:t>
            </a:r>
            <a:r>
              <a:rPr sz="1000">
                <a:solidFill>
                  <a:srgbClr val="1F2937"/>
                </a:solidFill>
                <a:latin typeface="Calibri"/>
              </a:rPr>
              <a:t> 65% of new grant management deployments are cloud-based.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00" b="1">
                <a:solidFill>
                  <a:srgbClr val="1B3A5C"/>
                </a:solidFill>
                <a:latin typeface="Calibri"/>
              </a:rPr>
              <a:t>• Localisation pressure. </a:t>
            </a:r>
            <a:r>
              <a:rPr sz="1000">
                <a:solidFill>
                  <a:srgbClr val="1F2937"/>
                </a:solidFill>
                <a:latin typeface="Calibri"/>
              </a:rPr>
              <a:t> Grand Bargain 2.0 targets 25% direct local funding; actual &lt;5%.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Total / Serviceable / Obtainable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views on the same opportunity</a:t>
            </a:r>
          </a:p>
        </p:txBody>
      </p:sp>
      <p:pic>
        <p:nvPicPr>
          <p:cNvPr id="5" name="Picture 4" descr="02_tam_sam_s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03619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Sector Is Shifting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trends are creating urgent demand for new grant infrastructure</a:t>
            </a:r>
          </a:p>
        </p:txBody>
      </p:sp>
      <p:pic>
        <p:nvPicPr>
          <p:cNvPr id="5" name="Picture 4" descr="03_sector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2486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What Kuja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An end-to-end platform anchored on three category-defining commitments.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TWO-PILLAR TRUST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Every NGO presents a Capacity Profile ("can they execute?") and a Due Diligence Profile ("are they safe to fund?"). Both pillars passport across applications.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Five capacity frameworks built in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Custom donor framework builder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Sanctions / AML / CTF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Registration &amp; standing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Beneficial ownership + COI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Adverse media monitoring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Twenty-one AI surfaces woven into every workflow. Action-oriented, grounded in user data, traceable to sources, editable end to 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Application &amp;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Real-time document scoring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Pre-submission readiness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Reviewer one-screen summary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Compliance pre-empt + pre-flight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Portfolio 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COMPLIANCE FOR BOTH SIDES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737360"/>
            <a:ext cx="3657600" cy="45720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1874520"/>
            <a:ext cx="32918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1B3A5C"/>
                </a:solidFill>
                <a:latin typeface="Calibri"/>
              </a:rPr>
              <a:t>Simplifies compliance and risk for the entire relationship — NGOs are supported through every obligation; donors get pre-assessed reports + portfolio health.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20040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compliance calendar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Proactive reminders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AI report drafting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4-pillar health score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Trajectory + slips forecast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050">
                <a:solidFill>
                  <a:srgbClr val="1B3A5C"/>
                </a:solidFill>
                <a:latin typeface="Calibri"/>
              </a:rPr>
              <a:t>• Risk register with owners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Organisation Trust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Two pillars · one source of truth · travels with the organisation</a:t>
            </a:r>
          </a:p>
        </p:txBody>
      </p:sp>
      <p:pic>
        <p:nvPicPr>
          <p:cNvPr id="5" name="Picture 4" descr="07_trust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55090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Capacity Passporting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Do the assessment once. Carry it forward to every donor's framework.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2926080" cy="20116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2410C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0040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50" b="1" i="0">
                <a:solidFill>
                  <a:srgbClr val="1B3A5C"/>
                </a:solidFill>
                <a:latin typeface="Calibri"/>
              </a:rPr>
              <a:t>NGO completes the Kuja Capacity Framework once · stored on the org profile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2286000"/>
            <a:ext cx="3200400" cy="25603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246888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FFE4D6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9260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Capacity Passport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3566160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E4D6"/>
                </a:solidFill>
                <a:latin typeface="Calibri"/>
              </a:rPr>
              <a:t>Framework-neutral facts · AI maps across target frameworks · provenance traced to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2286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C2410C"/>
                </a:solidFill>
                <a:latin typeface="Calibri"/>
              </a:rPr>
              <a:t>STEP 3 — Prefilled across any donor framework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69748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269748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UN-HACT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79" y="320040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320040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STEP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79" y="370332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79" y="370332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CHS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420624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79" y="420624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NUPAS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709160"/>
            <a:ext cx="3657600" cy="4114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4709160"/>
            <a:ext cx="3657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 i="0">
                <a:solidFill>
                  <a:srgbClr val="1B3A5C"/>
                </a:solidFill>
                <a:latin typeface="Calibri"/>
              </a:rPr>
              <a:t>Donor custom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71600" y="5212080"/>
            <a:ext cx="9418320" cy="109728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5349240"/>
            <a:ext cx="9418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FFFFFF"/>
                </a:solidFill>
                <a:latin typeface="Calibri"/>
              </a:rPr>
              <a:t>Effort reduction per subsequent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12 hours of duplicated work  →  under 1 hour of review and refinement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Due Diligence Beyond Sanctions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Four sub-pillars · passported across applications · auditable end to 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Sanctions, AML &amp; CTF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UN · OFAC · EU + watchlists + CTF designations.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Continuous re-screening on schedule, on change, and on every new application. Coverage includes declared beneficial owners and named officers.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09728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72200" y="109728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09728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Registration &amp; 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64592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7 government registries today · expanding to all jurisdictions with public portals.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9456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Legal name, status, number verified against organisation-claimed values. Tax-exempt certification verified per country.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Beneficial Ownership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Officer disclosure + ownership-chain transparency.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Conflict-of-interest checks against donor staff directories surface conflicts before award. Historical preservation for retrospective audit.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703320"/>
            <a:ext cx="557784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72200" y="3703320"/>
            <a:ext cx="5577840" cy="45720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703320"/>
            <a:ext cx="5303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Adverse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4251960"/>
            <a:ext cx="5303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1">
                <a:solidFill>
                  <a:srgbClr val="C2410C"/>
                </a:solidFill>
                <a:latin typeface="Calibri"/>
              </a:rPr>
              <a:t>Daily news scan with AI-classified relevance and severity.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800600"/>
            <a:ext cx="5303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Auto-raised risk register entries above configured thresholds. Plain-language context summary with source link and suggested next steps.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Embedded AI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21 AI-driven surfaces woven into every workflow — grounded, traceable, action-oriented.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NGO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Match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Application co-author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Real-time document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Submission readiness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pre-empt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Report co-author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Donor-perspective pre-flight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to-do 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DONOR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brief from 2-line prompt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Grant import from PDF/DOCX/TXT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Median-NGO preview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8056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Burden critique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Portfolio insights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Cross-grant patterns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8056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Compliance explanation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8056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Health narrative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321040" y="1188720"/>
            <a:ext cx="3657600" cy="50292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1188720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REVIEWER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18288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03920" y="18288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One-screen summary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12480" y="237744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237744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Evidence extraction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29260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03920" y="29260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Comparable signal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12480" y="347471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03920" y="347471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Decision-changers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412480" y="402336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503920" y="402336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Per-criterion rationale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12480" y="457200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20" y="457200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Red-flag detection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412480" y="5120639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20" y="5120639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Suggest-criteria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412480" y="5669280"/>
            <a:ext cx="3474720" cy="45720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20" y="5669280"/>
            <a:ext cx="32918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1B3A5C"/>
                </a:solidFill>
                <a:latin typeface="Calibri"/>
              </a:rPr>
              <a:t>Audit-ready record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Compliance — Simplified for Both Sides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platform's flagship: NGOs are supported, donors are confident.</a:t>
            </a:r>
          </a:p>
        </p:txBody>
      </p:sp>
      <p:pic>
        <p:nvPicPr>
          <p:cNvPr id="5" name="Picture 4" descr="08_compliance_both_si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48888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The operating reality of Global South CSOs — not an afterthought.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5029200" cy="5029200"/>
          </a:xfrm>
          <a:prstGeom prst="round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E4D6"/>
                </a:solidFill>
                <a:latin typeface="Calibri"/>
              </a:rPr>
              <a:t>WHY IT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466344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Calibri"/>
              </a:rPr>
              <a:t>The primary device for most Global South NGO staff is a phone. Connectivity is intermittent. Bandwidth is limited. The platform treats this as a first-class scenario rather than a degraded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46634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Field officers draft, capture evidence, and complete reports without a connection — the system syncs in the background when the network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76072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9788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Progressive Web 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Installable on phone home screen · same login as desktop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28016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6840" y="141732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178308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Draft applications, complete assessments, write reports without a network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6072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9788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Continuous auto-save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Every keystroke saved to local device storage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3017520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31546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Background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520440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Queued uploads transmit automatically on reconnection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9788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Camera as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Photographs of consent forms, beneficiaries, before/after — vision-based extraction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754879"/>
            <a:ext cx="2926080" cy="1554480"/>
          </a:xfrm>
          <a:prstGeom prst="roundRect">
            <a:avLst/>
          </a:prstGeom>
          <a:solidFill>
            <a:srgbClr val="FFE4D6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4892039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 i="0">
                <a:solidFill>
                  <a:srgbClr val="C2410C"/>
                </a:solidFill>
                <a:latin typeface="Calibri"/>
              </a:rPr>
              <a:t>Low-bandwidth optimised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5257799"/>
            <a:ext cx="2651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1F2937"/>
                </a:solidFill>
                <a:latin typeface="Calibri"/>
              </a:rPr>
              <a:t>Heavy AI work runs async; core flows work on slow 3G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No competitor combines Global South focus with deep AI integration.</a:t>
            </a:r>
          </a:p>
        </p:txBody>
      </p:sp>
      <p:pic>
        <p:nvPicPr>
          <p:cNvPr id="5" name="Picture 4" descr="04_competitive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10881360" cy="724592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Feature Coverage vs. Competitors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40/40 fully supported · 17 differentiators no competitor offers.</a:t>
            </a:r>
          </a:p>
        </p:txBody>
      </p:sp>
      <p:pic>
        <p:nvPicPr>
          <p:cNvPr id="5" name="Picture 4" descr="05_feature_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97280"/>
            <a:ext cx="10881360" cy="616699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Category-Defining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Three commitments no competitor matches.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28016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Embedded AI Intelligence, Not a Chatbot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3736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AI is woven through every workflow as a working partner. Grounded in user data, traceable to sources, action-oriented (an editable starting point), and falls back gracefully when the AI service is unavailable. Competitors offering AI today provide chatbots or analytics dashboards — not a working AI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7180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7180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5468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Two-Pillar Organisation Trust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 NGO presents Capacity + Due Diligence side by side, both passported across applications. No competitor offers both pillars together. No competitor offers passporting on the due-diligence side.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846320"/>
            <a:ext cx="11247120" cy="173736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4846320"/>
            <a:ext cx="1097280" cy="173736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502920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2410C"/>
                </a:solidFill>
                <a:latin typeface="Calibri"/>
              </a:rPr>
              <a:t>Compliance Simplified for Both Sides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5486400"/>
            <a:ext cx="97840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NGOs get an AI compliance working partner (extract obligations → calendar → reminders → drafting → scoring → pre-flight → revision guidance). Donors get pre-assessed scored reports, 4-pillar health, trajectory forecasting, slips-in-N-days warnings, and a risk register. The donor is never surprised; the NGO is never blocked.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Competitive Advantages — Structural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Seven additional structural strengths.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Only End-to-End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Marketplace, trust profile, AI applications, dual-scoring review, AI-supported reporting + health, ERP — single platform.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2044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Mobile-First, Offline-First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Progressive web app · auto-save · background sync · vision-based evidence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4652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Built By and For the Global South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Six languages at parity with role-aware tone · Adeso's 30+ years of humanitarian experience.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09728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72600" y="123444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600" y="123444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28016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Dual-Sided Network Effects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01168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CSOs gain visibility, AI working partner, calendar of obligations. Donors gain vetted pipeline + portfolio health.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9436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Auditable by Construction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Provenance on every AI claim · tamper-evident hash-chained audit log · donor override transparency.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52044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Seamless ERP Conversion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KujaBuild (Odoo 17) onboards seamlessly because most data is already captured in earlier stages.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749040"/>
            <a:ext cx="2743200" cy="24688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46520" y="3886200"/>
            <a:ext cx="548640" cy="54864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88620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931920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B3A5C"/>
                </a:solidFill>
                <a:latin typeface="Calibri"/>
              </a:rPr>
              <a:t>Credibility of Adeso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20" y="4663440"/>
            <a:ext cx="2468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Somali-founded · NEAR Network co-founder · three decades of African humanitarian impact.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Target Market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Five segments · phased geographic expansion · dual-sided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18872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64592" cy="8686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123444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African CSOs / NGOs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23444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1B3A5C"/>
                </a:solidFill>
                <a:latin typeface="Calibri"/>
              </a:rPr>
              <a:t>100,000+ registered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123444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Free marketplace tier + paid assessment + ERP option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14884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14884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Global South CSOs (LatAm, Asia)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19456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500,000+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219456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Phase 2–3 geographic expansion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10896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0896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8720" y="315468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Bilateral / multilateral donors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15468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50+ major institutions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15468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Premium end-to-end solution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06908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C241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69080"/>
            <a:ext cx="164592" cy="86868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411480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Private foundations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11480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C2410C"/>
                </a:solidFill>
                <a:latin typeface="Calibri"/>
              </a:rPr>
              <a:t>200,000+ globally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11480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Application portal + matching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29200"/>
            <a:ext cx="10515600" cy="868680"/>
          </a:xfrm>
          <a:prstGeom prst="roundRect">
            <a:avLst/>
          </a:prstGeom>
          <a:solidFill>
            <a:srgbClr val="F2F6FA"/>
          </a:solidFill>
          <a:ln w="15240">
            <a:solidFill>
              <a:srgbClr val="2C5F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5029200"/>
            <a:ext cx="164592" cy="868680"/>
          </a:xfrm>
          <a:prstGeom prst="rect">
            <a:avLst/>
          </a:prstGeom>
          <a:solidFill>
            <a:srgbClr val="2C5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8720" y="5074920"/>
            <a:ext cx="4114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1B3A5C"/>
                </a:solidFill>
                <a:latin typeface="Calibri"/>
              </a:rPr>
              <a:t>INGOs seeking local partners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0" y="5074920"/>
            <a:ext cx="22860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 i="0">
                <a:solidFill>
                  <a:srgbClr val="2C5F8A"/>
                </a:solidFill>
                <a:latin typeface="Calibri"/>
              </a:rPr>
              <a:t>1,000+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5074920"/>
            <a:ext cx="36576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 i="1">
                <a:solidFill>
                  <a:srgbClr val="1F2937"/>
                </a:solidFill>
                <a:latin typeface="Calibri"/>
              </a:rPr>
              <a:t>Marketplace + assessment integration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1">
                <a:solidFill>
                  <a:srgbClr val="FFE4D6"/>
                </a:solidFill>
                <a:latin typeface="Calibri"/>
              </a:rPr>
              <a:t>v5.0 launch wave shipped Q2 2026 · momentum continues through 2028.</a:t>
            </a:r>
          </a:p>
        </p:txBody>
      </p:sp>
      <p:pic>
        <p:nvPicPr>
          <p:cNvPr id="5" name="Picture 4" descr="06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54692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675120"/>
            <a:ext cx="12191695" cy="1828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675120"/>
            <a:ext cx="731520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1">
                <a:solidFill>
                  <a:srgbClr val="FFFFFF"/>
                </a:solidFill>
                <a:latin typeface="Calibri"/>
              </a:rPr>
              <a:t>Kuja  ·  AI-Powered Grant Management for the Global South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675120"/>
            <a:ext cx="71323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1">
                <a:solidFill>
                  <a:srgbClr val="FFFFFF"/>
                </a:solidFill>
                <a:latin typeface="Calibri"/>
              </a:rPr>
              <a:t>Market Analysis  ·  v5.0  ·  May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91695" cy="54864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640080"/>
            <a:ext cx="1219169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Why Adeso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28016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Right team · right moment · right product.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ADESO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Somali-founded African social enterprise. 30+ years of humanitarian impact. Co-founder of the NEAR Network — the largest network of national and local organisations in the Global South. Built by the communities Kuja serves.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USAID dissolution in 2025 ($36B cut, 83% of programmes cancelled) has created urgent demand for diversified funding infrastructure and direct donor-to-NGO connections. 92% of nonprofits already use AI but 76% lack a strategy.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749039"/>
            <a:ext cx="3657600" cy="24688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3749039"/>
            <a:ext cx="3657600" cy="502920"/>
          </a:xfrm>
          <a:prstGeom prst="round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3749039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WHY KUJA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389120"/>
            <a:ext cx="329184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The only platform combining marketplace, two-pillar Trust Profile, Embedded AI Intelligence, compliance simplified for both sides, mobile-first delivery, and ERP operations — purpose-built for the Global South.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0" y="649224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FE4D6"/>
                </a:solidFill>
                <a:latin typeface="Calibri"/>
              </a:rPr>
              <a:t>Findable. Fundable. Trusted.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