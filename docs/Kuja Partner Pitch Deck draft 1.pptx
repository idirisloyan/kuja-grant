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54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0" y="4572000"/>
            <a:ext cx="1371600" cy="13716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0" y="5486400"/>
            <a:ext cx="914400" cy="9144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0" b="1">
                <a:solidFill>
                  <a:srgbClr val="FFFFFF"/>
                </a:solidFill>
                <a:latin typeface="Calibri"/>
              </a:defRPr>
            </a:pPr>
            <a:r>
              <a:t>KUJA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3464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The First AI-Powered End-to-End</a:t>
            </a:r>
            <a:br/>
            <a:r>
              <a:t>Grant Management Platform for the Global South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A5B4FC"/>
                </a:solidFill>
                <a:latin typeface="Calibri"/>
              </a:defRPr>
            </a:pPr>
            <a:r>
              <a:t>Powered by Adeso — 30 Years of African-Led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93A3BF"/>
                </a:solidFill>
                <a:latin typeface="Calibri"/>
              </a:defRPr>
            </a:pPr>
            <a:r>
              <a:t>March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0">
                <a:solidFill>
                  <a:srgbClr val="93A3BF"/>
                </a:solidFill>
                <a:latin typeface="Calibri"/>
              </a:defRPr>
            </a:pPr>
            <a:r>
              <a:t>kuja.org  |  adesoafrica.org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Funding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2/16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3291840" cy="3474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3017520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FOR CSOs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4–12 duplicate assessments per year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Below 5% direct funding to local orgs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English-first platforms exclude millions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Enterprise pricing excludes local orgs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280160"/>
            <a:ext cx="3291840" cy="3474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17720" y="1417320"/>
            <a:ext cx="30175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FOR DONORS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1031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Cannot find vetted local partners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Risk perception barriers persist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Manual compliance monitoring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Lack of standardized assessments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280160"/>
            <a:ext cx="3291840" cy="3474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66760" y="1417320"/>
            <a:ext cx="301752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SYSTEMIC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$36B USAID cuts (2025)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Aid localization stalled at &lt;5%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No infrastructure for direct partnerships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Growing demand, shrinking supply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120640"/>
            <a:ext cx="941832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500" b="1">
                <a:solidFill>
                  <a:srgbClr val="1F2A37"/>
                </a:solidFill>
                <a:latin typeface="Calibri"/>
              </a:defRPr>
            </a:pPr>
            <a:r>
              <a:t>Local organizations closest to communities have the most effective solutions — but the least resources.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One Platform. Complete Grant Lifecycle.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3/16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Oval 7"/>
          <p:cNvSpPr/>
          <p:nvPr/>
        </p:nvSpPr>
        <p:spPr>
          <a:xfrm>
            <a:off x="891540" y="11430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DISCOVER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Marketplace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737360" y="187452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583180" y="11430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15544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ASSESS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Capacity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429000" y="187452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274820" y="11430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15544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VERIFY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Due Diligence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120640" y="187452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966460" y="11430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5544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MATCH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AI Matching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217920" y="2606040"/>
            <a:ext cx="274320" cy="457200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91540" y="29718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3832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APPLY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AI-Guided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737360" y="370332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583180" y="29718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48840" y="33832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REVIEW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Dual Score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429000" y="370332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274820" y="29718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33832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REPORT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AI Compliance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120640" y="370332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966460" y="29718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32120" y="33832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MANAGE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ERP</a:t>
            </a:r>
          </a:p>
        </p:txBody>
      </p:sp>
      <p:sp>
        <p:nvSpPr>
          <p:cNvPr id="31" name="Curved Left Arrow 30"/>
          <p:cNvSpPr/>
          <p:nvPr/>
        </p:nvSpPr>
        <p:spPr>
          <a:xfrm>
            <a:off x="6903720" y="3474720"/>
            <a:ext cx="548640" cy="640080"/>
          </a:xfrm>
          <a:prstGeom prst="curvedLef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589520" y="3337560"/>
            <a:ext cx="411480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0" y="338328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D9488"/>
                </a:solidFill>
                <a:latin typeface="Calibri"/>
              </a:defRPr>
            </a:pPr>
            <a:r>
              <a:t>WITHOUT OUR ERP?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F2A37"/>
                </a:solidFill>
                <a:latin typeface="Calibri"/>
              </a:defRPr>
            </a:pPr>
            <a:r>
              <a:t>Stages 1–7 work standalone. NGOs not using the ERP use our built-in reporting module to seamlessly submit compliance reports per grant agreement requirements.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0" y="5029200"/>
            <a:ext cx="667512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800" b="1">
                <a:solidFill>
                  <a:srgbClr val="1F2A37"/>
                </a:solidFill>
                <a:latin typeface="Calibri"/>
              </a:defRPr>
            </a:pPr>
            <a:r>
              <a:t>No other platform covers all 8 stages.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Built by Those Who Know the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4/16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502920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ADESO CREDENTIALS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Founded 1991 in Somalia — 30+ years humanitarian experience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Led the NEAR network for aid localization advocacy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Operations across Kenya, Somalia, and the Horn of Africa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501(c)(3) through Myriad USA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Deep relationships: Oxfam, IRC, Save the Children,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   Gates Foundation, Hilton Foundation, Porticus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029200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Understands compliance from BOTH sides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   — as an NGO AND as a grantor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Built by Global South, for Global South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Multi-language: Arabic, French, Spanish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   live today — no competitor offers this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Not a Silicon Valley startup guessing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   — lived experience solving these problems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303520"/>
            <a:ext cx="9418320" cy="594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500" b="1">
                <a:solidFill>
                  <a:srgbClr val="1E40AF"/>
                </a:solidFill>
                <a:latin typeface="Calibri"/>
              </a:defRPr>
            </a:pPr>
            <a:r>
              <a:t>"We didn't build Kuja because we read about the problem. We built it because we lived it."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AI-Powered Capacity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5/16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560320"/>
            <a:ext cx="2194560" cy="10972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Kuja</a:t>
            </a:r>
            <a:br/>
            <a:r>
              <a:t>Assessment</a:t>
            </a:r>
            <a:br/>
            <a:r>
              <a:t>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371600"/>
            <a:ext cx="146304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Kuja</a:t>
            </a:r>
            <a:br/>
            <a:r>
              <a:t>Framework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828800"/>
            <a:ext cx="36576" cy="128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86400" y="1371600"/>
            <a:ext cx="146304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</a:t>
            </a:r>
            <a:br/>
            <a:r>
              <a:t>(TechSoup)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828800"/>
            <a:ext cx="36576" cy="128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0" y="3200400"/>
            <a:ext cx="146304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UN-HACT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3108960"/>
            <a:ext cx="36576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0" y="4754880"/>
            <a:ext cx="146304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CHS</a:t>
            </a:r>
            <a:br/>
            <a:r>
              <a:t>Alliance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3108960"/>
            <a:ext cx="36576" cy="21031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371600" y="4114800"/>
            <a:ext cx="146304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NUPAS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3108960"/>
            <a:ext cx="36576" cy="14630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1463040" cy="914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+ Donor</a:t>
            </a:r>
            <a:br/>
            <a:r>
              <a:t>Specific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3108960"/>
            <a:ext cx="36576" cy="914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600" y="1188720"/>
            <a:ext cx="3474720" cy="4572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BENEFITS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0" y="18288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7830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E40AF"/>
                </a:solidFill>
                <a:latin typeface="Calibri"/>
              </a:defRPr>
            </a:pPr>
            <a:r>
              <a:t>Self-service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Complete online, no expensive consultants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0" y="27432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26974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E40AF"/>
                </a:solidFill>
                <a:latin typeface="Calibri"/>
              </a:defRPr>
            </a:pPr>
            <a:r>
              <a:t>Passportable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Assess once, share with multiple donors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0" y="36576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6118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E40AF"/>
                </a:solidFill>
                <a:latin typeface="Calibri"/>
              </a:defRPr>
            </a:pPr>
            <a:r>
              <a:t>AI-analyzed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Upload policies, AI identifies gaps and scores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0" y="45720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45262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E40AF"/>
                </a:solidFill>
                <a:latin typeface="Calibri"/>
              </a:defRPr>
            </a:pPr>
            <a:r>
              <a:t>Extensible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Add donor-specific or any new framework on demand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0" y="54864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54406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E40AF"/>
                </a:solidFill>
                <a:latin typeface="Calibri"/>
              </a:defRPr>
            </a:pPr>
            <a:r>
              <a:t>Configurable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Donors set their own criteria and weightings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 That Works Across the Entire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6/16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32004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68680" y="155448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Document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11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Score 0–100 with detailed findings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371600"/>
            <a:ext cx="32004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26280" y="155448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Grant Agreement Parsing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011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Extract requirements automatically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37160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20" y="1371600"/>
            <a:ext cx="32004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83880" y="155448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Report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011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Per-requirement compliance scoring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29184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3291840"/>
            <a:ext cx="32004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68680" y="347472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429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Capacity Assessment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AI reviews policies, identifies gaps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29184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389120" y="3291840"/>
            <a:ext cx="32004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526280" y="347472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429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Grant Matching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Smart NGO-donor matching algorithm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329184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46720" y="3291840"/>
            <a:ext cx="32004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183880" y="347472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3429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Chat Assistant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Role-aware guidance (NGO vs Donor)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71600" y="5212080"/>
            <a:ext cx="9418320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|  5 languages live (EN, FR, AR, ES, SW)  —  expanding to 10+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Real-Time Compliance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7/16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3035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GOVERNMENT REGISTRY 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2286000" cy="3840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03911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F2A37"/>
                </a:solidFill>
                <a:latin typeface="Calibri"/>
              </a:defRPr>
            </a:pPr>
            <a:r>
              <a:t>Kenya — NGO Board / BRS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2286000" cy="3840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54203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F2A37"/>
                </a:solidFill>
                <a:latin typeface="Calibri"/>
              </a:defRPr>
            </a:pPr>
            <a:r>
              <a:t>Nigeria — Corporate Affairs Commission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2286000" cy="3840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04495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F2A37"/>
                </a:solidFill>
                <a:latin typeface="Calibri"/>
              </a:defRPr>
            </a:pPr>
            <a:r>
              <a:t>South Africa — DSD NPO Directorate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20440"/>
            <a:ext cx="2286000" cy="3840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54787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F2A37"/>
                </a:solidFill>
                <a:latin typeface="Calibri"/>
              </a:defRPr>
            </a:pPr>
            <a:r>
              <a:t>Uganda — NGO Bureau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2011680"/>
            <a:ext cx="2286000" cy="3840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40" y="203911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F2A37"/>
                </a:solidFill>
                <a:latin typeface="Calibri"/>
              </a:defRPr>
            </a:pPr>
            <a:r>
              <a:t>Tanzania — NiS Registry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2514600"/>
            <a:ext cx="2286000" cy="3840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91840" y="254203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F2A37"/>
                </a:solidFill>
                <a:latin typeface="Calibri"/>
              </a:defRPr>
            </a:pPr>
            <a:r>
              <a:t>Somalia — MOIFAR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3017520"/>
            <a:ext cx="2286000" cy="3840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91840" y="304495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F2A37"/>
                </a:solidFill>
                <a:latin typeface="Calibri"/>
              </a:defRPr>
            </a:pPr>
            <a:r>
              <a:t>Ethiopia — ACSO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605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D9488"/>
                </a:solidFill>
                <a:latin typeface="Calibri"/>
              </a:defRPr>
            </a:pPr>
            <a:r>
              <a:t>7 countries live today. Designed to expand to any Global South country</a:t>
            </a:r>
            <a:br/>
            <a:r>
              <a:t>with a government verification portal.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280160"/>
            <a:ext cx="5303520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SANCTIONS SCREENING  —  4+ Databases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011680"/>
            <a:ext cx="475488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202996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rPr sz="1300" b="1">
                <a:solidFill>
                  <a:srgbClr val="1E40AF"/>
                </a:solidFill>
                <a:latin typeface="Calibri"/>
              </a:rPr>
              <a:t>UN Security Council</a:t>
            </a:r>
            <a:r>
              <a:rPr sz="1200">
                <a:solidFill>
                  <a:srgbClr val="1F2A37"/>
                </a:solidFill>
                <a:latin typeface="Calibri"/>
              </a:rPr>
              <a:t>  —  Global sanctions list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606040"/>
            <a:ext cx="475488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262432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rPr sz="1300" b="1">
                <a:solidFill>
                  <a:srgbClr val="1E40AF"/>
                </a:solidFill>
                <a:latin typeface="Calibri"/>
              </a:rPr>
              <a:t>US OFAC SDN</a:t>
            </a:r>
            <a:r>
              <a:rPr sz="1200">
                <a:solidFill>
                  <a:srgbClr val="1F2A37"/>
                </a:solidFill>
                <a:latin typeface="Calibri"/>
              </a:rPr>
              <a:t>  —  US Treasury sanctions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200400"/>
            <a:ext cx="475488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60" y="321868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rPr sz="1300" b="1">
                <a:solidFill>
                  <a:srgbClr val="1E40AF"/>
                </a:solidFill>
                <a:latin typeface="Calibri"/>
              </a:rPr>
              <a:t>EU Financial Sanctions</a:t>
            </a:r>
            <a:r>
              <a:rPr sz="1200">
                <a:solidFill>
                  <a:srgbClr val="1F2A37"/>
                </a:solidFill>
                <a:latin typeface="Calibri"/>
              </a:rPr>
              <a:t>  —  European Union list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794760"/>
            <a:ext cx="475488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37960" y="38130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rPr sz="1300" b="1">
                <a:solidFill>
                  <a:srgbClr val="1E40AF"/>
                </a:solidFill>
                <a:latin typeface="Calibri"/>
              </a:rPr>
              <a:t>World Bank Debarment</a:t>
            </a:r>
            <a:r>
              <a:rPr sz="1200">
                <a:solidFill>
                  <a:srgbClr val="1F2A37"/>
                </a:solidFill>
                <a:latin typeface="Calibri"/>
              </a:rPr>
              <a:t>  —  Procurement exclusions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389120"/>
            <a:ext cx="475488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440740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rPr sz="1300" b="1">
                <a:solidFill>
                  <a:srgbClr val="1E40AF"/>
                </a:solidFill>
                <a:latin typeface="Calibri"/>
              </a:rPr>
              <a:t>OpenSanctions API</a:t>
            </a:r>
            <a:r>
              <a:rPr sz="1200">
                <a:solidFill>
                  <a:srgbClr val="1F2A37"/>
                </a:solidFill>
                <a:latin typeface="Calibri"/>
              </a:rPr>
              <a:t>  —  Unified global database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86000" y="5212080"/>
            <a:ext cx="758952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800" b="1">
                <a:solidFill>
                  <a:srgbClr val="1F2A37"/>
                </a:solidFill>
                <a:latin typeface="Calibri"/>
              </a:defRPr>
            </a:pPr>
            <a:r>
              <a:t>Live, automated, continuous — not a one-time check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From Invisible to Investment-Ready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8/16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D9488"/>
                </a:solidFill>
                <a:latin typeface="Calibri"/>
              </a:defRPr>
            </a:pPr>
            <a:r>
              <a:t>THE NGO JOURNEY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88720" y="196596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JOIN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Free profile on kuja.org marketplace</a:t>
            </a:r>
          </a:p>
        </p:txBody>
      </p:sp>
      <p:sp>
        <p:nvSpPr>
          <p:cNvPr id="13" name="Chevron 12"/>
          <p:cNvSpPr/>
          <p:nvPr/>
        </p:nvSpPr>
        <p:spPr>
          <a:xfrm>
            <a:off x="2395728" y="2788920"/>
            <a:ext cx="365760" cy="36576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834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474720" y="196596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ASSESS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AI capacity assessment, get readiness score</a:t>
            </a:r>
          </a:p>
        </p:txBody>
      </p:sp>
      <p:sp>
        <p:nvSpPr>
          <p:cNvPr id="18" name="Chevron 17"/>
          <p:cNvSpPr/>
          <p:nvPr/>
        </p:nvSpPr>
        <p:spPr>
          <a:xfrm>
            <a:off x="4681728" y="2788920"/>
            <a:ext cx="365760" cy="36576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20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760720" y="196596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IMPROVE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30/60/90-day roadmap, learning resources</a:t>
            </a:r>
          </a:p>
        </p:txBody>
      </p:sp>
      <p:sp>
        <p:nvSpPr>
          <p:cNvPr id="23" name="Chevron 22"/>
          <p:cNvSpPr/>
          <p:nvPr/>
        </p:nvSpPr>
        <p:spPr>
          <a:xfrm>
            <a:off x="6967728" y="2788920"/>
            <a:ext cx="365760" cy="36576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406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046720" y="196596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APPLY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AI-guided applications, document coaching</a:t>
            </a:r>
          </a:p>
        </p:txBody>
      </p:sp>
      <p:sp>
        <p:nvSpPr>
          <p:cNvPr id="28" name="Chevron 27"/>
          <p:cNvSpPr/>
          <p:nvPr/>
        </p:nvSpPr>
        <p:spPr>
          <a:xfrm>
            <a:off x="9253728" y="2788920"/>
            <a:ext cx="365760" cy="36576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692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332720" y="196596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Seamless compliance reporting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572000"/>
            <a:ext cx="10515600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8640" y="4572000"/>
            <a:ext cx="2103120" cy="73152"/>
          </a:xfrm>
          <a:prstGeom prst="rect">
            <a:avLst/>
          </a:prstGeom>
          <a:solidFill>
            <a:srgbClr val="DC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651760" y="4572000"/>
            <a:ext cx="2103120" cy="73152"/>
          </a:xfrm>
          <a:prstGeom prst="rect">
            <a:avLst/>
          </a:prstGeom>
          <a:solidFill>
            <a:srgbClr val="BAD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754880" y="4572000"/>
            <a:ext cx="2103120" cy="73152"/>
          </a:xfrm>
          <a:prstGeom prst="rect">
            <a:avLst/>
          </a:prstGeom>
          <a:solidFill>
            <a:srgbClr val="7CB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858000" y="4572000"/>
            <a:ext cx="21031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961120" y="4572000"/>
            <a:ext cx="2103120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CA3AF"/>
                </a:solidFill>
                <a:latin typeface="Calibri"/>
              </a:defRPr>
            </a:pPr>
            <a:r>
              <a:t>Invisible  →  Visible  →  Assessed  →  Ready  →  Funded  →  Compliant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From Searching to Certainty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9/16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D9488"/>
                </a:solidFill>
                <a:latin typeface="Calibri"/>
              </a:defRPr>
            </a:pPr>
            <a:r>
              <a:t>THE DONOR JOURNEY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88720" y="19659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D9488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Browse verified, assessed organizations</a:t>
            </a:r>
          </a:p>
        </p:txBody>
      </p:sp>
      <p:sp>
        <p:nvSpPr>
          <p:cNvPr id="13" name="Chevron 12"/>
          <p:cNvSpPr/>
          <p:nvPr/>
        </p:nvSpPr>
        <p:spPr>
          <a:xfrm>
            <a:off x="2395728" y="2788920"/>
            <a:ext cx="365760" cy="365760"/>
          </a:xfrm>
          <a:prstGeom prst="chevron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834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474720" y="19659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D9488"/>
                </a:solidFill>
                <a:latin typeface="Calibri"/>
              </a:defRPr>
            </a:pPr>
            <a:r>
              <a:t>CONFIGURE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Set your criteria, thresholds, weightings</a:t>
            </a:r>
          </a:p>
        </p:txBody>
      </p:sp>
      <p:sp>
        <p:nvSpPr>
          <p:cNvPr id="18" name="Chevron 17"/>
          <p:cNvSpPr/>
          <p:nvPr/>
        </p:nvSpPr>
        <p:spPr>
          <a:xfrm>
            <a:off x="4681728" y="2788920"/>
            <a:ext cx="365760" cy="365760"/>
          </a:xfrm>
          <a:prstGeom prst="chevron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20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760720" y="19659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D9488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AI-ranked shortlists, dual scoring</a:t>
            </a:r>
          </a:p>
        </p:txBody>
      </p:sp>
      <p:sp>
        <p:nvSpPr>
          <p:cNvPr id="23" name="Chevron 22"/>
          <p:cNvSpPr/>
          <p:nvPr/>
        </p:nvSpPr>
        <p:spPr>
          <a:xfrm>
            <a:off x="6967728" y="2788920"/>
            <a:ext cx="365760" cy="365760"/>
          </a:xfrm>
          <a:prstGeom prst="chevron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406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046720" y="19659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D9488"/>
                </a:solidFill>
                <a:latin typeface="Calibri"/>
              </a:defRPr>
            </a:pPr>
            <a:r>
              <a:t>AWARD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Grant wizard with AI agreement parsing</a:t>
            </a:r>
          </a:p>
        </p:txBody>
      </p:sp>
      <p:sp>
        <p:nvSpPr>
          <p:cNvPr id="28" name="Chevron 27"/>
          <p:cNvSpPr/>
          <p:nvPr/>
        </p:nvSpPr>
        <p:spPr>
          <a:xfrm>
            <a:off x="9253728" y="2788920"/>
            <a:ext cx="365760" cy="365760"/>
          </a:xfrm>
          <a:prstGeom prst="chevron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692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332720" y="19659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D9488"/>
                </a:solidFill>
                <a:latin typeface="Calibri"/>
              </a:defRPr>
            </a:pPr>
            <a:r>
              <a:t>MONITOR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Real-time reporting, AI compliance scores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71600" y="4937760"/>
            <a:ext cx="9418320" cy="594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500" b="1">
                <a:solidFill>
                  <a:srgbClr val="1E40AF"/>
                </a:solidFill>
                <a:latin typeface="Calibri"/>
              </a:defRPr>
            </a:pPr>
            <a:r>
              <a:t>For donors using our ERP: multi-tenant real-time financial visibility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$4.79B Market. Zero Solutions for the Global South.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10/16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71600"/>
            <a:ext cx="3200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371600"/>
            <a:ext cx="32004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554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1E40AF"/>
                </a:solidFill>
                <a:latin typeface="Calibri"/>
              </a:defRPr>
            </a:pPr>
            <a:r>
              <a:t>$2.75B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F2A37"/>
                </a:solidFill>
                <a:latin typeface="Calibri"/>
              </a:defRPr>
            </a:pPr>
            <a:r>
              <a:t>Current Market (2024)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26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Grand View Research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371600"/>
            <a:ext cx="3200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371600"/>
            <a:ext cx="32004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1554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0D9488"/>
                </a:solidFill>
                <a:latin typeface="Calibri"/>
              </a:defRPr>
            </a:pPr>
            <a:r>
              <a:t>$4.79B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514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F2A37"/>
                </a:solidFill>
                <a:latin typeface="Calibri"/>
              </a:defRPr>
            </a:pPr>
            <a:r>
              <a:t>Projected (2030)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926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10.3% CAGR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371600"/>
            <a:ext cx="3200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1371600"/>
            <a:ext cx="3200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0" y="1554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F59E0B"/>
                </a:solidFill>
                <a:latin typeface="Calibri"/>
              </a:defRPr>
            </a:pPr>
            <a:r>
              <a:t>58.2%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14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F2A37"/>
                </a:solidFill>
                <a:latin typeface="Calibri"/>
              </a:defRPr>
            </a:pPr>
            <a:r>
              <a:t>NGO Segment Share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926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Largest segment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703320"/>
            <a:ext cx="3200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2960" y="3703320"/>
            <a:ext cx="32004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3886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1E40AF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F2A37"/>
                </a:solidFill>
                <a:latin typeface="Calibri"/>
              </a:defRPr>
            </a:pPr>
            <a:r>
              <a:t>Nonprofits Wanting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257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CEP 2025 Report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3703320"/>
            <a:ext cx="3200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80560" y="3703320"/>
            <a:ext cx="32004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0" y="3886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0D9488"/>
                </a:solidFill>
                <a:latin typeface="Calibri"/>
              </a:defRPr>
            </a:pPr>
            <a:r>
              <a:t>100K+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F2A37"/>
                </a:solidFill>
                <a:latin typeface="Calibri"/>
              </a:defRPr>
            </a:pPr>
            <a:r>
              <a:t>African CSOs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5257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Registered organizations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3703320"/>
            <a:ext cx="3200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138160" y="3703320"/>
            <a:ext cx="32004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38160" y="3886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DC2626"/>
                </a:solidFill>
                <a:latin typeface="Calibri"/>
              </a:defRPr>
            </a:pPr>
            <a:r>
              <a:t>&lt;5%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F2A37"/>
                </a:solidFill>
                <a:latin typeface="Calibri"/>
              </a:defRPr>
            </a:pPr>
            <a:r>
              <a:t>Direct Funding to Local Actors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5257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vs 25% Grand Bargain target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No One Else Does What We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11/16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234440"/>
            <a:ext cx="11887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Kuja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234440"/>
            <a:ext cx="11887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Fluxx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234440"/>
            <a:ext cx="11887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Submittable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234440"/>
            <a:ext cx="11887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SmartSimple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1234440"/>
            <a:ext cx="11887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UNPP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234440"/>
            <a:ext cx="11887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GlobalGiving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1234440"/>
            <a:ext cx="11887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Instrumentl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07040" y="1234440"/>
            <a:ext cx="11887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Xapien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73736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76200" bIns="50800" rtlCol="0" anchor="ctr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End-to-End Lifecycle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0704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240280"/>
            <a:ext cx="201168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76200" bIns="50800" rtlCol="0" anchor="ctr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AI-Powered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088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2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0704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74320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76200" bIns="50800" rtlCol="0" anchor="ctr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Capacity Assessment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5216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4088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1832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60704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246120"/>
            <a:ext cx="201168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76200" bIns="50800" rtlCol="0" anchor="ctr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Multi-Language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6344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5216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4088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1832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60704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374904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76200" bIns="50800" rtlCol="0" anchor="ctr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Global South Design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7472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6344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5216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4088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2960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1832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60704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4251960"/>
            <a:ext cx="201168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76200" bIns="50800" rtlCol="0" anchor="ctr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Marketplace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8600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47472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6344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5216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04088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41832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60704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475488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76200" bIns="50800" rtlCol="0" anchor="ctr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Affordable for CSOs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8600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47472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66344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85216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04088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2960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41832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60704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5257800"/>
            <a:ext cx="201168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76200" bIns="50800" rtlCol="0" anchor="ctr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Due Diligence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47472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6344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85216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04088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2960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41832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60704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76072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76200" bIns="50800" rtlCol="0" anchor="ctr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Reporting Module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8600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47472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66344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85216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04088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2960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41832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60704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286000" y="1234440"/>
            <a:ext cx="1188720" cy="5029200"/>
          </a:xfrm>
          <a:prstGeom prst="rect">
            <a:avLst/>
          </a:prstGeom>
          <a:noFill/>
          <a:ln w="381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0" y="274320"/>
            <a:ext cx="2286000" cy="22860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5029200"/>
            <a:ext cx="1371600" cy="13716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57200" y="5303520"/>
            <a:ext cx="914400" cy="9144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0" b="1">
                <a:solidFill>
                  <a:srgbClr val="FFFFFF"/>
                </a:solidFill>
                <a:latin typeface="Calibri"/>
              </a:defRPr>
            </a:pPr>
            <a:r>
              <a:t>KUJA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283464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Matching Local Brilliance with Global Funding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>
                <a:solidFill>
                  <a:srgbClr val="A5B4FC"/>
                </a:solidFill>
                <a:latin typeface="Calibri"/>
              </a:defRPr>
            </a:pPr>
            <a:r>
              <a:t>The first AI-powered grant management platform</a:t>
            </a:r>
            <a:br/>
            <a:r>
              <a:t>built for the Global South, by the Global South.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6692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93A3BF"/>
                </a:solidFill>
                <a:latin typeface="Calibri"/>
              </a:defRPr>
            </a:pPr>
            <a:r>
              <a:t>kuja.org  |  adesoafrica.org  |  info@adesoafrica.org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984</Words>
  <Application>Microsoft Office PowerPoint</Application>
  <PresentationFormat>Widescreen</PresentationFormat>
  <Paragraphs>300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Idiris Loyan</dc:creator>
  <cp:keywords/>
  <dc:description>generated using python-pptx</dc:description>
  <cp:lastModifiedBy>Idiris Loyan</cp:lastModifiedBy>
  <cp:revision>2</cp:revision>
  <dcterms:created xsi:type="dcterms:W3CDTF">2013-01-27T09:14:16Z</dcterms:created>
  <dcterms:modified xsi:type="dcterms:W3CDTF">2026-03-09T01:58:12Z</dcterms:modified>
  <cp:category/>
</cp:coreProperties>
</file>