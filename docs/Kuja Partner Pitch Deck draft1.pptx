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 snapToObjects="1">
      <p:cViewPr>
        <p:scale>
          <a:sx n="69" d="100"/>
          <a:sy n="69" d="100"/>
        </p:scale>
        <p:origin x="43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1371600" cy="13716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5486400"/>
            <a:ext cx="914400" cy="9144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The First AI-Powered End-to-End</a:t>
            </a:r>
            <a:br/>
            <a:r>
              <a:t>Grant Management Platform for the Global South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A5B4FC"/>
                </a:solidFill>
                <a:latin typeface="Calibri"/>
              </a:defRPr>
            </a:pPr>
            <a:r>
              <a:t>Powered by Adeso — 30 Years of African-Led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93A3BF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93A3BF"/>
                </a:solidFill>
                <a:latin typeface="Calibri"/>
              </a:defRPr>
            </a:pPr>
            <a:r>
              <a:t>kuja.org  |  adesoafrica.org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Funding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30175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CSOs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4–12 duplicate assessments per year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Below 5% direct funding to local orgs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English-first platforms exclude millions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Enterprise pricing excludes local orgs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417320"/>
            <a:ext cx="3017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DONORS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Cannot find vetted local partners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Risk perception barriers persist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Manual compliance monitoring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Lack of standardized assessments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0175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SYSTEMIC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$36B USAID cuts (2025)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Aid localization stalled at &lt;5%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No infrastructure for direct partnerships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Growing demand, shrinking supply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120640"/>
            <a:ext cx="941832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1F2A37"/>
                </a:solidFill>
                <a:latin typeface="Calibri"/>
              </a:defRPr>
            </a:pPr>
            <a:r>
              <a:t>Local organizations closest to communities have the most effective solutions — but the least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One Platform. Complete Grant Lifecycle.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Oval 7"/>
          <p:cNvSpPr/>
          <p:nvPr/>
        </p:nvSpPr>
        <p:spPr>
          <a:xfrm>
            <a:off x="89154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8318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ASSESS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Capacity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2900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27482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20640" y="18745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66460" y="1143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544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MATCH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 Matching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217920" y="2606040"/>
            <a:ext cx="274320" cy="4572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154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APPLY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AI-Guided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73736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8318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Dual Score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42900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27482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 Compliance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120640" y="370332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66460" y="29718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338328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31" name="Curved Left Arrow 30"/>
          <p:cNvSpPr/>
          <p:nvPr/>
        </p:nvSpPr>
        <p:spPr>
          <a:xfrm>
            <a:off x="6903720" y="3474720"/>
            <a:ext cx="548640" cy="640080"/>
          </a:xfrm>
          <a:prstGeom prst="curved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589520" y="3337560"/>
            <a:ext cx="411480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0" y="338328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WITHOUT OUR ERP?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F2A37"/>
                </a:solidFill>
                <a:latin typeface="Calibri"/>
              </a:defRPr>
            </a:pPr>
            <a:r>
              <a:t>Stages 1–7 work standalone. NGOs not using the ERP use our built-in reporting module to seamlessly submit compliance reports per grant agreement requirements.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029200"/>
            <a:ext cx="66751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800" b="1">
                <a:solidFill>
                  <a:srgbClr val="1F2A37"/>
                </a:solidFill>
                <a:latin typeface="Calibri"/>
              </a:defRPr>
            </a:pPr>
            <a:r>
              <a:t>No other platform covers all 8 stages.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Built by Those Who Know 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029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ADESO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Founded 1991 in Somalia — 30+ years humanitarian experience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Led the NEAR network for aid localization advocacy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Operations across Kenya, Somalia, and the Horn of Africa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501(c)(3) through Myriad USA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Deep relationships: Oxfam, IRC, Save the Children,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Gates Foundation, Hilton Foundation, Porticus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02920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Understands compliance from BOTH sides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— as an NGO AND as a grantor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Built by Global South, for Global South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Multi-language: Arabic, French, Spanish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live today — no competitor offers this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Not a Silicon Valley startup guessing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— lived experience solving these problems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594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"We didn't build Kuja because we read about the problem. We built it because we lived it."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AI-Powered Capacity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2194560" cy="10972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  <a:br/>
            <a:r>
              <a:t>Assessment</a:t>
            </a:r>
            <a:br/>
            <a:r>
              <a:t>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3716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  <a:br/>
            <a:r>
              <a:t>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828800"/>
            <a:ext cx="36576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0" y="13716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</a:t>
            </a:r>
            <a:br/>
            <a:r>
              <a:t>(TechSoup)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828800"/>
            <a:ext cx="36576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0" y="32004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UN-HACT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108960"/>
            <a:ext cx="36576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0" y="475488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CHS</a:t>
            </a:r>
            <a:br/>
            <a:r>
              <a:t>Alliance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36576" cy="21031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71600" y="41148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108960"/>
            <a:ext cx="36576" cy="14630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46304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+ Donor</a:t>
            </a:r>
            <a:br/>
            <a:r>
              <a:t>Specific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108960"/>
            <a:ext cx="36576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0" y="1188720"/>
            <a:ext cx="347472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18288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7830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Self-service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Complete online, no expensive consultants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0" y="27432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6974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Passportable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Assess once, share with multiple donors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0" y="36576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6118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AI-analyzed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Upload policies, AI identifies gaps and scores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0" y="45720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5262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Extensible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Add donor-specific or any new framework on demand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0" y="54864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4406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Configurable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Donors set their own criteria and weightings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That Works Across the Entire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15544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Document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Score 0–100 with detailed findings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Grant Agreement Parsing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Extract requirements automatically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83880" y="15544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Report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Per-requirement compliance scoring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329184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8680" y="3474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Capacity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 reviews policies, identifies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26280" y="347472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Grant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Smart NGO-donor matching algorithm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329184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83880" y="3474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Chat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Role-aware guidance (NGO vs Donor)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212080"/>
            <a:ext cx="94183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|  5 languages live (EN, FR, AR, ES, SW)  —  expanding to 10+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Real-Time Compliance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7/16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0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GOVERNMENT REGISTRY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Kenya — NGO Board / BRS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5420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Nigeria — Corporate Affairs Commission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0449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South Africa — DSD NPO Directorate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4787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Uganda — NGO Bureau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01168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20391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Tanzania — NiS Registry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51460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25420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Somalia — MOIFAR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017520"/>
            <a:ext cx="2286000" cy="38404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30449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1F2A37"/>
                </a:solidFill>
                <a:latin typeface="Calibri"/>
              </a:defRPr>
            </a:pPr>
            <a:r>
              <a:t>Ethiopia — ACSO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7 countries live today. Designed to expand to any Global South country</a:t>
            </a:r>
            <a:br/>
            <a:r>
              <a:t>with a government verification portal.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280160"/>
            <a:ext cx="53035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SANCTIONS SCREENING  —  4+ Databases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01168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20299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sz="1300" b="1">
                <a:solidFill>
                  <a:srgbClr val="1E40AF"/>
                </a:solidFill>
                <a:latin typeface="Calibri"/>
              </a:rPr>
              <a:t>UN Security Council</a:t>
            </a:r>
            <a:r>
              <a:rPr sz="1200">
                <a:solidFill>
                  <a:srgbClr val="1F2A37"/>
                </a:solidFill>
                <a:latin typeface="Calibri"/>
              </a:rPr>
              <a:t>  —  Global sanctions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60604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26243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sz="1300" b="1">
                <a:solidFill>
                  <a:srgbClr val="1E40AF"/>
                </a:solidFill>
                <a:latin typeface="Calibri"/>
              </a:rPr>
              <a:t>US OFAC SDN</a:t>
            </a:r>
            <a:r>
              <a:rPr sz="1200">
                <a:solidFill>
                  <a:srgbClr val="1F2A37"/>
                </a:solidFill>
                <a:latin typeface="Calibri"/>
              </a:rPr>
              <a:t>  —  US Treasury sanctions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20040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32186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sz="1300" b="1">
                <a:solidFill>
                  <a:srgbClr val="1E40AF"/>
                </a:solidFill>
                <a:latin typeface="Calibri"/>
              </a:rPr>
              <a:t>EU Financial Sanctions</a:t>
            </a:r>
            <a:r>
              <a:rPr sz="1200">
                <a:solidFill>
                  <a:srgbClr val="1F2A37"/>
                </a:solidFill>
                <a:latin typeface="Calibri"/>
              </a:rPr>
              <a:t>  —  European Union list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9476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3813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sz="1300" b="1">
                <a:solidFill>
                  <a:srgbClr val="1E40AF"/>
                </a:solidFill>
                <a:latin typeface="Calibri"/>
              </a:rPr>
              <a:t>World Bank Debarment</a:t>
            </a:r>
            <a:r>
              <a:rPr sz="1200">
                <a:solidFill>
                  <a:srgbClr val="1F2A37"/>
                </a:solidFill>
                <a:latin typeface="Calibri"/>
              </a:rPr>
              <a:t>  —  Procurement exclusions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38912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4407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sz="1300" b="1">
                <a:solidFill>
                  <a:srgbClr val="1E40AF"/>
                </a:solidFill>
                <a:latin typeface="Calibri"/>
              </a:rPr>
              <a:t>OpenSanctions API</a:t>
            </a:r>
            <a:r>
              <a:rPr sz="1200">
                <a:solidFill>
                  <a:srgbClr val="1F2A37"/>
                </a:solidFill>
                <a:latin typeface="Calibri"/>
              </a:rPr>
              <a:t>  —  Unified global database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212080"/>
            <a:ext cx="75895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800" b="1">
                <a:solidFill>
                  <a:srgbClr val="1F2A37"/>
                </a:solidFill>
                <a:latin typeface="Calibri"/>
              </a:defRPr>
            </a:pPr>
            <a:r>
              <a:t>Live, automated, continuous — not a one-time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Invisible to Investment-Ready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8/16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NGO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Free profile on kuja.org marketplace</a:t>
            </a:r>
          </a:p>
        </p:txBody>
      </p:sp>
      <p:sp>
        <p:nvSpPr>
          <p:cNvPr id="13" name="Chevron 12"/>
          <p:cNvSpPr/>
          <p:nvPr/>
        </p:nvSpPr>
        <p:spPr>
          <a:xfrm>
            <a:off x="2395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ASSESS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 capacity assessment, get readiness score</a:t>
            </a:r>
          </a:p>
        </p:txBody>
      </p:sp>
      <p:sp>
        <p:nvSpPr>
          <p:cNvPr id="18" name="Chevron 17"/>
          <p:cNvSpPr/>
          <p:nvPr/>
        </p:nvSpPr>
        <p:spPr>
          <a:xfrm>
            <a:off x="4681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20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30/60/90-day roadmap, learning resources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AI-guided applications, document coaching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253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Seamless compliance reporting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72000"/>
            <a:ext cx="10515600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572000"/>
            <a:ext cx="2103120" cy="73152"/>
          </a:xfrm>
          <a:prstGeom prst="rect">
            <a:avLst/>
          </a:prstGeom>
          <a:solidFill>
            <a:srgbClr val="DC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572000"/>
            <a:ext cx="2103120" cy="73152"/>
          </a:xfrm>
          <a:prstGeom prst="rect">
            <a:avLst/>
          </a:prstGeom>
          <a:solidFill>
            <a:srgbClr val="BAD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54880" y="4572000"/>
            <a:ext cx="2103120" cy="73152"/>
          </a:xfrm>
          <a:prstGeom prst="rect">
            <a:avLst/>
          </a:prstGeom>
          <a:solidFill>
            <a:srgbClr val="7CB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858000" y="4572000"/>
            <a:ext cx="21031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4572000"/>
            <a:ext cx="210312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Invisible  →  Visible  →  Assessed  →  Ready  →  Funded  →  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Searching to 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9/16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DONOR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Browse verified, assessed organizations</a:t>
            </a:r>
          </a:p>
        </p:txBody>
      </p:sp>
      <p:sp>
        <p:nvSpPr>
          <p:cNvPr id="13" name="Chevron 12"/>
          <p:cNvSpPr/>
          <p:nvPr/>
        </p:nvSpPr>
        <p:spPr>
          <a:xfrm>
            <a:off x="2395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Set your criteria, thresholds, weightings</a:t>
            </a:r>
          </a:p>
        </p:txBody>
      </p:sp>
      <p:sp>
        <p:nvSpPr>
          <p:cNvPr id="18" name="Chevron 17"/>
          <p:cNvSpPr/>
          <p:nvPr/>
        </p:nvSpPr>
        <p:spPr>
          <a:xfrm>
            <a:off x="4681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20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AI-ranked shortlists, dual scoring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AWARD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Grant wizard with AI agreement parsing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253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Real-time reporting, AI compliance scores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937760"/>
            <a:ext cx="9418320" cy="594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For donors using our ERP: multi-tenant real-time financial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 One Else Does What We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11/16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234440"/>
            <a:ext cx="11887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Fluxx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Submittable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SmartSimple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UNPP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GlobalGiving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Instrumentl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1234440"/>
            <a:ext cx="118872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Xapien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3736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End-to-End Lifecycle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0" y="173736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24028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0" y="224028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74320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Capacity Assessment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07040" y="274320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24612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07040" y="324612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74904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Global South Design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4088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07040" y="37490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25196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4088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1832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07040" y="425196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75488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Affordable for CSOs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6344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5216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4088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07040" y="47548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257800"/>
            <a:ext cx="201168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344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5216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4088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1832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607040" y="5257800"/>
            <a:ext cx="118872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76072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76200" bIns="50800" rtlCol="0" anchor="ctr"/>
          <a:lstStyle/>
          <a:p>
            <a:pPr algn="l">
              <a:defRPr sz="1200" b="1">
                <a:solidFill>
                  <a:srgbClr val="1F2A37"/>
                </a:solidFill>
                <a:latin typeface="Calibri"/>
              </a:defRPr>
            </a:pPr>
            <a:r>
              <a:t>Reporting Module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7472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6344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5216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4088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2960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41832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607040" y="57607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0" y="1234440"/>
            <a:ext cx="1188720" cy="5029200"/>
          </a:xfrm>
          <a:prstGeom prst="rect">
            <a:avLst/>
          </a:prstGeom>
          <a:noFill/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274320"/>
            <a:ext cx="2286000" cy="22860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1371600" cy="13716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5303520"/>
            <a:ext cx="914400" cy="9144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8346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Matching Local Brilliance with Global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A5B4FC"/>
                </a:solidFill>
                <a:latin typeface="Calibri"/>
              </a:defRPr>
            </a:pPr>
            <a:r>
              <a:t>The first AI-powered grant management platform</a:t>
            </a:r>
            <a:br/>
            <a:r>
              <a:t>built for the Global South, by the Global South.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3A3BF"/>
                </a:solidFill>
                <a:latin typeface="Calibri"/>
              </a:defRPr>
            </a:pPr>
            <a:r>
              <a:t>kuja.org  |  adesoafrica.org  |  info@adesoafrica.org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913</Words>
  <Application>Microsoft Office PowerPoint</Application>
  <PresentationFormat>Widescreen</PresentationFormat>
  <Paragraphs>279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Idiris Loyan</dc:creator>
  <cp:keywords/>
  <dc:description>generated using python-pptx</dc:description>
  <cp:lastModifiedBy>Idiris Loyan</cp:lastModifiedBy>
  <cp:revision>3</cp:revision>
  <dcterms:created xsi:type="dcterms:W3CDTF">2013-01-27T09:14:16Z</dcterms:created>
  <dcterms:modified xsi:type="dcterms:W3CDTF">2026-03-09T02:57:54Z</dcterms:modified>
  <cp:category/>
</cp:coreProperties>
</file>