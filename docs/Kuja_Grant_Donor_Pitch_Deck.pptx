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027"/>
        </a:solidFill>
      </p:bgPr>
    </p:bg>
    <p:spTree>
      <p:nvGrpSpPr>
        <p:cNvPr id="1" name=""/>
        <p:cNvGrpSpPr/>
        <p:nvPr/>
      </p:nvGrpSpPr>
      <p:grpSpPr>
        <a:xfrm>
          <a:off x="0" y="0"/>
          <a:ext cx="0" cy="0"/>
          <a:chOff x="0" y="0"/>
          <a:chExt cx="0" cy="0"/>
        </a:xfrm>
      </p:grpSpPr>
      <p:sp>
        <p:nvSpPr>
          <p:cNvPr id="2" name="Shape 0"/>
          <p:cNvSpPr/>
          <p:nvPr/>
        </p:nvSpPr>
        <p:spPr>
          <a:xfrm>
            <a:off x="3886200" y="548640"/>
            <a:ext cx="1371600" cy="1371600"/>
          </a:xfrm>
          <a:prstGeom prst="roundRect">
            <a:avLst>
              <a:gd name="adj" fmla="val 10000"/>
            </a:avLst>
          </a:prstGeom>
          <a:solidFill>
            <a:srgbClr val="028090"/>
          </a:solidFill>
          <a:ln/>
        </p:spPr>
      </p:sp>
      <p:sp>
        <p:nvSpPr>
          <p:cNvPr id="3" name="Text 1"/>
          <p:cNvSpPr/>
          <p:nvPr/>
        </p:nvSpPr>
        <p:spPr>
          <a:xfrm>
            <a:off x="3886200" y="548640"/>
            <a:ext cx="1371600" cy="1371600"/>
          </a:xfrm>
          <a:prstGeom prst="rect">
            <a:avLst/>
          </a:prstGeom>
          <a:noFill/>
          <a:ln/>
        </p:spPr>
        <p:txBody>
          <a:bodyPr wrap="square" rtlCol="0" anchor="ctr"/>
          <a:lstStyle/>
          <a:p>
            <a:pPr algn="ctr" indent="0" marL="0">
              <a:buNone/>
            </a:pPr>
            <a:r>
              <a:rPr lang="en-US" sz="5400" b="1" dirty="0">
                <a:solidFill>
                  <a:srgbClr val="FFFFFF"/>
                </a:solidFill>
                <a:latin typeface="Arial Black" pitchFamily="34" charset="0"/>
                <a:ea typeface="Arial Black" pitchFamily="34" charset="-122"/>
                <a:cs typeface="Arial Black" pitchFamily="34" charset="-120"/>
              </a:rPr>
              <a:t>K</a:t>
            </a:r>
            <a:endParaRPr lang="en-US" sz="5400" dirty="0"/>
          </a:p>
        </p:txBody>
      </p:sp>
      <p:sp>
        <p:nvSpPr>
          <p:cNvPr id="4" name="Text 2"/>
          <p:cNvSpPr/>
          <p:nvPr/>
        </p:nvSpPr>
        <p:spPr>
          <a:xfrm>
            <a:off x="457200" y="2286000"/>
            <a:ext cx="8229600" cy="731520"/>
          </a:xfrm>
          <a:prstGeom prst="rect">
            <a:avLst/>
          </a:prstGeom>
          <a:noFill/>
          <a:ln/>
        </p:spPr>
        <p:txBody>
          <a:bodyPr wrap="square" rtlCol="0" anchor="ctr"/>
          <a:lstStyle/>
          <a:p>
            <a:pPr algn="ctr" indent="0" marL="0">
              <a:buNone/>
            </a:pPr>
            <a:r>
              <a:rPr lang="en-US" sz="4400" dirty="0">
                <a:solidFill>
                  <a:srgbClr val="FFFFFF"/>
                </a:solidFill>
                <a:latin typeface="Arial Black" pitchFamily="34" charset="0"/>
                <a:ea typeface="Arial Black" pitchFamily="34" charset="-122"/>
                <a:cs typeface="Arial Black" pitchFamily="34" charset="-120"/>
              </a:rPr>
              <a:t>Kuja Grant Management</a:t>
            </a:r>
            <a:endParaRPr lang="en-US" sz="4400" dirty="0"/>
          </a:p>
        </p:txBody>
      </p:sp>
      <p:sp>
        <p:nvSpPr>
          <p:cNvPr id="5" name="Text 3"/>
          <p:cNvSpPr/>
          <p:nvPr/>
        </p:nvSpPr>
        <p:spPr>
          <a:xfrm>
            <a:off x="457200" y="3017520"/>
            <a:ext cx="8229600" cy="457200"/>
          </a:xfrm>
          <a:prstGeom prst="rect">
            <a:avLst/>
          </a:prstGeom>
          <a:noFill/>
          <a:ln/>
        </p:spPr>
        <p:txBody>
          <a:bodyPr wrap="square" rtlCol="0" anchor="ctr"/>
          <a:lstStyle/>
          <a:p>
            <a:pPr algn="ctr" indent="0" marL="0">
              <a:buNone/>
            </a:pPr>
            <a:r>
              <a:rPr lang="en-US" sz="1800" dirty="0">
                <a:solidFill>
                  <a:srgbClr val="00A896"/>
                </a:solidFill>
                <a:latin typeface="Arial" pitchFamily="34" charset="0"/>
                <a:ea typeface="Arial" pitchFamily="34" charset="-122"/>
                <a:cs typeface="Arial" pitchFamily="34" charset="-120"/>
              </a:rPr>
              <a:t>Empowering Donors to Find, Fund &amp; Monitor the Right Partners</a:t>
            </a:r>
            <a:endParaRPr lang="en-US" sz="1800" dirty="0"/>
          </a:p>
        </p:txBody>
      </p:sp>
      <p:sp>
        <p:nvSpPr>
          <p:cNvPr id="6" name="Text 4"/>
          <p:cNvSpPr/>
          <p:nvPr/>
        </p:nvSpPr>
        <p:spPr>
          <a:xfrm>
            <a:off x="457200" y="4572000"/>
            <a:ext cx="8229600" cy="365760"/>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Adeso — African Development Solutions | April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315200" cy="640080"/>
          </a:xfrm>
          <a:prstGeom prst="rect">
            <a:avLst/>
          </a:prstGeom>
          <a:noFill/>
          <a:ln/>
        </p:spPr>
        <p:txBody>
          <a:bodyPr wrap="square" rtlCol="0" anchor="ctr"/>
          <a:lstStyle/>
          <a:p>
            <a:pPr indent="0" marL="0">
              <a:buNone/>
            </a:pPr>
            <a:r>
              <a:rPr lang="en-US" sz="3400" b="1" dirty="0">
                <a:solidFill>
                  <a:srgbClr val="028090"/>
                </a:solidFill>
                <a:latin typeface="Arial" pitchFamily="34" charset="0"/>
                <a:ea typeface="Arial" pitchFamily="34" charset="-122"/>
                <a:cs typeface="Arial" pitchFamily="34" charset="-120"/>
              </a:rPr>
              <a:t>The Donor's Dilemma</a:t>
            </a:r>
            <a:endParaRPr lang="en-US" sz="3400" dirty="0"/>
          </a:p>
        </p:txBody>
      </p:sp>
      <p:sp>
        <p:nvSpPr>
          <p:cNvPr id="3" name="Text 1"/>
          <p:cNvSpPr/>
          <p:nvPr/>
        </p:nvSpPr>
        <p:spPr>
          <a:xfrm>
            <a:off x="640080" y="777240"/>
            <a:ext cx="73152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Three challenges every grant-maker faces</a:t>
            </a:r>
            <a:endParaRPr lang="en-US" sz="1400" dirty="0"/>
          </a:p>
        </p:txBody>
      </p:sp>
      <p:sp>
        <p:nvSpPr>
          <p:cNvPr id="4" name="Shape 2"/>
          <p:cNvSpPr/>
          <p:nvPr/>
        </p:nvSpPr>
        <p:spPr>
          <a:xfrm>
            <a:off x="457200" y="1371600"/>
            <a:ext cx="2468880" cy="2926080"/>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5" name="Shape 3"/>
          <p:cNvSpPr/>
          <p:nvPr/>
        </p:nvSpPr>
        <p:spPr>
          <a:xfrm>
            <a:off x="457200" y="1371600"/>
            <a:ext cx="54864" cy="2926080"/>
          </a:xfrm>
          <a:prstGeom prst="rect">
            <a:avLst/>
          </a:prstGeom>
          <a:solidFill>
            <a:srgbClr val="028090"/>
          </a:solidFill>
          <a:ln/>
        </p:spPr>
      </p:sp>
      <p:sp>
        <p:nvSpPr>
          <p:cNvPr id="6" name="Text 4"/>
          <p:cNvSpPr/>
          <p:nvPr/>
        </p:nvSpPr>
        <p:spPr>
          <a:xfrm>
            <a:off x="640080" y="1554480"/>
            <a:ext cx="2103120" cy="640080"/>
          </a:xfrm>
          <a:prstGeom prst="rect">
            <a:avLst/>
          </a:prstGeom>
          <a:noFill/>
          <a:ln/>
        </p:spPr>
        <p:txBody>
          <a:bodyPr wrap="square" rtlCol="0" anchor="t"/>
          <a:lstStyle/>
          <a:p>
            <a:pPr indent="0" marL="0">
              <a:buNone/>
            </a:pPr>
            <a:r>
              <a:rPr lang="en-US" sz="1500" b="1" dirty="0">
                <a:solidFill>
                  <a:srgbClr val="1A1A2E"/>
                </a:solidFill>
                <a:latin typeface="Arial" pitchFamily="34" charset="0"/>
                <a:ea typeface="Arial" pitchFamily="34" charset="-122"/>
                <a:cs typeface="Arial" pitchFamily="34" charset="-120"/>
              </a:rPr>
              <a:t>Finding the Right Partners</a:t>
            </a:r>
            <a:endParaRPr lang="en-US" sz="1500" dirty="0"/>
          </a:p>
        </p:txBody>
      </p:sp>
      <p:sp>
        <p:nvSpPr>
          <p:cNvPr id="7" name="Text 5"/>
          <p:cNvSpPr/>
          <p:nvPr/>
        </p:nvSpPr>
        <p:spPr>
          <a:xfrm>
            <a:off x="640080" y="2194560"/>
            <a:ext cx="2103120" cy="1828800"/>
          </a:xfrm>
          <a:prstGeom prst="rect">
            <a:avLst/>
          </a:prstGeom>
          <a:noFill/>
          <a:ln/>
        </p:spPr>
        <p:txBody>
          <a:bodyPr wrap="square" rtlCol="0" anchor="t"/>
          <a:lstStyle/>
          <a:p>
            <a:pPr indent="0" marL="0">
              <a:buNone/>
            </a:pPr>
            <a:r>
              <a:rPr lang="en-US" sz="1100" dirty="0">
                <a:solidFill>
                  <a:srgbClr val="666666"/>
                </a:solidFill>
                <a:latin typeface="Arial" pitchFamily="34" charset="0"/>
                <a:ea typeface="Arial" pitchFamily="34" charset="-122"/>
                <a:cs typeface="Arial" pitchFamily="34" charset="-120"/>
              </a:rPr>
              <a:t>Identifying qualified local NGOs with verified capacity across fragmented systems</a:t>
            </a:r>
            <a:endParaRPr lang="en-US" sz="1100" dirty="0"/>
          </a:p>
        </p:txBody>
      </p:sp>
      <p:sp>
        <p:nvSpPr>
          <p:cNvPr id="8" name="Shape 6"/>
          <p:cNvSpPr/>
          <p:nvPr/>
        </p:nvSpPr>
        <p:spPr>
          <a:xfrm>
            <a:off x="3291840" y="1371600"/>
            <a:ext cx="2468880" cy="2926080"/>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9" name="Shape 7"/>
          <p:cNvSpPr/>
          <p:nvPr/>
        </p:nvSpPr>
        <p:spPr>
          <a:xfrm>
            <a:off x="3291840" y="1371600"/>
            <a:ext cx="54864" cy="2926080"/>
          </a:xfrm>
          <a:prstGeom prst="rect">
            <a:avLst/>
          </a:prstGeom>
          <a:solidFill>
            <a:srgbClr val="028090"/>
          </a:solidFill>
          <a:ln/>
        </p:spPr>
      </p:sp>
      <p:sp>
        <p:nvSpPr>
          <p:cNvPr id="10" name="Text 8"/>
          <p:cNvSpPr/>
          <p:nvPr/>
        </p:nvSpPr>
        <p:spPr>
          <a:xfrm>
            <a:off x="3474720" y="1554480"/>
            <a:ext cx="2103120" cy="640080"/>
          </a:xfrm>
          <a:prstGeom prst="rect">
            <a:avLst/>
          </a:prstGeom>
          <a:noFill/>
          <a:ln/>
        </p:spPr>
        <p:txBody>
          <a:bodyPr wrap="square" rtlCol="0" anchor="t"/>
          <a:lstStyle/>
          <a:p>
            <a:pPr indent="0" marL="0">
              <a:buNone/>
            </a:pPr>
            <a:r>
              <a:rPr lang="en-US" sz="1500" b="1" dirty="0">
                <a:solidFill>
                  <a:srgbClr val="1A1A2E"/>
                </a:solidFill>
                <a:latin typeface="Arial" pitchFamily="34" charset="0"/>
                <a:ea typeface="Arial" pitchFamily="34" charset="-122"/>
                <a:cs typeface="Arial" pitchFamily="34" charset="-120"/>
              </a:rPr>
              <a:t>Managing Grant Compliance</a:t>
            </a:r>
            <a:endParaRPr lang="en-US" sz="1500" dirty="0"/>
          </a:p>
        </p:txBody>
      </p:sp>
      <p:sp>
        <p:nvSpPr>
          <p:cNvPr id="11" name="Text 9"/>
          <p:cNvSpPr/>
          <p:nvPr/>
        </p:nvSpPr>
        <p:spPr>
          <a:xfrm>
            <a:off x="3474720" y="2194560"/>
            <a:ext cx="2103120" cy="1828800"/>
          </a:xfrm>
          <a:prstGeom prst="rect">
            <a:avLst/>
          </a:prstGeom>
          <a:noFill/>
          <a:ln/>
        </p:spPr>
        <p:txBody>
          <a:bodyPr wrap="square" rtlCol="0" anchor="t"/>
          <a:lstStyle/>
          <a:p>
            <a:pPr indent="0" marL="0">
              <a:buNone/>
            </a:pPr>
            <a:r>
              <a:rPr lang="en-US" sz="1100" dirty="0">
                <a:solidFill>
                  <a:srgbClr val="666666"/>
                </a:solidFill>
                <a:latin typeface="Arial" pitchFamily="34" charset="0"/>
                <a:ea typeface="Arial" pitchFamily="34" charset="-122"/>
                <a:cs typeface="Arial" pitchFamily="34" charset="-120"/>
              </a:rPr>
              <a:t>Tracking reporting requirements, deadlines, and financial accountability across grantees</a:t>
            </a:r>
            <a:endParaRPr lang="en-US" sz="1100" dirty="0"/>
          </a:p>
        </p:txBody>
      </p:sp>
      <p:sp>
        <p:nvSpPr>
          <p:cNvPr id="12" name="Shape 10"/>
          <p:cNvSpPr/>
          <p:nvPr/>
        </p:nvSpPr>
        <p:spPr>
          <a:xfrm>
            <a:off x="6126480" y="1371600"/>
            <a:ext cx="2468880" cy="2926080"/>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13" name="Shape 11"/>
          <p:cNvSpPr/>
          <p:nvPr/>
        </p:nvSpPr>
        <p:spPr>
          <a:xfrm>
            <a:off x="6126480" y="1371600"/>
            <a:ext cx="54864" cy="2926080"/>
          </a:xfrm>
          <a:prstGeom prst="rect">
            <a:avLst/>
          </a:prstGeom>
          <a:solidFill>
            <a:srgbClr val="028090"/>
          </a:solidFill>
          <a:ln/>
        </p:spPr>
      </p:sp>
      <p:sp>
        <p:nvSpPr>
          <p:cNvPr id="14" name="Text 12"/>
          <p:cNvSpPr/>
          <p:nvPr/>
        </p:nvSpPr>
        <p:spPr>
          <a:xfrm>
            <a:off x="6309360" y="1554480"/>
            <a:ext cx="2103120" cy="640080"/>
          </a:xfrm>
          <a:prstGeom prst="rect">
            <a:avLst/>
          </a:prstGeom>
          <a:noFill/>
          <a:ln/>
        </p:spPr>
        <p:txBody>
          <a:bodyPr wrap="square" rtlCol="0" anchor="t"/>
          <a:lstStyle/>
          <a:p>
            <a:pPr indent="0" marL="0">
              <a:buNone/>
            </a:pPr>
            <a:r>
              <a:rPr lang="en-US" sz="1500" b="1" dirty="0">
                <a:solidFill>
                  <a:srgbClr val="1A1A2E"/>
                </a:solidFill>
                <a:latin typeface="Arial" pitchFamily="34" charset="0"/>
                <a:ea typeface="Arial" pitchFamily="34" charset="-122"/>
                <a:cs typeface="Arial" pitchFamily="34" charset="-120"/>
              </a:rPr>
              <a:t>Mitigating Risk</a:t>
            </a:r>
            <a:endParaRPr lang="en-US" sz="1500" dirty="0"/>
          </a:p>
        </p:txBody>
      </p:sp>
      <p:sp>
        <p:nvSpPr>
          <p:cNvPr id="15" name="Text 13"/>
          <p:cNvSpPr/>
          <p:nvPr/>
        </p:nvSpPr>
        <p:spPr>
          <a:xfrm>
            <a:off x="6309360" y="2194560"/>
            <a:ext cx="2103120" cy="1828800"/>
          </a:xfrm>
          <a:prstGeom prst="rect">
            <a:avLst/>
          </a:prstGeom>
          <a:noFill/>
          <a:ln/>
        </p:spPr>
        <p:txBody>
          <a:bodyPr wrap="square" rtlCol="0" anchor="t"/>
          <a:lstStyle/>
          <a:p>
            <a:pPr indent="0" marL="0">
              <a:buNone/>
            </a:pPr>
            <a:r>
              <a:rPr lang="en-US" sz="1100" dirty="0">
                <a:solidFill>
                  <a:srgbClr val="666666"/>
                </a:solidFill>
                <a:latin typeface="Arial" pitchFamily="34" charset="0"/>
                <a:ea typeface="Arial" pitchFamily="34" charset="-122"/>
                <a:cs typeface="Arial" pitchFamily="34" charset="-120"/>
              </a:rPr>
              <a:t>Sanctions screening, registration verification, and ongoing monitoring require manual effort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4"/>
        </a:solidFill>
      </p:bgPr>
    </p:bg>
    <p:spTree>
      <p:nvGrpSpPr>
        <p:cNvPr id="1" name=""/>
        <p:cNvGrpSpPr/>
        <p:nvPr/>
      </p:nvGrpSpPr>
      <p:grpSpPr>
        <a:xfrm>
          <a:off x="0" y="0"/>
          <a:ext cx="0" cy="0"/>
          <a:chOff x="0" y="0"/>
          <a:chExt cx="0" cy="0"/>
        </a:xfrm>
      </p:grpSpPr>
      <p:sp>
        <p:nvSpPr>
          <p:cNvPr id="2" name="Text 0"/>
          <p:cNvSpPr/>
          <p:nvPr/>
        </p:nvSpPr>
        <p:spPr>
          <a:xfrm>
            <a:off x="640080" y="274320"/>
            <a:ext cx="7315200" cy="640080"/>
          </a:xfrm>
          <a:prstGeom prst="rect">
            <a:avLst/>
          </a:prstGeom>
          <a:noFill/>
          <a:ln/>
        </p:spPr>
        <p:txBody>
          <a:bodyPr wrap="square" rtlCol="0" anchor="ctr"/>
          <a:lstStyle/>
          <a:p>
            <a:pPr indent="0" marL="0">
              <a:buNone/>
            </a:pPr>
            <a:r>
              <a:rPr lang="en-US" sz="3400" b="1" dirty="0">
                <a:solidFill>
                  <a:srgbClr val="028090"/>
                </a:solidFill>
                <a:latin typeface="Arial" pitchFamily="34" charset="0"/>
                <a:ea typeface="Arial" pitchFamily="34" charset="-122"/>
                <a:cs typeface="Arial" pitchFamily="34" charset="-120"/>
              </a:rPr>
              <a:t>A Growing Market Need</a:t>
            </a:r>
            <a:endParaRPr lang="en-US" sz="3400" dirty="0"/>
          </a:p>
        </p:txBody>
      </p:sp>
      <p:sp>
        <p:nvSpPr>
          <p:cNvPr id="3" name="Text 1"/>
          <p:cNvSpPr/>
          <p:nvPr/>
        </p:nvSpPr>
        <p:spPr>
          <a:xfrm>
            <a:off x="640080" y="1371600"/>
            <a:ext cx="2743200" cy="914400"/>
          </a:xfrm>
          <a:prstGeom prst="rect">
            <a:avLst/>
          </a:prstGeom>
          <a:noFill/>
          <a:ln/>
        </p:spPr>
        <p:txBody>
          <a:bodyPr wrap="square" rtlCol="0" anchor="ctr"/>
          <a:lstStyle/>
          <a:p>
            <a:pPr indent="0" marL="0">
              <a:buNone/>
            </a:pPr>
            <a:r>
              <a:rPr lang="en-US" sz="6000" b="1" dirty="0">
                <a:solidFill>
                  <a:srgbClr val="028090"/>
                </a:solidFill>
                <a:latin typeface="Arial" pitchFamily="34" charset="0"/>
                <a:ea typeface="Arial" pitchFamily="34" charset="-122"/>
                <a:cs typeface="Arial" pitchFamily="34" charset="-120"/>
              </a:rPr>
              <a:t>$4.79B</a:t>
            </a:r>
            <a:endParaRPr lang="en-US" sz="6000" dirty="0"/>
          </a:p>
        </p:txBody>
      </p:sp>
      <p:sp>
        <p:nvSpPr>
          <p:cNvPr id="4" name="Text 2"/>
          <p:cNvSpPr/>
          <p:nvPr/>
        </p:nvSpPr>
        <p:spPr>
          <a:xfrm>
            <a:off x="640080" y="2286000"/>
            <a:ext cx="2743200" cy="365760"/>
          </a:xfrm>
          <a:prstGeom prst="rect">
            <a:avLst/>
          </a:prstGeom>
          <a:noFill/>
          <a:ln/>
        </p:spPr>
        <p:txBody>
          <a:bodyPr wrap="square" rtlCol="0" anchor="ctr"/>
          <a:lstStyle/>
          <a:p>
            <a:pPr indent="0" marL="0">
              <a:buNone/>
            </a:pPr>
            <a:r>
              <a:rPr lang="en-US" sz="1400" dirty="0">
                <a:solidFill>
                  <a:srgbClr val="1A1A2E"/>
                </a:solidFill>
                <a:latin typeface="Arial" pitchFamily="34" charset="0"/>
                <a:ea typeface="Arial" pitchFamily="34" charset="-122"/>
                <a:cs typeface="Arial" pitchFamily="34" charset="-120"/>
              </a:rPr>
              <a:t>Grant Management Market by 2030</a:t>
            </a:r>
            <a:endParaRPr lang="en-US" sz="1400" dirty="0"/>
          </a:p>
        </p:txBody>
      </p:sp>
      <p:sp>
        <p:nvSpPr>
          <p:cNvPr id="5" name="Shape 3"/>
          <p:cNvSpPr/>
          <p:nvPr/>
        </p:nvSpPr>
        <p:spPr>
          <a:xfrm>
            <a:off x="3200400" y="1645920"/>
            <a:ext cx="1097280" cy="1097280"/>
          </a:xfrm>
          <a:prstGeom prst="ellipse">
            <a:avLst/>
          </a:prstGeom>
          <a:solidFill>
            <a:srgbClr val="F4A261"/>
          </a:solidFill>
          <a:ln/>
        </p:spPr>
      </p:sp>
      <p:sp>
        <p:nvSpPr>
          <p:cNvPr id="6" name="Text 4"/>
          <p:cNvSpPr/>
          <p:nvPr/>
        </p:nvSpPr>
        <p:spPr>
          <a:xfrm>
            <a:off x="3200400" y="1645920"/>
            <a:ext cx="1097280" cy="10972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10.3%</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CAGR</a:t>
            </a:r>
            <a:endParaRPr lang="en-US" sz="1400" dirty="0"/>
          </a:p>
        </p:txBody>
      </p:sp>
      <p:sp>
        <p:nvSpPr>
          <p:cNvPr id="7" name="Shape 5"/>
          <p:cNvSpPr/>
          <p:nvPr/>
        </p:nvSpPr>
        <p:spPr>
          <a:xfrm>
            <a:off x="5303520" y="1371600"/>
            <a:ext cx="2743200" cy="731520"/>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8" name="Text 6"/>
          <p:cNvSpPr/>
          <p:nvPr/>
        </p:nvSpPr>
        <p:spPr>
          <a:xfrm>
            <a:off x="5303520" y="1371600"/>
            <a:ext cx="2743200" cy="731520"/>
          </a:xfrm>
          <a:prstGeom prst="rect">
            <a:avLst/>
          </a:prstGeom>
          <a:noFill/>
          <a:ln/>
        </p:spPr>
        <p:txBody>
          <a:bodyPr wrap="square" rtlCol="0" anchor="ctr"/>
          <a:lstStyle/>
          <a:p>
            <a:pPr algn="ctr" indent="0" marL="0">
              <a:buNone/>
            </a:pPr>
            <a:r>
              <a:rPr lang="en-US" sz="1600" b="1" dirty="0">
                <a:solidFill>
                  <a:srgbClr val="028090"/>
                </a:solidFill>
                <a:latin typeface="Arial" pitchFamily="34" charset="0"/>
                <a:ea typeface="Arial" pitchFamily="34" charset="-122"/>
                <a:cs typeface="Arial" pitchFamily="34" charset="-120"/>
              </a:rPr>
              <a:t>58.2% NGO Segment</a:t>
            </a:r>
            <a:endParaRPr lang="en-US" sz="1600" dirty="0"/>
          </a:p>
        </p:txBody>
      </p:sp>
      <p:sp>
        <p:nvSpPr>
          <p:cNvPr id="9" name="Shape 7"/>
          <p:cNvSpPr/>
          <p:nvPr/>
        </p:nvSpPr>
        <p:spPr>
          <a:xfrm>
            <a:off x="5303520" y="2286000"/>
            <a:ext cx="2743200" cy="731520"/>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10" name="Text 8"/>
          <p:cNvSpPr/>
          <p:nvPr/>
        </p:nvSpPr>
        <p:spPr>
          <a:xfrm>
            <a:off x="5303520" y="2286000"/>
            <a:ext cx="2743200" cy="731520"/>
          </a:xfrm>
          <a:prstGeom prst="rect">
            <a:avLst/>
          </a:prstGeom>
          <a:noFill/>
          <a:ln/>
        </p:spPr>
        <p:txBody>
          <a:bodyPr wrap="square" rtlCol="0" anchor="ctr"/>
          <a:lstStyle/>
          <a:p>
            <a:pPr algn="ctr" indent="0" marL="0">
              <a:buNone/>
            </a:pPr>
            <a:r>
              <a:rPr lang="en-US" sz="1600" b="1" dirty="0">
                <a:solidFill>
                  <a:srgbClr val="028090"/>
                </a:solidFill>
                <a:latin typeface="Arial" pitchFamily="34" charset="0"/>
                <a:ea typeface="Arial" pitchFamily="34" charset="-122"/>
                <a:cs typeface="Arial" pitchFamily="34" charset="-120"/>
              </a:rPr>
              <a:t>90% Want AI Tools</a:t>
            </a:r>
            <a:endParaRPr lang="en-US" sz="1600" dirty="0"/>
          </a:p>
        </p:txBody>
      </p:sp>
      <p:sp>
        <p:nvSpPr>
          <p:cNvPr id="11" name="Shape 9"/>
          <p:cNvSpPr/>
          <p:nvPr/>
        </p:nvSpPr>
        <p:spPr>
          <a:xfrm>
            <a:off x="5303520" y="3200400"/>
            <a:ext cx="2743200" cy="731520"/>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12" name="Text 10"/>
          <p:cNvSpPr/>
          <p:nvPr/>
        </p:nvSpPr>
        <p:spPr>
          <a:xfrm>
            <a:off x="5303520" y="3200400"/>
            <a:ext cx="2743200" cy="731520"/>
          </a:xfrm>
          <a:prstGeom prst="rect">
            <a:avLst/>
          </a:prstGeom>
          <a:noFill/>
          <a:ln/>
        </p:spPr>
        <p:txBody>
          <a:bodyPr wrap="square" rtlCol="0" anchor="ctr"/>
          <a:lstStyle/>
          <a:p>
            <a:pPr algn="ctr" indent="0" marL="0">
              <a:buNone/>
            </a:pPr>
            <a:r>
              <a:rPr lang="en-US" sz="1600" b="1" dirty="0">
                <a:solidFill>
                  <a:srgbClr val="028090"/>
                </a:solidFill>
                <a:latin typeface="Arial" pitchFamily="34" charset="0"/>
                <a:ea typeface="Arial" pitchFamily="34" charset="-122"/>
                <a:cs typeface="Arial" pitchFamily="34" charset="-120"/>
              </a:rPr>
              <a:t>65% Cloud SaaS</a:t>
            </a:r>
            <a:endParaRPr lang="en-US" sz="1600" dirty="0"/>
          </a:p>
        </p:txBody>
      </p:sp>
      <p:sp>
        <p:nvSpPr>
          <p:cNvPr id="13" name="Text 11"/>
          <p:cNvSpPr/>
          <p:nvPr/>
        </p:nvSpPr>
        <p:spPr>
          <a:xfrm>
            <a:off x="457200" y="4572000"/>
            <a:ext cx="8229600" cy="365760"/>
          </a:xfrm>
          <a:prstGeom prst="rect">
            <a:avLst/>
          </a:prstGeom>
          <a:noFill/>
          <a:ln/>
        </p:spPr>
        <p:txBody>
          <a:bodyPr wrap="square" rtlCol="0" anchor="ctr"/>
          <a:lstStyle/>
          <a:p>
            <a:pPr algn="ctr" indent="0" marL="0">
              <a:buNone/>
            </a:pPr>
            <a:r>
              <a:rPr lang="en-US" sz="1100" dirty="0">
                <a:solidFill>
                  <a:srgbClr val="666666"/>
                </a:solidFill>
                <a:latin typeface="Arial" pitchFamily="34" charset="0"/>
                <a:ea typeface="Arial" pitchFamily="34" charset="-122"/>
                <a:cs typeface="Arial" pitchFamily="34" charset="-120"/>
              </a:rPr>
              <a:t>From $2.75B (2024) — the shift to AI-powered grant management is accelerating</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027"/>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Making Global South NGOs Findable &amp; Fundable</a:t>
            </a:r>
            <a:endParaRPr lang="en-US" sz="3200" dirty="0"/>
          </a:p>
        </p:txBody>
      </p:sp>
      <p:sp>
        <p:nvSpPr>
          <p:cNvPr id="3" name="Text 1"/>
          <p:cNvSpPr/>
          <p:nvPr/>
        </p:nvSpPr>
        <p:spPr>
          <a:xfrm>
            <a:off x="457200" y="914400"/>
            <a:ext cx="8229600" cy="365760"/>
          </a:xfrm>
          <a:prstGeom prst="rect">
            <a:avLst/>
          </a:prstGeom>
          <a:noFill/>
          <a:ln/>
        </p:spPr>
        <p:txBody>
          <a:bodyPr wrap="square" rtlCol="0" anchor="ctr"/>
          <a:lstStyle/>
          <a:p>
            <a:pPr algn="ctr" indent="0" marL="0">
              <a:buNone/>
            </a:pPr>
            <a:r>
              <a:rPr lang="en-US" sz="1500" dirty="0">
                <a:solidFill>
                  <a:srgbClr val="00A896"/>
                </a:solidFill>
                <a:latin typeface="Arial" pitchFamily="34" charset="0"/>
                <a:ea typeface="Arial" pitchFamily="34" charset="-122"/>
                <a:cs typeface="Arial" pitchFamily="34" charset="-120"/>
              </a:rPr>
              <a:t>Removing barriers between qualified local organizations and funding</a:t>
            </a:r>
            <a:endParaRPr lang="en-US" sz="1500" dirty="0"/>
          </a:p>
        </p:txBody>
      </p:sp>
      <p:sp>
        <p:nvSpPr>
          <p:cNvPr id="4" name="Shape 2"/>
          <p:cNvSpPr/>
          <p:nvPr/>
        </p:nvSpPr>
        <p:spPr>
          <a:xfrm>
            <a:off x="548640" y="1554480"/>
            <a:ext cx="2377440" cy="2377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685800" y="1691640"/>
            <a:ext cx="2103120" cy="457200"/>
          </a:xfrm>
          <a:prstGeom prst="rect">
            <a:avLst/>
          </a:prstGeom>
          <a:noFill/>
          <a:ln/>
        </p:spPr>
        <p:txBody>
          <a:bodyPr wrap="square" rtlCol="0" anchor="ctr"/>
          <a:lstStyle/>
          <a:p>
            <a:pPr indent="0" marL="0">
              <a:buNone/>
            </a:pPr>
            <a:r>
              <a:rPr lang="en-US" sz="1800" b="1" dirty="0">
                <a:solidFill>
                  <a:srgbClr val="028090"/>
                </a:solidFill>
                <a:latin typeface="Arial" pitchFamily="34" charset="0"/>
                <a:ea typeface="Arial" pitchFamily="34" charset="-122"/>
                <a:cs typeface="Arial" pitchFamily="34" charset="-120"/>
              </a:rPr>
              <a:t>Findable</a:t>
            </a:r>
            <a:endParaRPr lang="en-US" sz="1800" dirty="0"/>
          </a:p>
        </p:txBody>
      </p:sp>
      <p:sp>
        <p:nvSpPr>
          <p:cNvPr id="6" name="Text 4"/>
          <p:cNvSpPr/>
          <p:nvPr/>
        </p:nvSpPr>
        <p:spPr>
          <a:xfrm>
            <a:off x="685800" y="2194560"/>
            <a:ext cx="2103120" cy="1554480"/>
          </a:xfrm>
          <a:prstGeom prst="rect">
            <a:avLst/>
          </a:prstGeom>
          <a:noFill/>
          <a:ln/>
        </p:spPr>
        <p:txBody>
          <a:bodyPr wrap="square" rtlCol="0" anchor="t"/>
          <a:lstStyle/>
          <a:p>
            <a:pPr indent="0" marL="0">
              <a:buNone/>
            </a:pPr>
            <a:r>
              <a:rPr lang="en-US" sz="1100" dirty="0">
                <a:solidFill>
                  <a:srgbClr val="1A1A2E"/>
                </a:solidFill>
                <a:latin typeface="Arial" pitchFamily="34" charset="0"/>
                <a:ea typeface="Arial" pitchFamily="34" charset="-122"/>
                <a:cs typeface="Arial" pitchFamily="34" charset="-120"/>
              </a:rPr>
              <a:t>NGO marketplace with verified profiles, capacity scores, and standardized assessments</a:t>
            </a:r>
            <a:endParaRPr lang="en-US" sz="1100" dirty="0"/>
          </a:p>
        </p:txBody>
      </p:sp>
      <p:sp>
        <p:nvSpPr>
          <p:cNvPr id="7" name="Shape 5"/>
          <p:cNvSpPr/>
          <p:nvPr/>
        </p:nvSpPr>
        <p:spPr>
          <a:xfrm>
            <a:off x="3383280" y="1554480"/>
            <a:ext cx="2377440" cy="2377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Text 6"/>
          <p:cNvSpPr/>
          <p:nvPr/>
        </p:nvSpPr>
        <p:spPr>
          <a:xfrm>
            <a:off x="3520440" y="1691640"/>
            <a:ext cx="2103120" cy="457200"/>
          </a:xfrm>
          <a:prstGeom prst="rect">
            <a:avLst/>
          </a:prstGeom>
          <a:noFill/>
          <a:ln/>
        </p:spPr>
        <p:txBody>
          <a:bodyPr wrap="square" rtlCol="0" anchor="ctr"/>
          <a:lstStyle/>
          <a:p>
            <a:pPr indent="0" marL="0">
              <a:buNone/>
            </a:pPr>
            <a:r>
              <a:rPr lang="en-US" sz="1800" b="1" dirty="0">
                <a:solidFill>
                  <a:srgbClr val="028090"/>
                </a:solidFill>
                <a:latin typeface="Arial" pitchFamily="34" charset="0"/>
                <a:ea typeface="Arial" pitchFamily="34" charset="-122"/>
                <a:cs typeface="Arial" pitchFamily="34" charset="-120"/>
              </a:rPr>
              <a:t>Fundable</a:t>
            </a:r>
            <a:endParaRPr lang="en-US" sz="1800" dirty="0"/>
          </a:p>
        </p:txBody>
      </p:sp>
      <p:sp>
        <p:nvSpPr>
          <p:cNvPr id="9" name="Text 7"/>
          <p:cNvSpPr/>
          <p:nvPr/>
        </p:nvSpPr>
        <p:spPr>
          <a:xfrm>
            <a:off x="3520440" y="2194560"/>
            <a:ext cx="2103120" cy="1554480"/>
          </a:xfrm>
          <a:prstGeom prst="rect">
            <a:avLst/>
          </a:prstGeom>
          <a:noFill/>
          <a:ln/>
        </p:spPr>
        <p:txBody>
          <a:bodyPr wrap="square" rtlCol="0" anchor="t"/>
          <a:lstStyle/>
          <a:p>
            <a:pPr indent="0" marL="0">
              <a:buNone/>
            </a:pPr>
            <a:r>
              <a:rPr lang="en-US" sz="1100" dirty="0">
                <a:solidFill>
                  <a:srgbClr val="1A1A2E"/>
                </a:solidFill>
                <a:latin typeface="Arial" pitchFamily="34" charset="0"/>
                <a:ea typeface="Arial" pitchFamily="34" charset="-122"/>
                <a:cs typeface="Arial" pitchFamily="34" charset="-120"/>
              </a:rPr>
              <a:t>AI-guided applications that meet donor standards. Pre-verified compliance and sanctions clearance</a:t>
            </a:r>
            <a:endParaRPr lang="en-US" sz="1100" dirty="0"/>
          </a:p>
        </p:txBody>
      </p:sp>
      <p:sp>
        <p:nvSpPr>
          <p:cNvPr id="10" name="Shape 8"/>
          <p:cNvSpPr/>
          <p:nvPr/>
        </p:nvSpPr>
        <p:spPr>
          <a:xfrm>
            <a:off x="6217920" y="1554480"/>
            <a:ext cx="2377440" cy="23774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Text 9"/>
          <p:cNvSpPr/>
          <p:nvPr/>
        </p:nvSpPr>
        <p:spPr>
          <a:xfrm>
            <a:off x="6355080" y="1691640"/>
            <a:ext cx="2103120" cy="457200"/>
          </a:xfrm>
          <a:prstGeom prst="rect">
            <a:avLst/>
          </a:prstGeom>
          <a:noFill/>
          <a:ln/>
        </p:spPr>
        <p:txBody>
          <a:bodyPr wrap="square" rtlCol="0" anchor="ctr"/>
          <a:lstStyle/>
          <a:p>
            <a:pPr indent="0" marL="0">
              <a:buNone/>
            </a:pPr>
            <a:r>
              <a:rPr lang="en-US" sz="1800" b="1" dirty="0">
                <a:solidFill>
                  <a:srgbClr val="028090"/>
                </a:solidFill>
                <a:latin typeface="Arial" pitchFamily="34" charset="0"/>
                <a:ea typeface="Arial" pitchFamily="34" charset="-122"/>
                <a:cs typeface="Arial" pitchFamily="34" charset="-120"/>
              </a:rPr>
              <a:t>Connected</a:t>
            </a:r>
            <a:endParaRPr lang="en-US" sz="1800" dirty="0"/>
          </a:p>
        </p:txBody>
      </p:sp>
      <p:sp>
        <p:nvSpPr>
          <p:cNvPr id="12" name="Text 10"/>
          <p:cNvSpPr/>
          <p:nvPr/>
        </p:nvSpPr>
        <p:spPr>
          <a:xfrm>
            <a:off x="6355080" y="2194560"/>
            <a:ext cx="2103120" cy="1554480"/>
          </a:xfrm>
          <a:prstGeom prst="rect">
            <a:avLst/>
          </a:prstGeom>
          <a:noFill/>
          <a:ln/>
        </p:spPr>
        <p:txBody>
          <a:bodyPr wrap="square" rtlCol="0" anchor="t"/>
          <a:lstStyle/>
          <a:p>
            <a:pPr indent="0" marL="0">
              <a:buNone/>
            </a:pPr>
            <a:r>
              <a:rPr lang="en-US" sz="1100" dirty="0">
                <a:solidFill>
                  <a:srgbClr val="1A1A2E"/>
                </a:solidFill>
                <a:latin typeface="Arial" pitchFamily="34" charset="0"/>
                <a:ea typeface="Arial" pitchFamily="34" charset="-122"/>
                <a:cs typeface="Arial" pitchFamily="34" charset="-120"/>
              </a:rPr>
              <a:t>Direct donor-NGO matching based on capacity, sector, geography, and Adeso's 30+ year network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315200" cy="640080"/>
          </a:xfrm>
          <a:prstGeom prst="rect">
            <a:avLst/>
          </a:prstGeom>
          <a:noFill/>
          <a:ln/>
        </p:spPr>
        <p:txBody>
          <a:bodyPr wrap="square" rtlCol="0" anchor="ctr"/>
          <a:lstStyle/>
          <a:p>
            <a:pPr indent="0" marL="0">
              <a:buNone/>
            </a:pPr>
            <a:r>
              <a:rPr lang="en-US" sz="3400" b="1" dirty="0">
                <a:solidFill>
                  <a:srgbClr val="028090"/>
                </a:solidFill>
                <a:latin typeface="Arial" pitchFamily="34" charset="0"/>
                <a:ea typeface="Arial" pitchFamily="34" charset="-122"/>
                <a:cs typeface="Arial" pitchFamily="34" charset="-120"/>
              </a:rPr>
              <a:t>Your Gateway to Qualified Partners</a:t>
            </a:r>
            <a:endParaRPr lang="en-US" sz="3400" dirty="0"/>
          </a:p>
        </p:txBody>
      </p:sp>
      <p:sp>
        <p:nvSpPr>
          <p:cNvPr id="3" name="Text 1"/>
          <p:cNvSpPr/>
          <p:nvPr/>
        </p:nvSpPr>
        <p:spPr>
          <a:xfrm>
            <a:off x="640080" y="1097280"/>
            <a:ext cx="3657600" cy="457200"/>
          </a:xfrm>
          <a:prstGeom prst="rect">
            <a:avLst/>
          </a:prstGeom>
          <a:noFill/>
          <a:ln/>
        </p:spPr>
        <p:txBody>
          <a:bodyPr wrap="square" rtlCol="0" anchor="ctr"/>
          <a:lstStyle/>
          <a:p>
            <a:pPr indent="0" marL="0">
              <a:buNone/>
            </a:pPr>
            <a:r>
              <a:rPr lang="en-US" sz="2000" b="1" dirty="0">
                <a:solidFill>
                  <a:srgbClr val="028090"/>
                </a:solidFill>
                <a:latin typeface="Arial" pitchFamily="34" charset="0"/>
                <a:ea typeface="Arial" pitchFamily="34" charset="-122"/>
                <a:cs typeface="Arial" pitchFamily="34" charset="-120"/>
              </a:rPr>
              <a:t>For Donors</a:t>
            </a:r>
            <a:endParaRPr lang="en-US" sz="2000" dirty="0"/>
          </a:p>
        </p:txBody>
      </p:sp>
      <p:sp>
        <p:nvSpPr>
          <p:cNvPr id="4" name="Text 2"/>
          <p:cNvSpPr/>
          <p:nvPr/>
        </p:nvSpPr>
        <p:spPr>
          <a:xfrm>
            <a:off x="640080" y="1554480"/>
            <a:ext cx="3657600" cy="2286000"/>
          </a:xfrm>
          <a:prstGeom prst="rect">
            <a:avLst/>
          </a:prstGeom>
          <a:noFill/>
          <a:ln/>
        </p:spPr>
        <p:txBody>
          <a:bodyPr wrap="square" rtlCol="0" anchor="ctr"/>
          <a:lstStyle/>
          <a:p>
            <a:pPr marL="342900" indent="-342900">
              <a:buSzPct val="100000"/>
              <a:buChar char="•"/>
            </a:pPr>
            <a:r>
              <a:rPr lang="en-US" sz="1200" dirty="0">
                <a:solidFill>
                  <a:srgbClr val="1A1A2E"/>
                </a:solidFill>
                <a:latin typeface="Arial" pitchFamily="34" charset="0"/>
                <a:ea typeface="Arial" pitchFamily="34" charset="-122"/>
                <a:cs typeface="Arial" pitchFamily="34" charset="-120"/>
              </a:rPr>
              <a:t>Browse verified NGO profiles with capacity scores</a:t>
            </a:r>
            <a:endParaRPr lang="en-US" sz="1200" dirty="0"/>
          </a:p>
          <a:p>
            <a:pPr marL="342900" indent="-342900">
              <a:buSzPct val="100000"/>
              <a:buChar char="•"/>
            </a:pPr>
            <a:r>
              <a:rPr lang="en-US" sz="1200" dirty="0">
                <a:solidFill>
                  <a:srgbClr val="1A1A2E"/>
                </a:solidFill>
                <a:latin typeface="Arial" pitchFamily="34" charset="0"/>
                <a:ea typeface="Arial" pitchFamily="34" charset="-122"/>
                <a:cs typeface="Arial" pitchFamily="34" charset="-120"/>
              </a:rPr>
              <a:t>Filter by sector, geography, capacity level</a:t>
            </a:r>
            <a:endParaRPr lang="en-US" sz="1200" dirty="0"/>
          </a:p>
          <a:p>
            <a:pPr marL="342900" indent="-342900">
              <a:buSzPct val="100000"/>
              <a:buChar char="•"/>
            </a:pPr>
            <a:r>
              <a:rPr lang="en-US" sz="1200" dirty="0">
                <a:solidFill>
                  <a:srgbClr val="1A1A2E"/>
                </a:solidFill>
                <a:latin typeface="Arial" pitchFamily="34" charset="0"/>
                <a:ea typeface="Arial" pitchFamily="34" charset="-122"/>
                <a:cs typeface="Arial" pitchFamily="34" charset="-120"/>
              </a:rPr>
              <a:t>View sanctions &amp; registration status at a glance</a:t>
            </a:r>
            <a:endParaRPr lang="en-US" sz="1200" dirty="0"/>
          </a:p>
          <a:p>
            <a:pPr marL="342900" indent="-342900">
              <a:buSzPct val="100000"/>
              <a:buChar char="•"/>
            </a:pPr>
            <a:r>
              <a:rPr lang="en-US" sz="1200" dirty="0">
                <a:solidFill>
                  <a:srgbClr val="1A1A2E"/>
                </a:solidFill>
                <a:latin typeface="Arial" pitchFamily="34" charset="0"/>
                <a:ea typeface="Arial" pitchFamily="34" charset="-122"/>
                <a:cs typeface="Arial" pitchFamily="34" charset="-120"/>
              </a:rPr>
              <a:t>Invite NGOs to apply for specific grants</a:t>
            </a:r>
            <a:endParaRPr lang="en-US" sz="1200" dirty="0"/>
          </a:p>
          <a:p>
            <a:pPr marL="342900" indent="-342900">
              <a:buSzPct val="100000"/>
              <a:buChar char="•"/>
            </a:pPr>
            <a:r>
              <a:rPr lang="en-US" sz="1200" dirty="0">
                <a:solidFill>
                  <a:srgbClr val="1A1A2E"/>
                </a:solidFill>
                <a:latin typeface="Arial" pitchFamily="34" charset="0"/>
                <a:ea typeface="Arial" pitchFamily="34" charset="-122"/>
                <a:cs typeface="Arial" pitchFamily="34" charset="-120"/>
              </a:rPr>
              <a:t>Compare candidates side-by-side</a:t>
            </a:r>
            <a:endParaRPr lang="en-US" sz="1200" dirty="0"/>
          </a:p>
        </p:txBody>
      </p:sp>
      <p:sp>
        <p:nvSpPr>
          <p:cNvPr id="5" name="Text 3"/>
          <p:cNvSpPr/>
          <p:nvPr/>
        </p:nvSpPr>
        <p:spPr>
          <a:xfrm>
            <a:off x="4846320" y="1097280"/>
            <a:ext cx="3657600" cy="457200"/>
          </a:xfrm>
          <a:prstGeom prst="rect">
            <a:avLst/>
          </a:prstGeom>
          <a:noFill/>
          <a:ln/>
        </p:spPr>
        <p:txBody>
          <a:bodyPr wrap="square" rtlCol="0" anchor="ctr"/>
          <a:lstStyle/>
          <a:p>
            <a:pPr indent="0" marL="0">
              <a:buNone/>
            </a:pPr>
            <a:r>
              <a:rPr lang="en-US" sz="2000" b="1" dirty="0">
                <a:solidFill>
                  <a:srgbClr val="028090"/>
                </a:solidFill>
                <a:latin typeface="Arial" pitchFamily="34" charset="0"/>
                <a:ea typeface="Arial" pitchFamily="34" charset="-122"/>
                <a:cs typeface="Arial" pitchFamily="34" charset="-120"/>
              </a:rPr>
              <a:t>For NGOs</a:t>
            </a:r>
            <a:endParaRPr lang="en-US" sz="2000" dirty="0"/>
          </a:p>
        </p:txBody>
      </p:sp>
      <p:sp>
        <p:nvSpPr>
          <p:cNvPr id="6" name="Text 4"/>
          <p:cNvSpPr/>
          <p:nvPr/>
        </p:nvSpPr>
        <p:spPr>
          <a:xfrm>
            <a:off x="4846320" y="1554480"/>
            <a:ext cx="3657600" cy="2286000"/>
          </a:xfrm>
          <a:prstGeom prst="rect">
            <a:avLst/>
          </a:prstGeom>
          <a:noFill/>
          <a:ln/>
        </p:spPr>
        <p:txBody>
          <a:bodyPr wrap="square" rtlCol="0" anchor="ctr"/>
          <a:lstStyle/>
          <a:p>
            <a:pPr marL="342900" indent="-342900">
              <a:buSzPct val="100000"/>
              <a:buChar char="•"/>
            </a:pPr>
            <a:r>
              <a:rPr lang="en-US" sz="1200" dirty="0">
                <a:solidFill>
                  <a:srgbClr val="1A1A2E"/>
                </a:solidFill>
                <a:latin typeface="Arial" pitchFamily="34" charset="0"/>
                <a:ea typeface="Arial" pitchFamily="34" charset="-122"/>
                <a:cs typeface="Arial" pitchFamily="34" charset="-120"/>
              </a:rPr>
              <a:t>Create a verified organizational profile</a:t>
            </a:r>
            <a:endParaRPr lang="en-US" sz="1200" dirty="0"/>
          </a:p>
          <a:p>
            <a:pPr marL="342900" indent="-342900">
              <a:buSzPct val="100000"/>
              <a:buChar char="•"/>
            </a:pPr>
            <a:r>
              <a:rPr lang="en-US" sz="1200" dirty="0">
                <a:solidFill>
                  <a:srgbClr val="1A1A2E"/>
                </a:solidFill>
                <a:latin typeface="Arial" pitchFamily="34" charset="0"/>
                <a:ea typeface="Arial" pitchFamily="34" charset="-122"/>
                <a:cs typeface="Arial" pitchFamily="34" charset="-120"/>
              </a:rPr>
              <a:t>Complete standardized capacity assessments</a:t>
            </a:r>
            <a:endParaRPr lang="en-US" sz="1200" dirty="0"/>
          </a:p>
          <a:p>
            <a:pPr marL="342900" indent="-342900">
              <a:buSzPct val="100000"/>
              <a:buChar char="•"/>
            </a:pPr>
            <a:r>
              <a:rPr lang="en-US" sz="1200" dirty="0">
                <a:solidFill>
                  <a:srgbClr val="1A1A2E"/>
                </a:solidFill>
                <a:latin typeface="Arial" pitchFamily="34" charset="0"/>
                <a:ea typeface="Arial" pitchFamily="34" charset="-122"/>
                <a:cs typeface="Arial" pitchFamily="34" charset="-120"/>
              </a:rPr>
              <a:t>Showcase expertise and track record</a:t>
            </a:r>
            <a:endParaRPr lang="en-US" sz="1200" dirty="0"/>
          </a:p>
          <a:p>
            <a:pPr marL="342900" indent="-342900">
              <a:buSzPct val="100000"/>
              <a:buChar char="•"/>
            </a:pPr>
            <a:r>
              <a:rPr lang="en-US" sz="1200" dirty="0">
                <a:solidFill>
                  <a:srgbClr val="1A1A2E"/>
                </a:solidFill>
                <a:latin typeface="Arial" pitchFamily="34" charset="0"/>
                <a:ea typeface="Arial" pitchFamily="34" charset="-122"/>
                <a:cs typeface="Arial" pitchFamily="34" charset="-120"/>
              </a:rPr>
              <a:t>Discover and apply for matching grants</a:t>
            </a:r>
            <a:endParaRPr lang="en-US" sz="1200" dirty="0"/>
          </a:p>
          <a:p>
            <a:pPr marL="342900" indent="-342900">
              <a:buSzPct val="100000"/>
              <a:buChar char="•"/>
            </a:pPr>
            <a:r>
              <a:rPr lang="en-US" sz="1200" dirty="0">
                <a:solidFill>
                  <a:srgbClr val="1A1A2E"/>
                </a:solidFill>
                <a:latin typeface="Arial" pitchFamily="34" charset="0"/>
                <a:ea typeface="Arial" pitchFamily="34" charset="-122"/>
                <a:cs typeface="Arial" pitchFamily="34" charset="-120"/>
              </a:rPr>
              <a:t>Build a reusable compliance portfolio</a:t>
            </a:r>
            <a:endParaRPr lang="en-US" sz="1200" dirty="0"/>
          </a:p>
        </p:txBody>
      </p:sp>
      <p:sp>
        <p:nvSpPr>
          <p:cNvPr id="7" name="Shape 5"/>
          <p:cNvSpPr/>
          <p:nvPr/>
        </p:nvSpPr>
        <p:spPr>
          <a:xfrm>
            <a:off x="0" y="4389120"/>
            <a:ext cx="9144000" cy="548640"/>
          </a:xfrm>
          <a:prstGeom prst="rect">
            <a:avLst/>
          </a:prstGeom>
          <a:solidFill>
            <a:srgbClr val="028090"/>
          </a:solidFill>
          <a:ln/>
        </p:spPr>
      </p:sp>
      <p:sp>
        <p:nvSpPr>
          <p:cNvPr id="8" name="Text 6"/>
          <p:cNvSpPr/>
          <p:nvPr/>
        </p:nvSpPr>
        <p:spPr>
          <a:xfrm>
            <a:off x="457200" y="4389120"/>
            <a:ext cx="8229600" cy="5486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One platform. Both sides of the funding equation.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4"/>
        </a:solidFill>
      </p:bgPr>
    </p:bg>
    <p:spTree>
      <p:nvGrpSpPr>
        <p:cNvPr id="1" name=""/>
        <p:cNvGrpSpPr/>
        <p:nvPr/>
      </p:nvGrpSpPr>
      <p:grpSpPr>
        <a:xfrm>
          <a:off x="0" y="0"/>
          <a:ext cx="0" cy="0"/>
          <a:chOff x="0" y="0"/>
          <a:chExt cx="0" cy="0"/>
        </a:xfrm>
      </p:grpSpPr>
      <p:sp>
        <p:nvSpPr>
          <p:cNvPr id="2" name="Text 0"/>
          <p:cNvSpPr/>
          <p:nvPr/>
        </p:nvSpPr>
        <p:spPr>
          <a:xfrm>
            <a:off x="640080" y="274320"/>
            <a:ext cx="7315200" cy="640080"/>
          </a:xfrm>
          <a:prstGeom prst="rect">
            <a:avLst/>
          </a:prstGeom>
          <a:noFill/>
          <a:ln/>
        </p:spPr>
        <p:txBody>
          <a:bodyPr wrap="square" rtlCol="0" anchor="ctr"/>
          <a:lstStyle/>
          <a:p>
            <a:pPr indent="0" marL="0">
              <a:buNone/>
            </a:pPr>
            <a:r>
              <a:rPr lang="en-US" sz="3400" b="1" dirty="0">
                <a:solidFill>
                  <a:srgbClr val="028090"/>
                </a:solidFill>
                <a:latin typeface="Arial" pitchFamily="34" charset="0"/>
                <a:ea typeface="Arial" pitchFamily="34" charset="-122"/>
                <a:cs typeface="Arial" pitchFamily="34" charset="-120"/>
              </a:rPr>
              <a:t>Create Grants in Minutes, Not Weeks</a:t>
            </a:r>
            <a:endParaRPr lang="en-US" sz="3400" dirty="0"/>
          </a:p>
        </p:txBody>
      </p:sp>
      <p:sp>
        <p:nvSpPr>
          <p:cNvPr id="3" name="Shape 1"/>
          <p:cNvSpPr/>
          <p:nvPr/>
        </p:nvSpPr>
        <p:spPr>
          <a:xfrm>
            <a:off x="731520" y="1828800"/>
            <a:ext cx="822960" cy="822960"/>
          </a:xfrm>
          <a:prstGeom prst="ellipse">
            <a:avLst/>
          </a:prstGeom>
          <a:solidFill>
            <a:srgbClr val="028090"/>
          </a:solidFill>
          <a:ln/>
        </p:spPr>
      </p:sp>
      <p:sp>
        <p:nvSpPr>
          <p:cNvPr id="4" name="Text 2"/>
          <p:cNvSpPr/>
          <p:nvPr/>
        </p:nvSpPr>
        <p:spPr>
          <a:xfrm>
            <a:off x="731520" y="1828800"/>
            <a:ext cx="822960" cy="82296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5" name="Text 3"/>
          <p:cNvSpPr/>
          <p:nvPr/>
        </p:nvSpPr>
        <p:spPr>
          <a:xfrm>
            <a:off x="548640" y="2743200"/>
            <a:ext cx="1188720" cy="365760"/>
          </a:xfrm>
          <a:prstGeom prst="rect">
            <a:avLst/>
          </a:prstGeom>
          <a:noFill/>
          <a:ln/>
        </p:spPr>
        <p:txBody>
          <a:bodyPr wrap="square" rtlCol="0" anchor="ctr"/>
          <a:lstStyle/>
          <a:p>
            <a:pPr algn="ctr" indent="0" marL="0">
              <a:buNone/>
            </a:pPr>
            <a:r>
              <a:rPr lang="en-US" sz="1100" b="1" dirty="0">
                <a:solidFill>
                  <a:srgbClr val="1A1A2E"/>
                </a:solidFill>
                <a:latin typeface="Arial" pitchFamily="34" charset="0"/>
                <a:ea typeface="Arial" pitchFamily="34" charset="-122"/>
                <a:cs typeface="Arial" pitchFamily="34" charset="-120"/>
              </a:rPr>
              <a:t>Upload</a:t>
            </a:r>
            <a:endParaRPr lang="en-US" sz="1100" dirty="0"/>
          </a:p>
        </p:txBody>
      </p:sp>
      <p:sp>
        <p:nvSpPr>
          <p:cNvPr id="6" name="Shape 4"/>
          <p:cNvSpPr/>
          <p:nvPr/>
        </p:nvSpPr>
        <p:spPr>
          <a:xfrm>
            <a:off x="1554480" y="2240280"/>
            <a:ext cx="548640" cy="0"/>
          </a:xfrm>
          <a:prstGeom prst="line">
            <a:avLst/>
          </a:prstGeom>
          <a:noFill/>
          <a:ln w="25400">
            <a:solidFill>
              <a:srgbClr val="028090"/>
            </a:solidFill>
            <a:prstDash val="solid"/>
          </a:ln>
        </p:spPr>
      </p:sp>
      <p:sp>
        <p:nvSpPr>
          <p:cNvPr id="7" name="Shape 5"/>
          <p:cNvSpPr/>
          <p:nvPr/>
        </p:nvSpPr>
        <p:spPr>
          <a:xfrm>
            <a:off x="2103120" y="1828800"/>
            <a:ext cx="822960" cy="822960"/>
          </a:xfrm>
          <a:prstGeom prst="ellipse">
            <a:avLst/>
          </a:prstGeom>
          <a:solidFill>
            <a:srgbClr val="028090"/>
          </a:solidFill>
          <a:ln/>
        </p:spPr>
      </p:sp>
      <p:sp>
        <p:nvSpPr>
          <p:cNvPr id="8" name="Text 6"/>
          <p:cNvSpPr/>
          <p:nvPr/>
        </p:nvSpPr>
        <p:spPr>
          <a:xfrm>
            <a:off x="2103120" y="1828800"/>
            <a:ext cx="822960" cy="82296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9" name="Text 7"/>
          <p:cNvSpPr/>
          <p:nvPr/>
        </p:nvSpPr>
        <p:spPr>
          <a:xfrm>
            <a:off x="1920240" y="2743200"/>
            <a:ext cx="1188720" cy="365760"/>
          </a:xfrm>
          <a:prstGeom prst="rect">
            <a:avLst/>
          </a:prstGeom>
          <a:noFill/>
          <a:ln/>
        </p:spPr>
        <p:txBody>
          <a:bodyPr wrap="square" rtlCol="0" anchor="ctr"/>
          <a:lstStyle/>
          <a:p>
            <a:pPr algn="ctr" indent="0" marL="0">
              <a:buNone/>
            </a:pPr>
            <a:r>
              <a:rPr lang="en-US" sz="1100" b="1" dirty="0">
                <a:solidFill>
                  <a:srgbClr val="1A1A2E"/>
                </a:solidFill>
                <a:latin typeface="Arial" pitchFamily="34" charset="0"/>
                <a:ea typeface="Arial" pitchFamily="34" charset="-122"/>
                <a:cs typeface="Arial" pitchFamily="34" charset="-120"/>
              </a:rPr>
              <a:t>Extract</a:t>
            </a:r>
            <a:endParaRPr lang="en-US" sz="1100" dirty="0"/>
          </a:p>
        </p:txBody>
      </p:sp>
      <p:sp>
        <p:nvSpPr>
          <p:cNvPr id="10" name="Shape 8"/>
          <p:cNvSpPr/>
          <p:nvPr/>
        </p:nvSpPr>
        <p:spPr>
          <a:xfrm>
            <a:off x="2926080" y="2240280"/>
            <a:ext cx="548640" cy="0"/>
          </a:xfrm>
          <a:prstGeom prst="line">
            <a:avLst/>
          </a:prstGeom>
          <a:noFill/>
          <a:ln w="25400">
            <a:solidFill>
              <a:srgbClr val="028090"/>
            </a:solidFill>
            <a:prstDash val="solid"/>
          </a:ln>
        </p:spPr>
      </p:sp>
      <p:sp>
        <p:nvSpPr>
          <p:cNvPr id="11" name="Shape 9"/>
          <p:cNvSpPr/>
          <p:nvPr/>
        </p:nvSpPr>
        <p:spPr>
          <a:xfrm>
            <a:off x="3474720" y="1828800"/>
            <a:ext cx="822960" cy="822960"/>
          </a:xfrm>
          <a:prstGeom prst="ellipse">
            <a:avLst/>
          </a:prstGeom>
          <a:solidFill>
            <a:srgbClr val="028090"/>
          </a:solidFill>
          <a:ln/>
        </p:spPr>
      </p:sp>
      <p:sp>
        <p:nvSpPr>
          <p:cNvPr id="12" name="Text 10"/>
          <p:cNvSpPr/>
          <p:nvPr/>
        </p:nvSpPr>
        <p:spPr>
          <a:xfrm>
            <a:off x="3474720" y="1828800"/>
            <a:ext cx="822960" cy="82296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3" name="Text 11"/>
          <p:cNvSpPr/>
          <p:nvPr/>
        </p:nvSpPr>
        <p:spPr>
          <a:xfrm>
            <a:off x="3291840" y="2743200"/>
            <a:ext cx="1188720" cy="365760"/>
          </a:xfrm>
          <a:prstGeom prst="rect">
            <a:avLst/>
          </a:prstGeom>
          <a:noFill/>
          <a:ln/>
        </p:spPr>
        <p:txBody>
          <a:bodyPr wrap="square" rtlCol="0" anchor="ctr"/>
          <a:lstStyle/>
          <a:p>
            <a:pPr algn="ctr" indent="0" marL="0">
              <a:buNone/>
            </a:pPr>
            <a:r>
              <a:rPr lang="en-US" sz="1100" b="1" dirty="0">
                <a:solidFill>
                  <a:srgbClr val="1A1A2E"/>
                </a:solidFill>
                <a:latin typeface="Arial" pitchFamily="34" charset="0"/>
                <a:ea typeface="Arial" pitchFamily="34" charset="-122"/>
                <a:cs typeface="Arial" pitchFamily="34" charset="-120"/>
              </a:rPr>
              <a:t>Configure</a:t>
            </a:r>
            <a:endParaRPr lang="en-US" sz="1100" dirty="0"/>
          </a:p>
        </p:txBody>
      </p:sp>
      <p:sp>
        <p:nvSpPr>
          <p:cNvPr id="14" name="Shape 12"/>
          <p:cNvSpPr/>
          <p:nvPr/>
        </p:nvSpPr>
        <p:spPr>
          <a:xfrm>
            <a:off x="4297680" y="2240280"/>
            <a:ext cx="548640" cy="0"/>
          </a:xfrm>
          <a:prstGeom prst="line">
            <a:avLst/>
          </a:prstGeom>
          <a:noFill/>
          <a:ln w="25400">
            <a:solidFill>
              <a:srgbClr val="028090"/>
            </a:solidFill>
            <a:prstDash val="solid"/>
          </a:ln>
        </p:spPr>
      </p:sp>
      <p:sp>
        <p:nvSpPr>
          <p:cNvPr id="15" name="Shape 13"/>
          <p:cNvSpPr/>
          <p:nvPr/>
        </p:nvSpPr>
        <p:spPr>
          <a:xfrm>
            <a:off x="4846320" y="1828800"/>
            <a:ext cx="822960" cy="822960"/>
          </a:xfrm>
          <a:prstGeom prst="ellipse">
            <a:avLst/>
          </a:prstGeom>
          <a:solidFill>
            <a:srgbClr val="028090"/>
          </a:solidFill>
          <a:ln/>
        </p:spPr>
      </p:sp>
      <p:sp>
        <p:nvSpPr>
          <p:cNvPr id="16" name="Text 14"/>
          <p:cNvSpPr/>
          <p:nvPr/>
        </p:nvSpPr>
        <p:spPr>
          <a:xfrm>
            <a:off x="4846320" y="1828800"/>
            <a:ext cx="822960" cy="82296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7" name="Text 15"/>
          <p:cNvSpPr/>
          <p:nvPr/>
        </p:nvSpPr>
        <p:spPr>
          <a:xfrm>
            <a:off x="4663440" y="2743200"/>
            <a:ext cx="1188720" cy="365760"/>
          </a:xfrm>
          <a:prstGeom prst="rect">
            <a:avLst/>
          </a:prstGeom>
          <a:noFill/>
          <a:ln/>
        </p:spPr>
        <p:txBody>
          <a:bodyPr wrap="square" rtlCol="0" anchor="ctr"/>
          <a:lstStyle/>
          <a:p>
            <a:pPr algn="ctr" indent="0" marL="0">
              <a:buNone/>
            </a:pPr>
            <a:r>
              <a:rPr lang="en-US" sz="1100" b="1" dirty="0">
                <a:solidFill>
                  <a:srgbClr val="1A1A2E"/>
                </a:solidFill>
                <a:latin typeface="Arial" pitchFamily="34" charset="0"/>
                <a:ea typeface="Arial" pitchFamily="34" charset="-122"/>
                <a:cs typeface="Arial" pitchFamily="34" charset="-120"/>
              </a:rPr>
              <a:t>Evaluate</a:t>
            </a:r>
            <a:endParaRPr lang="en-US" sz="1100" dirty="0"/>
          </a:p>
        </p:txBody>
      </p:sp>
      <p:sp>
        <p:nvSpPr>
          <p:cNvPr id="18" name="Shape 16"/>
          <p:cNvSpPr/>
          <p:nvPr/>
        </p:nvSpPr>
        <p:spPr>
          <a:xfrm>
            <a:off x="5669280" y="2240280"/>
            <a:ext cx="548640" cy="0"/>
          </a:xfrm>
          <a:prstGeom prst="line">
            <a:avLst/>
          </a:prstGeom>
          <a:noFill/>
          <a:ln w="25400">
            <a:solidFill>
              <a:srgbClr val="028090"/>
            </a:solidFill>
            <a:prstDash val="solid"/>
          </a:ln>
        </p:spPr>
      </p:sp>
      <p:sp>
        <p:nvSpPr>
          <p:cNvPr id="19" name="Shape 17"/>
          <p:cNvSpPr/>
          <p:nvPr/>
        </p:nvSpPr>
        <p:spPr>
          <a:xfrm>
            <a:off x="6217920" y="1828800"/>
            <a:ext cx="822960" cy="822960"/>
          </a:xfrm>
          <a:prstGeom prst="ellipse">
            <a:avLst/>
          </a:prstGeom>
          <a:solidFill>
            <a:srgbClr val="028090"/>
          </a:solidFill>
          <a:ln/>
        </p:spPr>
      </p:sp>
      <p:sp>
        <p:nvSpPr>
          <p:cNvPr id="20" name="Text 18"/>
          <p:cNvSpPr/>
          <p:nvPr/>
        </p:nvSpPr>
        <p:spPr>
          <a:xfrm>
            <a:off x="6217920" y="1828800"/>
            <a:ext cx="822960" cy="82296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21" name="Text 19"/>
          <p:cNvSpPr/>
          <p:nvPr/>
        </p:nvSpPr>
        <p:spPr>
          <a:xfrm>
            <a:off x="6035040" y="2743200"/>
            <a:ext cx="1188720" cy="365760"/>
          </a:xfrm>
          <a:prstGeom prst="rect">
            <a:avLst/>
          </a:prstGeom>
          <a:noFill/>
          <a:ln/>
        </p:spPr>
        <p:txBody>
          <a:bodyPr wrap="square" rtlCol="0" anchor="ctr"/>
          <a:lstStyle/>
          <a:p>
            <a:pPr algn="ctr" indent="0" marL="0">
              <a:buNone/>
            </a:pPr>
            <a:r>
              <a:rPr lang="en-US" sz="1100" b="1" dirty="0">
                <a:solidFill>
                  <a:srgbClr val="1A1A2E"/>
                </a:solidFill>
                <a:latin typeface="Arial" pitchFamily="34" charset="0"/>
                <a:ea typeface="Arial" pitchFamily="34" charset="-122"/>
                <a:cs typeface="Arial" pitchFamily="34" charset="-120"/>
              </a:rPr>
              <a:t>Reporting</a:t>
            </a:r>
            <a:endParaRPr lang="en-US" sz="1100" dirty="0"/>
          </a:p>
        </p:txBody>
      </p:sp>
      <p:sp>
        <p:nvSpPr>
          <p:cNvPr id="22" name="Shape 20"/>
          <p:cNvSpPr/>
          <p:nvPr/>
        </p:nvSpPr>
        <p:spPr>
          <a:xfrm>
            <a:off x="7040880" y="2240280"/>
            <a:ext cx="548640" cy="0"/>
          </a:xfrm>
          <a:prstGeom prst="line">
            <a:avLst/>
          </a:prstGeom>
          <a:noFill/>
          <a:ln w="25400">
            <a:solidFill>
              <a:srgbClr val="028090"/>
            </a:solidFill>
            <a:prstDash val="solid"/>
          </a:ln>
        </p:spPr>
      </p:sp>
      <p:sp>
        <p:nvSpPr>
          <p:cNvPr id="23" name="Shape 21"/>
          <p:cNvSpPr/>
          <p:nvPr/>
        </p:nvSpPr>
        <p:spPr>
          <a:xfrm>
            <a:off x="7589520" y="1828800"/>
            <a:ext cx="822960" cy="822960"/>
          </a:xfrm>
          <a:prstGeom prst="ellipse">
            <a:avLst/>
          </a:prstGeom>
          <a:solidFill>
            <a:srgbClr val="028090"/>
          </a:solidFill>
          <a:ln/>
        </p:spPr>
      </p:sp>
      <p:sp>
        <p:nvSpPr>
          <p:cNvPr id="24" name="Text 22"/>
          <p:cNvSpPr/>
          <p:nvPr/>
        </p:nvSpPr>
        <p:spPr>
          <a:xfrm>
            <a:off x="7589520" y="1828800"/>
            <a:ext cx="822960" cy="82296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25" name="Text 23"/>
          <p:cNvSpPr/>
          <p:nvPr/>
        </p:nvSpPr>
        <p:spPr>
          <a:xfrm>
            <a:off x="7406640" y="2743200"/>
            <a:ext cx="1188720" cy="365760"/>
          </a:xfrm>
          <a:prstGeom prst="rect">
            <a:avLst/>
          </a:prstGeom>
          <a:noFill/>
          <a:ln/>
        </p:spPr>
        <p:txBody>
          <a:bodyPr wrap="square" rtlCol="0" anchor="ctr"/>
          <a:lstStyle/>
          <a:p>
            <a:pPr algn="ctr" indent="0" marL="0">
              <a:buNone/>
            </a:pPr>
            <a:r>
              <a:rPr lang="en-US" sz="1100" b="1" dirty="0">
                <a:solidFill>
                  <a:srgbClr val="1A1A2E"/>
                </a:solidFill>
                <a:latin typeface="Arial" pitchFamily="34" charset="0"/>
                <a:ea typeface="Arial" pitchFamily="34" charset="-122"/>
                <a:cs typeface="Arial" pitchFamily="34" charset="-120"/>
              </a:rPr>
              <a:t>Publish</a:t>
            </a:r>
            <a:endParaRPr lang="en-US" sz="1100" dirty="0"/>
          </a:p>
        </p:txBody>
      </p:sp>
      <p:sp>
        <p:nvSpPr>
          <p:cNvPr id="26" name="Text 24"/>
          <p:cNvSpPr/>
          <p:nvPr/>
        </p:nvSpPr>
        <p:spPr>
          <a:xfrm>
            <a:off x="457200" y="4114800"/>
            <a:ext cx="8229600" cy="457200"/>
          </a:xfrm>
          <a:prstGeom prst="rect">
            <a:avLst/>
          </a:prstGeom>
          <a:noFill/>
          <a:ln/>
        </p:spPr>
        <p:txBody>
          <a:bodyPr wrap="square" rtlCol="0" anchor="ctr"/>
          <a:lstStyle/>
          <a:p>
            <a:pPr algn="ctr" indent="0" marL="0">
              <a:buNone/>
            </a:pPr>
            <a:r>
              <a:rPr lang="en-US" sz="1300" dirty="0">
                <a:solidFill>
                  <a:srgbClr val="666666"/>
                </a:solidFill>
                <a:latin typeface="Arial" pitchFamily="34" charset="0"/>
                <a:ea typeface="Arial" pitchFamily="34" charset="-122"/>
                <a:cs typeface="Arial" pitchFamily="34" charset="-120"/>
              </a:rPr>
              <a:t>The AI wizard handles the heavy lifting — you focus on impact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315200" cy="640080"/>
          </a:xfrm>
          <a:prstGeom prst="rect">
            <a:avLst/>
          </a:prstGeom>
          <a:noFill/>
          <a:ln/>
        </p:spPr>
        <p:txBody>
          <a:bodyPr wrap="square" rtlCol="0" anchor="ctr"/>
          <a:lstStyle/>
          <a:p>
            <a:pPr indent="0" marL="0">
              <a:buNone/>
            </a:pPr>
            <a:r>
              <a:rPr lang="en-US" sz="3400" b="1" dirty="0">
                <a:solidFill>
                  <a:srgbClr val="028090"/>
                </a:solidFill>
                <a:latin typeface="Arial" pitchFamily="34" charset="0"/>
                <a:ea typeface="Arial" pitchFamily="34" charset="-122"/>
                <a:cs typeface="Arial" pitchFamily="34" charset="-120"/>
              </a:rPr>
              <a:t>Data-Driven Partner Selection</a:t>
            </a:r>
            <a:endParaRPr lang="en-US" sz="3400" dirty="0"/>
          </a:p>
        </p:txBody>
      </p:sp>
      <p:sp>
        <p:nvSpPr>
          <p:cNvPr id="3" name="Text 1"/>
          <p:cNvSpPr/>
          <p:nvPr/>
        </p:nvSpPr>
        <p:spPr>
          <a:xfrm>
            <a:off x="640080" y="1097280"/>
            <a:ext cx="3657600" cy="457200"/>
          </a:xfrm>
          <a:prstGeom prst="rect">
            <a:avLst/>
          </a:prstGeom>
          <a:noFill/>
          <a:ln/>
        </p:spPr>
        <p:txBody>
          <a:bodyPr wrap="square" rtlCol="0" anchor="ctr"/>
          <a:lstStyle/>
          <a:p>
            <a:pPr indent="0" marL="0">
              <a:buNone/>
            </a:pPr>
            <a:r>
              <a:rPr lang="en-US" sz="1800" b="1" dirty="0">
                <a:solidFill>
                  <a:srgbClr val="028090"/>
                </a:solidFill>
                <a:latin typeface="Arial" pitchFamily="34" charset="0"/>
                <a:ea typeface="Arial" pitchFamily="34" charset="-122"/>
                <a:cs typeface="Arial" pitchFamily="34" charset="-120"/>
              </a:rPr>
              <a:t>Dual Scoring Formula</a:t>
            </a:r>
            <a:endParaRPr lang="en-US" sz="1800" dirty="0"/>
          </a:p>
        </p:txBody>
      </p:sp>
      <p:sp>
        <p:nvSpPr>
          <p:cNvPr id="4" name="Text 2"/>
          <p:cNvSpPr/>
          <p:nvPr/>
        </p:nvSpPr>
        <p:spPr>
          <a:xfrm>
            <a:off x="640080" y="1554480"/>
            <a:ext cx="3840480" cy="2286000"/>
          </a:xfrm>
          <a:prstGeom prst="rect">
            <a:avLst/>
          </a:prstGeom>
          <a:noFill/>
          <a:ln/>
        </p:spPr>
        <p:txBody>
          <a:bodyPr wrap="square" rtlCol="0" anchor="ctr"/>
          <a:lstStyle/>
          <a:p>
            <a:pPr indent="0" marL="0">
              <a:buNone/>
            </a:pPr>
            <a:r>
              <a:rPr lang="en-US" sz="1200" b="1" dirty="0">
                <a:solidFill>
                  <a:srgbClr val="1A1A2E"/>
                </a:solidFill>
                <a:latin typeface="Arial" pitchFamily="34" charset="0"/>
                <a:ea typeface="Arial" pitchFamily="34" charset="-122"/>
                <a:cs typeface="Arial" pitchFamily="34" charset="-120"/>
              </a:rPr>
              <a:t>Capacity Score (0-100)</a:t>
            </a:r>
            <a:endParaRPr lang="en-US" sz="1200" dirty="0"/>
          </a:p>
          <a:p>
            <a:pPr indent="0" marL="0">
              <a:buNone/>
            </a:pPr>
            <a:r>
              <a:rPr lang="en-US" sz="1100" dirty="0">
                <a:solidFill>
                  <a:srgbClr val="666666"/>
                </a:solidFill>
                <a:latin typeface="Arial" pitchFamily="34" charset="0"/>
                <a:ea typeface="Arial" pitchFamily="34" charset="-122"/>
                <a:cs typeface="Arial" pitchFamily="34" charset="-120"/>
              </a:rPr>
              <a:t>Assessment results, verification status, document quality</a:t>
            </a:r>
            <a:endParaRPr lang="en-US" sz="1200" dirty="0"/>
          </a:p>
          <a:p>
            <a:pPr indent="0" marL="0">
              <a:buNone/>
            </a:pPr>
            <a:endParaRPr lang="en-US" sz="1200" dirty="0"/>
          </a:p>
          <a:p>
            <a:pPr indent="0" marL="0">
              <a:buNone/>
            </a:pPr>
            <a:r>
              <a:rPr lang="en-US" sz="1200" b="1" dirty="0">
                <a:solidFill>
                  <a:srgbClr val="1A1A2E"/>
                </a:solidFill>
                <a:latin typeface="Arial" pitchFamily="34" charset="0"/>
                <a:ea typeface="Arial" pitchFamily="34" charset="-122"/>
                <a:cs typeface="Arial" pitchFamily="34" charset="-120"/>
              </a:rPr>
              <a:t>Application Score (0-100)</a:t>
            </a:r>
            <a:endParaRPr lang="en-US" sz="1200" dirty="0"/>
          </a:p>
          <a:p>
            <a:pPr indent="0" marL="0">
              <a:buNone/>
            </a:pPr>
            <a:r>
              <a:rPr lang="en-US" sz="1100" dirty="0">
                <a:solidFill>
                  <a:srgbClr val="666666"/>
                </a:solidFill>
                <a:latin typeface="Arial" pitchFamily="34" charset="0"/>
                <a:ea typeface="Arial" pitchFamily="34" charset="-122"/>
                <a:cs typeface="Arial" pitchFamily="34" charset="-120"/>
              </a:rPr>
              <a:t>AI evaluation against donor-specific criteria per document type</a:t>
            </a:r>
            <a:endParaRPr lang="en-US" sz="1200" dirty="0"/>
          </a:p>
        </p:txBody>
      </p:sp>
      <p:sp>
        <p:nvSpPr>
          <p:cNvPr id="5" name="Text 3"/>
          <p:cNvSpPr/>
          <p:nvPr/>
        </p:nvSpPr>
        <p:spPr>
          <a:xfrm>
            <a:off x="4846320" y="1097280"/>
            <a:ext cx="3657600" cy="457200"/>
          </a:xfrm>
          <a:prstGeom prst="rect">
            <a:avLst/>
          </a:prstGeom>
          <a:noFill/>
          <a:ln/>
        </p:spPr>
        <p:txBody>
          <a:bodyPr wrap="square" rtlCol="0" anchor="ctr"/>
          <a:lstStyle/>
          <a:p>
            <a:pPr indent="0" marL="0">
              <a:buNone/>
            </a:pPr>
            <a:r>
              <a:rPr lang="en-US" sz="1800" b="1" dirty="0">
                <a:solidFill>
                  <a:srgbClr val="028090"/>
                </a:solidFill>
                <a:latin typeface="Arial" pitchFamily="34" charset="0"/>
                <a:ea typeface="Arial" pitchFamily="34" charset="-122"/>
                <a:cs typeface="Arial" pitchFamily="34" charset="-120"/>
              </a:rPr>
              <a:t>AI Evaluation</a:t>
            </a:r>
            <a:endParaRPr lang="en-US" sz="1800" dirty="0"/>
          </a:p>
        </p:txBody>
      </p:sp>
      <p:sp>
        <p:nvSpPr>
          <p:cNvPr id="6" name="Text 4"/>
          <p:cNvSpPr/>
          <p:nvPr/>
        </p:nvSpPr>
        <p:spPr>
          <a:xfrm>
            <a:off x="4846320" y="1554480"/>
            <a:ext cx="3840480" cy="2286000"/>
          </a:xfrm>
          <a:prstGeom prst="rect">
            <a:avLst/>
          </a:prstGeom>
          <a:noFill/>
          <a:ln/>
        </p:spPr>
        <p:txBody>
          <a:bodyPr wrap="square" rtlCol="0" anchor="ctr"/>
          <a:lstStyle/>
          <a:p>
            <a:pPr marL="342900" indent="-342900">
              <a:buSzPct val="100000"/>
              <a:buChar char="•"/>
            </a:pPr>
            <a:r>
              <a:rPr lang="en-US" sz="1200" dirty="0">
                <a:solidFill>
                  <a:srgbClr val="1A1A2E"/>
                </a:solidFill>
                <a:latin typeface="Arial" pitchFamily="34" charset="0"/>
                <a:ea typeface="Arial" pitchFamily="34" charset="-122"/>
                <a:cs typeface="Arial" pitchFamily="34" charset="-120"/>
              </a:rPr>
              <a:t>Per-requirement scoring against donor criteria</a:t>
            </a:r>
            <a:endParaRPr lang="en-US" sz="1200" dirty="0"/>
          </a:p>
          <a:p>
            <a:pPr marL="342900" indent="-342900">
              <a:buSzPct val="100000"/>
              <a:buChar char="•"/>
            </a:pPr>
            <a:r>
              <a:rPr lang="en-US" sz="1200" dirty="0">
                <a:solidFill>
                  <a:srgbClr val="1A1A2E"/>
                </a:solidFill>
                <a:latin typeface="Arial" pitchFamily="34" charset="0"/>
                <a:ea typeface="Arial" pitchFamily="34" charset="-122"/>
                <a:cs typeface="Arial" pitchFamily="34" charset="-120"/>
              </a:rPr>
              <a:t>Automated strength/weakness identification</a:t>
            </a:r>
            <a:endParaRPr lang="en-US" sz="1200" dirty="0"/>
          </a:p>
          <a:p>
            <a:pPr marL="342900" indent="-342900">
              <a:buSzPct val="100000"/>
              <a:buChar char="•"/>
            </a:pPr>
            <a:r>
              <a:rPr lang="en-US" sz="1200" dirty="0">
                <a:solidFill>
                  <a:srgbClr val="1A1A2E"/>
                </a:solidFill>
                <a:latin typeface="Arial" pitchFamily="34" charset="0"/>
                <a:ea typeface="Arial" pitchFamily="34" charset="-122"/>
                <a:cs typeface="Arial" pitchFamily="34" charset="-120"/>
              </a:rPr>
              <a:t>Consistent evaluation across all applicants</a:t>
            </a:r>
            <a:endParaRPr lang="en-US" sz="1200" dirty="0"/>
          </a:p>
          <a:p>
            <a:pPr marL="342900" indent="-342900">
              <a:buSzPct val="100000"/>
              <a:buChar char="•"/>
            </a:pPr>
            <a:r>
              <a:rPr lang="en-US" sz="1200" dirty="0">
                <a:solidFill>
                  <a:srgbClr val="1A1A2E"/>
                </a:solidFill>
                <a:latin typeface="Arial" pitchFamily="34" charset="0"/>
                <a:ea typeface="Arial" pitchFamily="34" charset="-122"/>
                <a:cs typeface="Arial" pitchFamily="34" charset="-120"/>
              </a:rPr>
              <a:t>Evidence-based recommendations</a:t>
            </a:r>
            <a:endParaRPr lang="en-US" sz="1200" dirty="0"/>
          </a:p>
        </p:txBody>
      </p:sp>
      <p:sp>
        <p:nvSpPr>
          <p:cNvPr id="7" name="Text 5"/>
          <p:cNvSpPr/>
          <p:nvPr/>
        </p:nvSpPr>
        <p:spPr>
          <a:xfrm>
            <a:off x="457200" y="4389120"/>
            <a:ext cx="8229600" cy="457200"/>
          </a:xfrm>
          <a:prstGeom prst="rect">
            <a:avLst/>
          </a:prstGeom>
          <a:noFill/>
          <a:ln/>
        </p:spPr>
        <p:txBody>
          <a:bodyPr wrap="square" rtlCol="0" anchor="ctr"/>
          <a:lstStyle/>
          <a:p>
            <a:pPr algn="ctr" indent="0" marL="0">
              <a:buNone/>
            </a:pPr>
            <a:r>
              <a:rPr lang="en-US" sz="1300" dirty="0">
                <a:solidFill>
                  <a:srgbClr val="666666"/>
                </a:solidFill>
                <a:latin typeface="Arial" pitchFamily="34" charset="0"/>
                <a:ea typeface="Arial" pitchFamily="34" charset="-122"/>
                <a:cs typeface="Arial" pitchFamily="34" charset="-120"/>
              </a:rPr>
              <a:t>Every application scored consistently. Every decision evidence-based.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027"/>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AI-Powered Grant Monitoring</a:t>
            </a:r>
            <a:endParaRPr lang="en-US" sz="3400" dirty="0"/>
          </a:p>
        </p:txBody>
      </p:sp>
      <p:sp>
        <p:nvSpPr>
          <p:cNvPr id="3" name="Shape 1"/>
          <p:cNvSpPr/>
          <p:nvPr/>
        </p:nvSpPr>
        <p:spPr>
          <a:xfrm>
            <a:off x="548640" y="1188720"/>
            <a:ext cx="384048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Text 2"/>
          <p:cNvSpPr/>
          <p:nvPr/>
        </p:nvSpPr>
        <p:spPr>
          <a:xfrm>
            <a:off x="731520" y="1325880"/>
            <a:ext cx="3474720" cy="365760"/>
          </a:xfrm>
          <a:prstGeom prst="rect">
            <a:avLst/>
          </a:prstGeom>
          <a:noFill/>
          <a:ln/>
        </p:spPr>
        <p:txBody>
          <a:bodyPr wrap="square" rtlCol="0" anchor="ctr"/>
          <a:lstStyle/>
          <a:p>
            <a:pPr indent="0" marL="0">
              <a:buNone/>
            </a:pPr>
            <a:r>
              <a:rPr lang="en-US" sz="1500" b="1" dirty="0">
                <a:solidFill>
                  <a:srgbClr val="028090"/>
                </a:solidFill>
                <a:latin typeface="Arial" pitchFamily="34" charset="0"/>
                <a:ea typeface="Arial" pitchFamily="34" charset="-122"/>
                <a:cs typeface="Arial" pitchFamily="34" charset="-120"/>
              </a:rPr>
              <a:t>Automated Reporting</a:t>
            </a:r>
            <a:endParaRPr lang="en-US" sz="1500" dirty="0"/>
          </a:p>
        </p:txBody>
      </p:sp>
      <p:sp>
        <p:nvSpPr>
          <p:cNvPr id="5" name="Text 3"/>
          <p:cNvSpPr/>
          <p:nvPr/>
        </p:nvSpPr>
        <p:spPr>
          <a:xfrm>
            <a:off x="731520" y="1691640"/>
            <a:ext cx="3474720" cy="822960"/>
          </a:xfrm>
          <a:prstGeom prst="rect">
            <a:avLst/>
          </a:prstGeom>
          <a:noFill/>
          <a:ln/>
        </p:spPr>
        <p:txBody>
          <a:bodyPr wrap="square" rtlCol="0" anchor="t"/>
          <a:lstStyle/>
          <a:p>
            <a:pPr indent="0" marL="0">
              <a:buNone/>
            </a:pPr>
            <a:r>
              <a:rPr lang="en-US" sz="1100" dirty="0">
                <a:solidFill>
                  <a:srgbClr val="1A1A2E"/>
                </a:solidFill>
                <a:latin typeface="Arial" pitchFamily="34" charset="0"/>
                <a:ea typeface="Arial" pitchFamily="34" charset="-122"/>
                <a:cs typeface="Arial" pitchFamily="34" charset="-120"/>
              </a:rPr>
              <a:t>AI extracts reporting deadlines from grant agreements. NGOs submit through guided templates.</a:t>
            </a:r>
            <a:endParaRPr lang="en-US" sz="1100" dirty="0"/>
          </a:p>
        </p:txBody>
      </p:sp>
      <p:sp>
        <p:nvSpPr>
          <p:cNvPr id="6" name="Shape 4"/>
          <p:cNvSpPr/>
          <p:nvPr/>
        </p:nvSpPr>
        <p:spPr>
          <a:xfrm>
            <a:off x="4754880" y="1188720"/>
            <a:ext cx="384048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Text 5"/>
          <p:cNvSpPr/>
          <p:nvPr/>
        </p:nvSpPr>
        <p:spPr>
          <a:xfrm>
            <a:off x="4937760" y="1325880"/>
            <a:ext cx="3474720" cy="365760"/>
          </a:xfrm>
          <a:prstGeom prst="rect">
            <a:avLst/>
          </a:prstGeom>
          <a:noFill/>
          <a:ln/>
        </p:spPr>
        <p:txBody>
          <a:bodyPr wrap="square" rtlCol="0" anchor="ctr"/>
          <a:lstStyle/>
          <a:p>
            <a:pPr indent="0" marL="0">
              <a:buNone/>
            </a:pPr>
            <a:r>
              <a:rPr lang="en-US" sz="1500" b="1" dirty="0">
                <a:solidFill>
                  <a:srgbClr val="028090"/>
                </a:solidFill>
                <a:latin typeface="Arial" pitchFamily="34" charset="0"/>
                <a:ea typeface="Arial" pitchFamily="34" charset="-122"/>
                <a:cs typeface="Arial" pitchFamily="34" charset="-120"/>
              </a:rPr>
              <a:t>Risk Detection</a:t>
            </a:r>
            <a:endParaRPr lang="en-US" sz="1500" dirty="0"/>
          </a:p>
        </p:txBody>
      </p:sp>
      <p:sp>
        <p:nvSpPr>
          <p:cNvPr id="8" name="Text 6"/>
          <p:cNvSpPr/>
          <p:nvPr/>
        </p:nvSpPr>
        <p:spPr>
          <a:xfrm>
            <a:off x="4937760" y="1691640"/>
            <a:ext cx="3474720" cy="822960"/>
          </a:xfrm>
          <a:prstGeom prst="rect">
            <a:avLst/>
          </a:prstGeom>
          <a:noFill/>
          <a:ln/>
        </p:spPr>
        <p:txBody>
          <a:bodyPr wrap="square" rtlCol="0" anchor="t"/>
          <a:lstStyle/>
          <a:p>
            <a:pPr indent="0" marL="0">
              <a:buNone/>
            </a:pPr>
            <a:r>
              <a:rPr lang="en-US" sz="1100" dirty="0">
                <a:solidFill>
                  <a:srgbClr val="1A1A2E"/>
                </a:solidFill>
                <a:latin typeface="Arial" pitchFamily="34" charset="0"/>
                <a:ea typeface="Arial" pitchFamily="34" charset="-122"/>
                <a:cs typeface="Arial" pitchFamily="34" charset="-120"/>
              </a:rPr>
              <a:t>Real-time alerts for missed deadlines, compliance gaps, and anomalies in submitted reports.</a:t>
            </a:r>
            <a:endParaRPr lang="en-US" sz="1100" dirty="0"/>
          </a:p>
        </p:txBody>
      </p:sp>
      <p:sp>
        <p:nvSpPr>
          <p:cNvPr id="9" name="Shape 7"/>
          <p:cNvSpPr/>
          <p:nvPr/>
        </p:nvSpPr>
        <p:spPr>
          <a:xfrm>
            <a:off x="548640" y="2926080"/>
            <a:ext cx="384048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Text 8"/>
          <p:cNvSpPr/>
          <p:nvPr/>
        </p:nvSpPr>
        <p:spPr>
          <a:xfrm>
            <a:off x="731520" y="3063240"/>
            <a:ext cx="3474720" cy="365760"/>
          </a:xfrm>
          <a:prstGeom prst="rect">
            <a:avLst/>
          </a:prstGeom>
          <a:noFill/>
          <a:ln/>
        </p:spPr>
        <p:txBody>
          <a:bodyPr wrap="square" rtlCol="0" anchor="ctr"/>
          <a:lstStyle/>
          <a:p>
            <a:pPr indent="0" marL="0">
              <a:buNone/>
            </a:pPr>
            <a:r>
              <a:rPr lang="en-US" sz="1500" b="1" dirty="0">
                <a:solidFill>
                  <a:srgbClr val="028090"/>
                </a:solidFill>
                <a:latin typeface="Arial" pitchFamily="34" charset="0"/>
                <a:ea typeface="Arial" pitchFamily="34" charset="-122"/>
                <a:cs typeface="Arial" pitchFamily="34" charset="-120"/>
              </a:rPr>
              <a:t>Per-Requirement Scoring</a:t>
            </a:r>
            <a:endParaRPr lang="en-US" sz="1500" dirty="0"/>
          </a:p>
        </p:txBody>
      </p:sp>
      <p:sp>
        <p:nvSpPr>
          <p:cNvPr id="11" name="Text 9"/>
          <p:cNvSpPr/>
          <p:nvPr/>
        </p:nvSpPr>
        <p:spPr>
          <a:xfrm>
            <a:off x="731520" y="3429000"/>
            <a:ext cx="3474720" cy="822960"/>
          </a:xfrm>
          <a:prstGeom prst="rect">
            <a:avLst/>
          </a:prstGeom>
          <a:noFill/>
          <a:ln/>
        </p:spPr>
        <p:txBody>
          <a:bodyPr wrap="square" rtlCol="0" anchor="t"/>
          <a:lstStyle/>
          <a:p>
            <a:pPr indent="0" marL="0">
              <a:buNone/>
            </a:pPr>
            <a:r>
              <a:rPr lang="en-US" sz="1100" dirty="0">
                <a:solidFill>
                  <a:srgbClr val="1A1A2E"/>
                </a:solidFill>
                <a:latin typeface="Arial" pitchFamily="34" charset="0"/>
                <a:ea typeface="Arial" pitchFamily="34" charset="-122"/>
                <a:cs typeface="Arial" pitchFamily="34" charset="-120"/>
              </a:rPr>
              <a:t>Each report evaluated against specific grant requirements with individual scores.</a:t>
            </a:r>
            <a:endParaRPr lang="en-US" sz="1100" dirty="0"/>
          </a:p>
        </p:txBody>
      </p:sp>
      <p:sp>
        <p:nvSpPr>
          <p:cNvPr id="12" name="Shape 10"/>
          <p:cNvSpPr/>
          <p:nvPr/>
        </p:nvSpPr>
        <p:spPr>
          <a:xfrm>
            <a:off x="4754880" y="2926080"/>
            <a:ext cx="384048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Text 11"/>
          <p:cNvSpPr/>
          <p:nvPr/>
        </p:nvSpPr>
        <p:spPr>
          <a:xfrm>
            <a:off x="4937760" y="3063240"/>
            <a:ext cx="3474720" cy="365760"/>
          </a:xfrm>
          <a:prstGeom prst="rect">
            <a:avLst/>
          </a:prstGeom>
          <a:noFill/>
          <a:ln/>
        </p:spPr>
        <p:txBody>
          <a:bodyPr wrap="square" rtlCol="0" anchor="ctr"/>
          <a:lstStyle/>
          <a:p>
            <a:pPr indent="0" marL="0">
              <a:buNone/>
            </a:pPr>
            <a:r>
              <a:rPr lang="en-US" sz="1500" b="1" dirty="0">
                <a:solidFill>
                  <a:srgbClr val="028090"/>
                </a:solidFill>
                <a:latin typeface="Arial" pitchFamily="34" charset="0"/>
                <a:ea typeface="Arial" pitchFamily="34" charset="-122"/>
                <a:cs typeface="Arial" pitchFamily="34" charset="-120"/>
              </a:rPr>
              <a:t>Compliance Dashboard</a:t>
            </a:r>
            <a:endParaRPr lang="en-US" sz="1500" dirty="0"/>
          </a:p>
        </p:txBody>
      </p:sp>
      <p:sp>
        <p:nvSpPr>
          <p:cNvPr id="14" name="Text 12"/>
          <p:cNvSpPr/>
          <p:nvPr/>
        </p:nvSpPr>
        <p:spPr>
          <a:xfrm>
            <a:off x="4937760" y="3429000"/>
            <a:ext cx="3474720" cy="822960"/>
          </a:xfrm>
          <a:prstGeom prst="rect">
            <a:avLst/>
          </a:prstGeom>
          <a:noFill/>
          <a:ln/>
        </p:spPr>
        <p:txBody>
          <a:bodyPr wrap="square" rtlCol="0" anchor="t"/>
          <a:lstStyle/>
          <a:p>
            <a:pPr indent="0" marL="0">
              <a:buNone/>
            </a:pPr>
            <a:r>
              <a:rPr lang="en-US" sz="1100" dirty="0">
                <a:solidFill>
                  <a:srgbClr val="1A1A2E"/>
                </a:solidFill>
                <a:latin typeface="Arial" pitchFamily="34" charset="0"/>
                <a:ea typeface="Arial" pitchFamily="34" charset="-122"/>
                <a:cs typeface="Arial" pitchFamily="34" charset="-120"/>
              </a:rPr>
              <a:t>Live overview of all grantee compliance status, upcoming deadlines, and risk flags.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772400" cy="502920"/>
          </a:xfrm>
          <a:prstGeom prst="rect">
            <a:avLst/>
          </a:prstGeom>
          <a:noFill/>
          <a:ln/>
        </p:spPr>
        <p:txBody>
          <a:bodyPr wrap="square" rtlCol="0" anchor="ctr"/>
          <a:lstStyle/>
          <a:p>
            <a:pPr indent="0" marL="0">
              <a:buNone/>
            </a:pPr>
            <a:r>
              <a:rPr lang="en-US" sz="3400" b="1" dirty="0">
                <a:solidFill>
                  <a:srgbClr val="028090"/>
                </a:solidFill>
                <a:latin typeface="Arial" pitchFamily="34" charset="0"/>
                <a:ea typeface="Arial" pitchFamily="34" charset="-122"/>
                <a:cs typeface="Arial" pitchFamily="34" charset="-120"/>
              </a:rPr>
              <a:t>Automated Due Diligence &amp; Continuous Monitoring</a:t>
            </a:r>
            <a:endParaRPr lang="en-US" sz="3400" dirty="0"/>
          </a:p>
        </p:txBody>
      </p:sp>
      <p:sp>
        <p:nvSpPr>
          <p:cNvPr id="3" name="Text 1"/>
          <p:cNvSpPr/>
          <p:nvPr/>
        </p:nvSpPr>
        <p:spPr>
          <a:xfrm>
            <a:off x="640080" y="777240"/>
            <a:ext cx="7315200" cy="320040"/>
          </a:xfrm>
          <a:prstGeom prst="rect">
            <a:avLst/>
          </a:prstGeom>
          <a:noFill/>
          <a:ln/>
        </p:spPr>
        <p:txBody>
          <a:bodyPr wrap="square" rtlCol="0" anchor="ctr"/>
          <a:lstStyle/>
          <a:p>
            <a:pPr indent="0" marL="0">
              <a:buNone/>
            </a:pPr>
            <a:r>
              <a:rPr lang="en-US" sz="1300" dirty="0">
                <a:solidFill>
                  <a:srgbClr val="666666"/>
                </a:solidFill>
                <a:latin typeface="Arial" pitchFamily="34" charset="0"/>
                <a:ea typeface="Arial" pitchFamily="34" charset="-122"/>
                <a:cs typeface="Arial" pitchFamily="34" charset="-120"/>
              </a:rPr>
              <a:t>A complete compliance infrastructure — not just a one-time check</a:t>
            </a:r>
            <a:endParaRPr lang="en-US" sz="1300" dirty="0"/>
          </a:p>
        </p:txBody>
      </p:sp>
      <p:sp>
        <p:nvSpPr>
          <p:cNvPr id="4" name="Text 2"/>
          <p:cNvSpPr/>
          <p:nvPr/>
        </p:nvSpPr>
        <p:spPr>
          <a:xfrm>
            <a:off x="640080" y="1234440"/>
            <a:ext cx="3931920" cy="320040"/>
          </a:xfrm>
          <a:prstGeom prst="rect">
            <a:avLst/>
          </a:prstGeom>
          <a:noFill/>
          <a:ln/>
        </p:spPr>
        <p:txBody>
          <a:bodyPr wrap="square" rtlCol="0" anchor="ctr"/>
          <a:lstStyle/>
          <a:p>
            <a:pPr indent="0" marL="0">
              <a:buNone/>
            </a:pPr>
            <a:r>
              <a:rPr lang="en-US" sz="1600" b="1" dirty="0">
                <a:solidFill>
                  <a:srgbClr val="028090"/>
                </a:solidFill>
                <a:latin typeface="Arial" pitchFamily="34" charset="0"/>
                <a:ea typeface="Arial" pitchFamily="34" charset="-122"/>
                <a:cs typeface="Arial" pitchFamily="34" charset="-120"/>
              </a:rPr>
              <a:t>Live Sanctions Screening</a:t>
            </a:r>
            <a:endParaRPr lang="en-US" sz="1600" dirty="0"/>
          </a:p>
        </p:txBody>
      </p:sp>
      <p:sp>
        <p:nvSpPr>
          <p:cNvPr id="5" name="Text 3"/>
          <p:cNvSpPr/>
          <p:nvPr/>
        </p:nvSpPr>
        <p:spPr>
          <a:xfrm>
            <a:off x="640080" y="1554480"/>
            <a:ext cx="3931920" cy="1188720"/>
          </a:xfrm>
          <a:prstGeom prst="rect">
            <a:avLst/>
          </a:prstGeom>
          <a:noFill/>
          <a:ln/>
        </p:spPr>
        <p:txBody>
          <a:bodyPr wrap="square" rtlCol="0" anchor="ctr"/>
          <a:lstStyle/>
          <a:p>
            <a:pPr marL="342900" indent="-342900">
              <a:buSzPct val="100000"/>
              <a:buChar char="•"/>
            </a:pPr>
            <a:r>
              <a:rPr lang="en-US" sz="1100" dirty="0">
                <a:solidFill>
                  <a:srgbClr val="1A1A2E"/>
                </a:solidFill>
                <a:latin typeface="Arial" pitchFamily="34" charset="0"/>
                <a:ea typeface="Arial" pitchFamily="34" charset="-122"/>
                <a:cs typeface="Arial" pitchFamily="34" charset="-120"/>
              </a:rPr>
              <a:t>UN Security Council Consolidated List (1,005+ entities)</a:t>
            </a:r>
            <a:endParaRPr lang="en-US" sz="1100" dirty="0"/>
          </a:p>
          <a:p>
            <a:pPr marL="342900" indent="-342900">
              <a:buSzPct val="100000"/>
              <a:buChar char="•"/>
            </a:pPr>
            <a:r>
              <a:rPr lang="en-US" sz="1100" dirty="0">
                <a:solidFill>
                  <a:srgbClr val="1A1A2E"/>
                </a:solidFill>
                <a:latin typeface="Arial" pitchFamily="34" charset="0"/>
                <a:ea typeface="Arial" pitchFamily="34" charset="-122"/>
                <a:cs typeface="Arial" pitchFamily="34" charset="-120"/>
              </a:rPr>
              <a:t>US OFAC SDN List (18,698+ entities)</a:t>
            </a:r>
            <a:endParaRPr lang="en-US" sz="1100" dirty="0"/>
          </a:p>
          <a:p>
            <a:pPr marL="342900" indent="-342900">
              <a:buSzPct val="100000"/>
              <a:buChar char="•"/>
            </a:pPr>
            <a:r>
              <a:rPr lang="en-US" sz="1100" dirty="0">
                <a:solidFill>
                  <a:srgbClr val="1A1A2E"/>
                </a:solidFill>
                <a:latin typeface="Arial" pitchFamily="34" charset="0"/>
                <a:ea typeface="Arial" pitchFamily="34" charset="-122"/>
                <a:cs typeface="Arial" pitchFamily="34" charset="-120"/>
              </a:rPr>
              <a:t>EU Financial Sanctions (29,849+ entities)</a:t>
            </a:r>
            <a:endParaRPr lang="en-US" sz="1100" dirty="0"/>
          </a:p>
          <a:p>
            <a:pPr marL="342900" indent="-342900">
              <a:buSzPct val="100000"/>
              <a:buChar char="•"/>
            </a:pPr>
            <a:r>
              <a:rPr lang="en-US" sz="1100" dirty="0">
                <a:solidFill>
                  <a:srgbClr val="1A1A2E"/>
                </a:solidFill>
                <a:latin typeface="Arial" pitchFamily="34" charset="0"/>
                <a:ea typeface="Arial" pitchFamily="34" charset="-122"/>
                <a:cs typeface="Arial" pitchFamily="34" charset="-120"/>
              </a:rPr>
              <a:t>World Bank Debarment List</a:t>
            </a:r>
            <a:endParaRPr lang="en-US" sz="1100" dirty="0"/>
          </a:p>
        </p:txBody>
      </p:sp>
      <p:sp>
        <p:nvSpPr>
          <p:cNvPr id="6" name="Text 4"/>
          <p:cNvSpPr/>
          <p:nvPr/>
        </p:nvSpPr>
        <p:spPr>
          <a:xfrm>
            <a:off x="640080" y="2743200"/>
            <a:ext cx="3931920" cy="320040"/>
          </a:xfrm>
          <a:prstGeom prst="rect">
            <a:avLst/>
          </a:prstGeom>
          <a:noFill/>
          <a:ln/>
        </p:spPr>
        <p:txBody>
          <a:bodyPr wrap="square" rtlCol="0" anchor="ctr"/>
          <a:lstStyle/>
          <a:p>
            <a:pPr indent="0" marL="0">
              <a:buNone/>
            </a:pPr>
            <a:r>
              <a:rPr lang="en-US" sz="1600" b="1" dirty="0">
                <a:solidFill>
                  <a:srgbClr val="028090"/>
                </a:solidFill>
                <a:latin typeface="Arial" pitchFamily="34" charset="0"/>
                <a:ea typeface="Arial" pitchFamily="34" charset="-122"/>
                <a:cs typeface="Arial" pitchFamily="34" charset="-120"/>
              </a:rPr>
              <a:t>Government Registry Verification</a:t>
            </a:r>
            <a:endParaRPr lang="en-US" sz="1600" dirty="0"/>
          </a:p>
        </p:txBody>
      </p:sp>
      <p:sp>
        <p:nvSpPr>
          <p:cNvPr id="7" name="Text 5"/>
          <p:cNvSpPr/>
          <p:nvPr/>
        </p:nvSpPr>
        <p:spPr>
          <a:xfrm>
            <a:off x="640080" y="3063240"/>
            <a:ext cx="3931920" cy="914400"/>
          </a:xfrm>
          <a:prstGeom prst="rect">
            <a:avLst/>
          </a:prstGeom>
          <a:noFill/>
          <a:ln/>
        </p:spPr>
        <p:txBody>
          <a:bodyPr wrap="square" rtlCol="0" anchor="ctr"/>
          <a:lstStyle/>
          <a:p>
            <a:pPr marL="342900" indent="-342900">
              <a:buSzPct val="100000"/>
              <a:buChar char="•"/>
            </a:pPr>
            <a:r>
              <a:rPr lang="en-US" sz="1100" dirty="0">
                <a:solidFill>
                  <a:srgbClr val="1A1A2E"/>
                </a:solidFill>
                <a:latin typeface="Arial" pitchFamily="34" charset="0"/>
                <a:ea typeface="Arial" pitchFamily="34" charset="-122"/>
                <a:cs typeface="Arial" pitchFamily="34" charset="-120"/>
              </a:rPr>
              <a:t>7 African countries: Kenya, Nigeria, South Africa, Uganda, Tanzania, Somalia, Ethiopia</a:t>
            </a:r>
            <a:endParaRPr lang="en-US" sz="1100" dirty="0"/>
          </a:p>
          <a:p>
            <a:pPr marL="342900" indent="-342900">
              <a:buSzPct val="100000"/>
              <a:buChar char="•"/>
            </a:pPr>
            <a:r>
              <a:rPr lang="en-US" sz="1100" dirty="0">
                <a:solidFill>
                  <a:srgbClr val="1A1A2E"/>
                </a:solidFill>
                <a:latin typeface="Arial" pitchFamily="34" charset="0"/>
                <a:ea typeface="Arial" pitchFamily="34" charset="-122"/>
                <a:cs typeface="Arial" pitchFamily="34" charset="-120"/>
              </a:rPr>
              <a:t>Live portal queries against official registries</a:t>
            </a:r>
            <a:endParaRPr lang="en-US" sz="1100" dirty="0"/>
          </a:p>
          <a:p>
            <a:pPr marL="342900" indent="-342900">
              <a:buSzPct val="100000"/>
              <a:buChar char="•"/>
            </a:pPr>
            <a:r>
              <a:rPr lang="en-US" sz="1100" dirty="0">
                <a:solidFill>
                  <a:srgbClr val="1A1A2E"/>
                </a:solidFill>
                <a:latin typeface="Arial" pitchFamily="34" charset="0"/>
                <a:ea typeface="Arial" pitchFamily="34" charset="-122"/>
                <a:cs typeface="Arial" pitchFamily="34" charset="-120"/>
              </a:rPr>
              <a:t>AI-powered certificate analysis</a:t>
            </a:r>
            <a:endParaRPr lang="en-US" sz="1100" dirty="0"/>
          </a:p>
        </p:txBody>
      </p:sp>
      <p:sp>
        <p:nvSpPr>
          <p:cNvPr id="8" name="Text 6"/>
          <p:cNvSpPr/>
          <p:nvPr/>
        </p:nvSpPr>
        <p:spPr>
          <a:xfrm>
            <a:off x="4846320" y="1234440"/>
            <a:ext cx="3931920" cy="320040"/>
          </a:xfrm>
          <a:prstGeom prst="rect">
            <a:avLst/>
          </a:prstGeom>
          <a:noFill/>
          <a:ln/>
        </p:spPr>
        <p:txBody>
          <a:bodyPr wrap="square" rtlCol="0" anchor="ctr"/>
          <a:lstStyle/>
          <a:p>
            <a:pPr indent="0" marL="0">
              <a:buNone/>
            </a:pPr>
            <a:r>
              <a:rPr lang="en-US" sz="1600" b="1" dirty="0">
                <a:solidFill>
                  <a:srgbClr val="F4A261"/>
                </a:solidFill>
                <a:latin typeface="Arial" pitchFamily="34" charset="0"/>
                <a:ea typeface="Arial" pitchFamily="34" charset="-122"/>
                <a:cs typeface="Arial" pitchFamily="34" charset="-120"/>
              </a:rPr>
              <a:t>Continuous Monitoring</a:t>
            </a:r>
            <a:endParaRPr lang="en-US" sz="1600" dirty="0"/>
          </a:p>
        </p:txBody>
      </p:sp>
      <p:sp>
        <p:nvSpPr>
          <p:cNvPr id="9" name="Text 7"/>
          <p:cNvSpPr/>
          <p:nvPr/>
        </p:nvSpPr>
        <p:spPr>
          <a:xfrm>
            <a:off x="4846320" y="1554480"/>
            <a:ext cx="3931920" cy="1188720"/>
          </a:xfrm>
          <a:prstGeom prst="rect">
            <a:avLst/>
          </a:prstGeom>
          <a:noFill/>
          <a:ln/>
        </p:spPr>
        <p:txBody>
          <a:bodyPr wrap="square" rtlCol="0" anchor="ctr"/>
          <a:lstStyle/>
          <a:p>
            <a:pPr marL="342900" indent="-342900">
              <a:buSzPct val="100000"/>
              <a:buChar char="•"/>
            </a:pPr>
            <a:r>
              <a:rPr lang="en-US" sz="1100" dirty="0">
                <a:solidFill>
                  <a:srgbClr val="1A1A2E"/>
                </a:solidFill>
                <a:latin typeface="Arial" pitchFamily="34" charset="0"/>
                <a:ea typeface="Arial" pitchFamily="34" charset="-122"/>
                <a:cs typeface="Arial" pitchFamily="34" charset="-120"/>
              </a:rPr>
              <a:t>Scheduled re-screening of all active grantees</a:t>
            </a:r>
            <a:endParaRPr lang="en-US" sz="1100" dirty="0"/>
          </a:p>
          <a:p>
            <a:pPr marL="342900" indent="-342900">
              <a:buSzPct val="100000"/>
              <a:buChar char="•"/>
            </a:pPr>
            <a:r>
              <a:rPr lang="en-US" sz="1100" dirty="0">
                <a:solidFill>
                  <a:srgbClr val="1A1A2E"/>
                </a:solidFill>
                <a:latin typeface="Arial" pitchFamily="34" charset="0"/>
                <a:ea typeface="Arial" pitchFamily="34" charset="-122"/>
                <a:cs typeface="Arial" pitchFamily="34" charset="-120"/>
              </a:rPr>
              <a:t>Automatic alerts when status changes</a:t>
            </a:r>
            <a:endParaRPr lang="en-US" sz="1100" dirty="0"/>
          </a:p>
          <a:p>
            <a:pPr marL="342900" indent="-342900">
              <a:buSzPct val="100000"/>
              <a:buChar char="•"/>
            </a:pPr>
            <a:r>
              <a:rPr lang="en-US" sz="1100" dirty="0">
                <a:solidFill>
                  <a:srgbClr val="1A1A2E"/>
                </a:solidFill>
                <a:latin typeface="Arial" pitchFamily="34" charset="0"/>
                <a:ea typeface="Arial" pitchFamily="34" charset="-122"/>
                <a:cs typeface="Arial" pitchFamily="34" charset="-120"/>
              </a:rPr>
              <a:t>Sanctions list updates tracked in real-time</a:t>
            </a:r>
            <a:endParaRPr lang="en-US" sz="1100" dirty="0"/>
          </a:p>
          <a:p>
            <a:pPr marL="342900" indent="-342900">
              <a:buSzPct val="100000"/>
              <a:buChar char="•"/>
            </a:pPr>
            <a:r>
              <a:rPr lang="en-US" sz="1100" dirty="0">
                <a:solidFill>
                  <a:srgbClr val="1A1A2E"/>
                </a:solidFill>
                <a:latin typeface="Arial" pitchFamily="34" charset="0"/>
                <a:ea typeface="Arial" pitchFamily="34" charset="-122"/>
                <a:cs typeface="Arial" pitchFamily="34" charset="-120"/>
              </a:rPr>
              <a:t>Registration expiry monitoring</a:t>
            </a:r>
            <a:endParaRPr lang="en-US" sz="1100" dirty="0"/>
          </a:p>
        </p:txBody>
      </p:sp>
      <p:sp>
        <p:nvSpPr>
          <p:cNvPr id="10" name="Text 8"/>
          <p:cNvSpPr/>
          <p:nvPr/>
        </p:nvSpPr>
        <p:spPr>
          <a:xfrm>
            <a:off x="4846320" y="2743200"/>
            <a:ext cx="3931920" cy="320040"/>
          </a:xfrm>
          <a:prstGeom prst="rect">
            <a:avLst/>
          </a:prstGeom>
          <a:noFill/>
          <a:ln/>
        </p:spPr>
        <p:txBody>
          <a:bodyPr wrap="square" rtlCol="0" anchor="ctr"/>
          <a:lstStyle/>
          <a:p>
            <a:pPr indent="0" marL="0">
              <a:buNone/>
            </a:pPr>
            <a:r>
              <a:rPr lang="en-US" sz="1600" b="1" dirty="0">
                <a:solidFill>
                  <a:srgbClr val="028090"/>
                </a:solidFill>
                <a:latin typeface="Arial" pitchFamily="34" charset="0"/>
                <a:ea typeface="Arial" pitchFamily="34" charset="-122"/>
                <a:cs typeface="Arial" pitchFamily="34" charset="-120"/>
              </a:rPr>
              <a:t>What Makes This Different</a:t>
            </a:r>
            <a:endParaRPr lang="en-US" sz="1600" dirty="0"/>
          </a:p>
        </p:txBody>
      </p:sp>
      <p:sp>
        <p:nvSpPr>
          <p:cNvPr id="11" name="Text 9"/>
          <p:cNvSpPr/>
          <p:nvPr/>
        </p:nvSpPr>
        <p:spPr>
          <a:xfrm>
            <a:off x="4846320" y="3063240"/>
            <a:ext cx="3931920" cy="914400"/>
          </a:xfrm>
          <a:prstGeom prst="rect">
            <a:avLst/>
          </a:prstGeom>
          <a:noFill/>
          <a:ln/>
        </p:spPr>
        <p:txBody>
          <a:bodyPr wrap="square" rtlCol="0" anchor="ctr"/>
          <a:lstStyle/>
          <a:p>
            <a:pPr marL="342900" indent="-342900">
              <a:buSzPct val="100000"/>
              <a:buChar char="•"/>
            </a:pPr>
            <a:r>
              <a:rPr lang="en-US" sz="1100" dirty="0">
                <a:solidFill>
                  <a:srgbClr val="1A1A2E"/>
                </a:solidFill>
                <a:latin typeface="Arial" pitchFamily="34" charset="0"/>
                <a:ea typeface="Arial" pitchFamily="34" charset="-122"/>
                <a:cs typeface="Arial" pitchFamily="34" charset="-120"/>
              </a:rPr>
              <a:t>Not a one-time check — ongoing protection</a:t>
            </a:r>
            <a:endParaRPr lang="en-US" sz="1100" dirty="0"/>
          </a:p>
          <a:p>
            <a:pPr marL="342900" indent="-342900">
              <a:buSzPct val="100000"/>
              <a:buChar char="•"/>
            </a:pPr>
            <a:r>
              <a:rPr lang="en-US" sz="1100" dirty="0">
                <a:solidFill>
                  <a:srgbClr val="1A1A2E"/>
                </a:solidFill>
                <a:latin typeface="Arial" pitchFamily="34" charset="0"/>
                <a:ea typeface="Arial" pitchFamily="34" charset="-122"/>
                <a:cs typeface="Arial" pitchFamily="34" charset="-120"/>
              </a:rPr>
              <a:t>Covers sanctions AND registration AND compliance</a:t>
            </a:r>
            <a:endParaRPr lang="en-US" sz="1100" dirty="0"/>
          </a:p>
          <a:p>
            <a:pPr marL="342900" indent="-342900">
              <a:buSzPct val="100000"/>
              <a:buChar char="•"/>
            </a:pPr>
            <a:r>
              <a:rPr lang="en-US" sz="1100" dirty="0">
                <a:solidFill>
                  <a:srgbClr val="1A1A2E"/>
                </a:solidFill>
                <a:latin typeface="Arial" pitchFamily="34" charset="0"/>
                <a:ea typeface="Arial" pitchFamily="34" charset="-122"/>
                <a:cs typeface="Arial" pitchFamily="34" charset="-120"/>
              </a:rPr>
              <a:t>AI analysis fills gaps where manual checks fail</a:t>
            </a:r>
            <a:endParaRPr lang="en-US" sz="1100" dirty="0"/>
          </a:p>
          <a:p>
            <a:pPr marL="342900" indent="-342900">
              <a:buSzPct val="100000"/>
              <a:buChar char="•"/>
            </a:pPr>
            <a:r>
              <a:rPr lang="en-US" sz="1100" dirty="0">
                <a:solidFill>
                  <a:srgbClr val="1A1A2E"/>
                </a:solidFill>
                <a:latin typeface="Arial" pitchFamily="34" charset="0"/>
                <a:ea typeface="Arial" pitchFamily="34" charset="-122"/>
                <a:cs typeface="Arial" pitchFamily="34" charset="-120"/>
              </a:rPr>
              <a:t>Full audit trail for every verification</a:t>
            </a:r>
            <a:endParaRPr lang="en-US" sz="1100" dirty="0"/>
          </a:p>
        </p:txBody>
      </p:sp>
      <p:sp>
        <p:nvSpPr>
          <p:cNvPr id="12" name="Shape 10"/>
          <p:cNvSpPr/>
          <p:nvPr/>
        </p:nvSpPr>
        <p:spPr>
          <a:xfrm>
            <a:off x="0" y="4297680"/>
            <a:ext cx="9144000" cy="548640"/>
          </a:xfrm>
          <a:prstGeom prst="rect">
            <a:avLst/>
          </a:prstGeom>
          <a:solidFill>
            <a:srgbClr val="F4A261"/>
          </a:solidFill>
          <a:ln/>
        </p:spPr>
      </p:sp>
      <p:sp>
        <p:nvSpPr>
          <p:cNvPr id="13" name="Text 11"/>
          <p:cNvSpPr/>
          <p:nvPr/>
        </p:nvSpPr>
        <p:spPr>
          <a:xfrm>
            <a:off x="457200" y="4297680"/>
            <a:ext cx="8229600"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Due diligence that took weeks now runs continuously — protecting every grant, every day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7F4"/>
        </a:solidFill>
      </p:bgPr>
    </p:bg>
    <p:spTree>
      <p:nvGrpSpPr>
        <p:cNvPr id="1" name=""/>
        <p:cNvGrpSpPr/>
        <p:nvPr/>
      </p:nvGrpSpPr>
      <p:grpSpPr>
        <a:xfrm>
          <a:off x="0" y="0"/>
          <a:ext cx="0" cy="0"/>
          <a:chOff x="0" y="0"/>
          <a:chExt cx="0" cy="0"/>
        </a:xfrm>
      </p:grpSpPr>
      <p:sp>
        <p:nvSpPr>
          <p:cNvPr id="2" name="Text 0"/>
          <p:cNvSpPr/>
          <p:nvPr/>
        </p:nvSpPr>
        <p:spPr>
          <a:xfrm>
            <a:off x="640080" y="274320"/>
            <a:ext cx="7315200" cy="502920"/>
          </a:xfrm>
          <a:prstGeom prst="rect">
            <a:avLst/>
          </a:prstGeom>
          <a:noFill/>
          <a:ln/>
        </p:spPr>
        <p:txBody>
          <a:bodyPr wrap="square" rtlCol="0" anchor="ctr"/>
          <a:lstStyle/>
          <a:p>
            <a:pPr indent="0" marL="0">
              <a:buNone/>
            </a:pPr>
            <a:r>
              <a:rPr lang="en-US" sz="3400" b="1" dirty="0">
                <a:solidFill>
                  <a:srgbClr val="028090"/>
                </a:solidFill>
                <a:latin typeface="Arial" pitchFamily="34" charset="0"/>
                <a:ea typeface="Arial" pitchFamily="34" charset="-122"/>
                <a:cs typeface="Arial" pitchFamily="34" charset="-120"/>
              </a:rPr>
              <a:t>Capacity Assessments Made Easy</a:t>
            </a:r>
            <a:endParaRPr lang="en-US" sz="3400" dirty="0"/>
          </a:p>
        </p:txBody>
      </p:sp>
      <p:sp>
        <p:nvSpPr>
          <p:cNvPr id="3" name="Text 1"/>
          <p:cNvSpPr/>
          <p:nvPr/>
        </p:nvSpPr>
        <p:spPr>
          <a:xfrm>
            <a:off x="640080" y="777240"/>
            <a:ext cx="7315200" cy="320040"/>
          </a:xfrm>
          <a:prstGeom prst="rect">
            <a:avLst/>
          </a:prstGeom>
          <a:noFill/>
          <a:ln/>
        </p:spPr>
        <p:txBody>
          <a:bodyPr wrap="square" rtlCol="0" anchor="ctr"/>
          <a:lstStyle/>
          <a:p>
            <a:pPr indent="0" marL="0">
              <a:buNone/>
            </a:pPr>
            <a:r>
              <a:rPr lang="en-US" sz="1300" dirty="0">
                <a:solidFill>
                  <a:srgbClr val="666666"/>
                </a:solidFill>
                <a:latin typeface="Arial" pitchFamily="34" charset="0"/>
                <a:ea typeface="Arial" pitchFamily="34" charset="-122"/>
                <a:cs typeface="Arial" pitchFamily="34" charset="-120"/>
              </a:rPr>
              <a:t>Five industry frameworks, one guided experience</a:t>
            </a:r>
            <a:endParaRPr lang="en-US" sz="1300" dirty="0"/>
          </a:p>
        </p:txBody>
      </p:sp>
      <p:sp>
        <p:nvSpPr>
          <p:cNvPr id="4" name="Text 2"/>
          <p:cNvSpPr/>
          <p:nvPr/>
        </p:nvSpPr>
        <p:spPr>
          <a:xfrm>
            <a:off x="640080" y="1234440"/>
            <a:ext cx="4114800" cy="411480"/>
          </a:xfrm>
          <a:prstGeom prst="rect">
            <a:avLst/>
          </a:prstGeom>
          <a:noFill/>
          <a:ln/>
        </p:spPr>
        <p:txBody>
          <a:bodyPr wrap="square" rtlCol="0" anchor="ctr"/>
          <a:lstStyle/>
          <a:p>
            <a:pPr indent="0" marL="0">
              <a:buNone/>
            </a:pPr>
            <a:r>
              <a:rPr lang="en-US" sz="2000" b="1" dirty="0">
                <a:solidFill>
                  <a:srgbClr val="028090"/>
                </a:solidFill>
                <a:latin typeface="Arial" pitchFamily="34" charset="0"/>
                <a:ea typeface="Arial" pitchFamily="34" charset="-122"/>
                <a:cs typeface="Arial" pitchFamily="34" charset="-120"/>
              </a:rPr>
              <a:t>For NGOs</a:t>
            </a:r>
            <a:endParaRPr lang="en-US" sz="2000" dirty="0"/>
          </a:p>
        </p:txBody>
      </p:sp>
      <p:sp>
        <p:nvSpPr>
          <p:cNvPr id="5" name="Text 3"/>
          <p:cNvSpPr/>
          <p:nvPr/>
        </p:nvSpPr>
        <p:spPr>
          <a:xfrm>
            <a:off x="640080" y="1737360"/>
            <a:ext cx="4114800" cy="228600"/>
          </a:xfrm>
          <a:prstGeom prst="rect">
            <a:avLst/>
          </a:prstGeom>
          <a:noFill/>
          <a:ln/>
        </p:spPr>
        <p:txBody>
          <a:bodyPr wrap="square" lIns="0" tIns="0" rIns="0" bIns="0" rtlCol="0" anchor="ctr"/>
          <a:lstStyle/>
          <a:p>
            <a:pPr indent="0" marL="0">
              <a:buNone/>
            </a:pPr>
            <a:r>
              <a:rPr lang="en-US" sz="1300" b="1" dirty="0">
                <a:solidFill>
                  <a:srgbClr val="028090"/>
                </a:solidFill>
                <a:latin typeface="Arial" pitchFamily="34" charset="0"/>
                <a:ea typeface="Arial" pitchFamily="34" charset="-122"/>
                <a:cs typeface="Arial" pitchFamily="34" charset="-120"/>
              </a:rPr>
              <a:t>AI-Guided Completion</a:t>
            </a:r>
            <a:endParaRPr lang="en-US" sz="1300" dirty="0"/>
          </a:p>
        </p:txBody>
      </p:sp>
      <p:sp>
        <p:nvSpPr>
          <p:cNvPr id="6" name="Text 4"/>
          <p:cNvSpPr/>
          <p:nvPr/>
        </p:nvSpPr>
        <p:spPr>
          <a:xfrm>
            <a:off x="640080" y="1965960"/>
            <a:ext cx="4114800" cy="320040"/>
          </a:xfrm>
          <a:prstGeom prst="rect">
            <a:avLst/>
          </a:prstGeom>
          <a:noFill/>
          <a:ln/>
        </p:spPr>
        <p:txBody>
          <a:bodyPr wrap="square" lIns="0" tIns="0" rIns="0" bIns="0" rtlCol="0" anchor="ctr"/>
          <a:lstStyle/>
          <a:p>
            <a:pPr indent="0" marL="0">
              <a:buNone/>
            </a:pPr>
            <a:r>
              <a:rPr lang="en-US" sz="1100" dirty="0">
                <a:solidFill>
                  <a:srgbClr val="666666"/>
                </a:solidFill>
                <a:latin typeface="Arial" pitchFamily="34" charset="0"/>
                <a:ea typeface="Arial" pitchFamily="34" charset="-122"/>
                <a:cs typeface="Arial" pitchFamily="34" charset="-120"/>
              </a:rPr>
              <a:t>Intelligent prompts help NGOs understand and respond to each assessment item correctly</a:t>
            </a:r>
            <a:endParaRPr lang="en-US" sz="1100" dirty="0"/>
          </a:p>
        </p:txBody>
      </p:sp>
      <p:sp>
        <p:nvSpPr>
          <p:cNvPr id="7" name="Text 5"/>
          <p:cNvSpPr/>
          <p:nvPr/>
        </p:nvSpPr>
        <p:spPr>
          <a:xfrm>
            <a:off x="640080" y="2331720"/>
            <a:ext cx="4114800" cy="228600"/>
          </a:xfrm>
          <a:prstGeom prst="rect">
            <a:avLst/>
          </a:prstGeom>
          <a:noFill/>
          <a:ln/>
        </p:spPr>
        <p:txBody>
          <a:bodyPr wrap="square" lIns="0" tIns="0" rIns="0" bIns="0" rtlCol="0" anchor="ctr"/>
          <a:lstStyle/>
          <a:p>
            <a:pPr indent="0" marL="0">
              <a:buNone/>
            </a:pPr>
            <a:r>
              <a:rPr lang="en-US" sz="1300" b="1" dirty="0">
                <a:solidFill>
                  <a:srgbClr val="028090"/>
                </a:solidFill>
                <a:latin typeface="Arial" pitchFamily="34" charset="0"/>
                <a:ea typeface="Arial" pitchFamily="34" charset="-122"/>
                <a:cs typeface="Arial" pitchFamily="34" charset="-120"/>
              </a:rPr>
              <a:t>Assess Once, Apply Everywhere</a:t>
            </a:r>
            <a:endParaRPr lang="en-US" sz="1300" dirty="0"/>
          </a:p>
        </p:txBody>
      </p:sp>
      <p:sp>
        <p:nvSpPr>
          <p:cNvPr id="8" name="Text 6"/>
          <p:cNvSpPr/>
          <p:nvPr/>
        </p:nvSpPr>
        <p:spPr>
          <a:xfrm>
            <a:off x="640080" y="2560320"/>
            <a:ext cx="4114800" cy="320040"/>
          </a:xfrm>
          <a:prstGeom prst="rect">
            <a:avLst/>
          </a:prstGeom>
          <a:noFill/>
          <a:ln/>
        </p:spPr>
        <p:txBody>
          <a:bodyPr wrap="square" lIns="0" tIns="0" rIns="0" bIns="0" rtlCol="0" anchor="ctr"/>
          <a:lstStyle/>
          <a:p>
            <a:pPr indent="0" marL="0">
              <a:buNone/>
            </a:pPr>
            <a:r>
              <a:rPr lang="en-US" sz="1100" dirty="0">
                <a:solidFill>
                  <a:srgbClr val="666666"/>
                </a:solidFill>
                <a:latin typeface="Arial" pitchFamily="34" charset="0"/>
                <a:ea typeface="Arial" pitchFamily="34" charset="-122"/>
                <a:cs typeface="Arial" pitchFamily="34" charset="-120"/>
              </a:rPr>
              <a:t>Complete one assessment that's recognized by multiple donors and frameworks</a:t>
            </a:r>
            <a:endParaRPr lang="en-US" sz="1100" dirty="0"/>
          </a:p>
        </p:txBody>
      </p:sp>
      <p:sp>
        <p:nvSpPr>
          <p:cNvPr id="9" name="Text 7"/>
          <p:cNvSpPr/>
          <p:nvPr/>
        </p:nvSpPr>
        <p:spPr>
          <a:xfrm>
            <a:off x="640080" y="2926080"/>
            <a:ext cx="4114800" cy="228600"/>
          </a:xfrm>
          <a:prstGeom prst="rect">
            <a:avLst/>
          </a:prstGeom>
          <a:noFill/>
          <a:ln/>
        </p:spPr>
        <p:txBody>
          <a:bodyPr wrap="square" lIns="0" tIns="0" rIns="0" bIns="0" rtlCol="0" anchor="ctr"/>
          <a:lstStyle/>
          <a:p>
            <a:pPr indent="0" marL="0">
              <a:buNone/>
            </a:pPr>
            <a:r>
              <a:rPr lang="en-US" sz="1300" b="1" dirty="0">
                <a:solidFill>
                  <a:srgbClr val="028090"/>
                </a:solidFill>
                <a:latin typeface="Arial" pitchFamily="34" charset="0"/>
                <a:ea typeface="Arial" pitchFamily="34" charset="-122"/>
                <a:cs typeface="Arial" pitchFamily="34" charset="-120"/>
              </a:rPr>
              <a:t>Gap Analysis</a:t>
            </a:r>
            <a:endParaRPr lang="en-US" sz="1300" dirty="0"/>
          </a:p>
        </p:txBody>
      </p:sp>
      <p:sp>
        <p:nvSpPr>
          <p:cNvPr id="10" name="Text 8"/>
          <p:cNvSpPr/>
          <p:nvPr/>
        </p:nvSpPr>
        <p:spPr>
          <a:xfrm>
            <a:off x="640080" y="3154680"/>
            <a:ext cx="4114800" cy="320040"/>
          </a:xfrm>
          <a:prstGeom prst="rect">
            <a:avLst/>
          </a:prstGeom>
          <a:noFill/>
          <a:ln/>
        </p:spPr>
        <p:txBody>
          <a:bodyPr wrap="square" lIns="0" tIns="0" rIns="0" bIns="0" rtlCol="0" anchor="ctr"/>
          <a:lstStyle/>
          <a:p>
            <a:pPr indent="0" marL="0">
              <a:buNone/>
            </a:pPr>
            <a:r>
              <a:rPr lang="en-US" sz="1100" dirty="0">
                <a:solidFill>
                  <a:srgbClr val="666666"/>
                </a:solidFill>
                <a:latin typeface="Arial" pitchFamily="34" charset="0"/>
                <a:ea typeface="Arial" pitchFamily="34" charset="-122"/>
                <a:cs typeface="Arial" pitchFamily="34" charset="-120"/>
              </a:rPr>
              <a:t>AI identifies weaknesses and provides specific recommendations for improvement</a:t>
            </a:r>
            <a:endParaRPr lang="en-US" sz="1100" dirty="0"/>
          </a:p>
        </p:txBody>
      </p:sp>
      <p:sp>
        <p:nvSpPr>
          <p:cNvPr id="11" name="Text 9"/>
          <p:cNvSpPr/>
          <p:nvPr/>
        </p:nvSpPr>
        <p:spPr>
          <a:xfrm>
            <a:off x="640080" y="3520440"/>
            <a:ext cx="4114800" cy="228600"/>
          </a:xfrm>
          <a:prstGeom prst="rect">
            <a:avLst/>
          </a:prstGeom>
          <a:noFill/>
          <a:ln/>
        </p:spPr>
        <p:txBody>
          <a:bodyPr wrap="square" lIns="0" tIns="0" rIns="0" bIns="0" rtlCol="0" anchor="ctr"/>
          <a:lstStyle/>
          <a:p>
            <a:pPr indent="0" marL="0">
              <a:buNone/>
            </a:pPr>
            <a:r>
              <a:rPr lang="en-US" sz="1300" b="1" dirty="0">
                <a:solidFill>
                  <a:srgbClr val="028090"/>
                </a:solidFill>
                <a:latin typeface="Arial" pitchFamily="34" charset="0"/>
                <a:ea typeface="Arial" pitchFamily="34" charset="-122"/>
                <a:cs typeface="Arial" pitchFamily="34" charset="-120"/>
              </a:rPr>
              <a:t>Document Attachment</a:t>
            </a:r>
            <a:endParaRPr lang="en-US" sz="1300" dirty="0"/>
          </a:p>
        </p:txBody>
      </p:sp>
      <p:sp>
        <p:nvSpPr>
          <p:cNvPr id="12" name="Text 10"/>
          <p:cNvSpPr/>
          <p:nvPr/>
        </p:nvSpPr>
        <p:spPr>
          <a:xfrm>
            <a:off x="640080" y="3749040"/>
            <a:ext cx="4114800" cy="320040"/>
          </a:xfrm>
          <a:prstGeom prst="rect">
            <a:avLst/>
          </a:prstGeom>
          <a:noFill/>
          <a:ln/>
        </p:spPr>
        <p:txBody>
          <a:bodyPr wrap="square" lIns="0" tIns="0" rIns="0" bIns="0" rtlCol="0" anchor="ctr"/>
          <a:lstStyle/>
          <a:p>
            <a:pPr indent="0" marL="0">
              <a:buNone/>
            </a:pPr>
            <a:r>
              <a:rPr lang="en-US" sz="1100" dirty="0">
                <a:solidFill>
                  <a:srgbClr val="666666"/>
                </a:solidFill>
                <a:latin typeface="Arial" pitchFamily="34" charset="0"/>
                <a:ea typeface="Arial" pitchFamily="34" charset="-122"/>
                <a:cs typeface="Arial" pitchFamily="34" charset="-120"/>
              </a:rPr>
              <a:t>Upload supporting evidence directly linked to assessment items</a:t>
            </a:r>
            <a:endParaRPr lang="en-US" sz="1100" dirty="0"/>
          </a:p>
        </p:txBody>
      </p:sp>
      <p:sp>
        <p:nvSpPr>
          <p:cNvPr id="13" name="Text 11"/>
          <p:cNvSpPr/>
          <p:nvPr/>
        </p:nvSpPr>
        <p:spPr>
          <a:xfrm>
            <a:off x="5029200" y="1234440"/>
            <a:ext cx="3840480" cy="411480"/>
          </a:xfrm>
          <a:prstGeom prst="rect">
            <a:avLst/>
          </a:prstGeom>
          <a:noFill/>
          <a:ln/>
        </p:spPr>
        <p:txBody>
          <a:bodyPr wrap="square" rtlCol="0" anchor="ctr"/>
          <a:lstStyle/>
          <a:p>
            <a:pPr indent="0" marL="0">
              <a:buNone/>
            </a:pPr>
            <a:r>
              <a:rPr lang="en-US" sz="2000" b="1" dirty="0">
                <a:solidFill>
                  <a:srgbClr val="028090"/>
                </a:solidFill>
                <a:latin typeface="Arial" pitchFamily="34" charset="0"/>
                <a:ea typeface="Arial" pitchFamily="34" charset="-122"/>
                <a:cs typeface="Arial" pitchFamily="34" charset="-120"/>
              </a:rPr>
              <a:t>5 Frameworks Supported</a:t>
            </a:r>
            <a:endParaRPr lang="en-US" sz="2000" dirty="0"/>
          </a:p>
        </p:txBody>
      </p:sp>
      <p:sp>
        <p:nvSpPr>
          <p:cNvPr id="14" name="Shape 12"/>
          <p:cNvSpPr/>
          <p:nvPr/>
        </p:nvSpPr>
        <p:spPr>
          <a:xfrm>
            <a:off x="5029200" y="1737360"/>
            <a:ext cx="3657600" cy="411480"/>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15" name="Shape 13"/>
          <p:cNvSpPr/>
          <p:nvPr/>
        </p:nvSpPr>
        <p:spPr>
          <a:xfrm>
            <a:off x="5029200" y="1737360"/>
            <a:ext cx="54864" cy="411480"/>
          </a:xfrm>
          <a:prstGeom prst="rect">
            <a:avLst/>
          </a:prstGeom>
          <a:solidFill>
            <a:srgbClr val="028090"/>
          </a:solidFill>
          <a:ln/>
        </p:spPr>
      </p:sp>
      <p:sp>
        <p:nvSpPr>
          <p:cNvPr id="16" name="Text 14"/>
          <p:cNvSpPr/>
          <p:nvPr/>
        </p:nvSpPr>
        <p:spPr>
          <a:xfrm>
            <a:off x="5212080" y="1737360"/>
            <a:ext cx="3383280" cy="411480"/>
          </a:xfrm>
          <a:prstGeom prst="rect">
            <a:avLst/>
          </a:prstGeom>
          <a:noFill/>
          <a:ln/>
        </p:spPr>
        <p:txBody>
          <a:bodyPr wrap="square" rtlCol="0" anchor="ctr"/>
          <a:lstStyle/>
          <a:p>
            <a:pPr indent="0" marL="0">
              <a:buNone/>
            </a:pPr>
            <a:r>
              <a:rPr lang="en-US" sz="1200" b="1" dirty="0">
                <a:solidFill>
                  <a:srgbClr val="1A1A2E"/>
                </a:solidFill>
                <a:latin typeface="Arial" pitchFamily="34" charset="0"/>
                <a:ea typeface="Arial" pitchFamily="34" charset="-122"/>
                <a:cs typeface="Arial" pitchFamily="34" charset="-120"/>
              </a:rPr>
              <a:t>Kuja</a:t>
            </a:r>
            <a:pPr indent="0" marL="0">
              <a:buNone/>
            </a:pPr>
            <a:r>
              <a:rPr lang="en-US" sz="1000" dirty="0">
                <a:solidFill>
                  <a:srgbClr val="666666"/>
                </a:solidFill>
                <a:latin typeface="Arial" pitchFamily="34" charset="0"/>
                <a:ea typeface="Arial" pitchFamily="34" charset="-122"/>
                <a:cs typeface="Arial" pitchFamily="34" charset="-120"/>
              </a:rPr>
              <a:t>  Adeso's proprietary framework — Governance, Finance, Programs, HR, M&amp;E</a:t>
            </a:r>
            <a:endParaRPr lang="en-US" sz="1200" dirty="0"/>
          </a:p>
        </p:txBody>
      </p:sp>
      <p:sp>
        <p:nvSpPr>
          <p:cNvPr id="17" name="Shape 15"/>
          <p:cNvSpPr/>
          <p:nvPr/>
        </p:nvSpPr>
        <p:spPr>
          <a:xfrm>
            <a:off x="5029200" y="2240280"/>
            <a:ext cx="3657600" cy="411480"/>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18" name="Shape 16"/>
          <p:cNvSpPr/>
          <p:nvPr/>
        </p:nvSpPr>
        <p:spPr>
          <a:xfrm>
            <a:off x="5029200" y="2240280"/>
            <a:ext cx="54864" cy="411480"/>
          </a:xfrm>
          <a:prstGeom prst="rect">
            <a:avLst/>
          </a:prstGeom>
          <a:solidFill>
            <a:srgbClr val="028090"/>
          </a:solidFill>
          <a:ln/>
        </p:spPr>
      </p:sp>
      <p:sp>
        <p:nvSpPr>
          <p:cNvPr id="19" name="Text 17"/>
          <p:cNvSpPr/>
          <p:nvPr/>
        </p:nvSpPr>
        <p:spPr>
          <a:xfrm>
            <a:off x="5212080" y="2240280"/>
            <a:ext cx="3383280" cy="411480"/>
          </a:xfrm>
          <a:prstGeom prst="rect">
            <a:avLst/>
          </a:prstGeom>
          <a:noFill/>
          <a:ln/>
        </p:spPr>
        <p:txBody>
          <a:bodyPr wrap="square" rtlCol="0" anchor="ctr"/>
          <a:lstStyle/>
          <a:p>
            <a:pPr indent="0" marL="0">
              <a:buNone/>
            </a:pPr>
            <a:r>
              <a:rPr lang="en-US" sz="1200" b="1" dirty="0">
                <a:solidFill>
                  <a:srgbClr val="1A1A2E"/>
                </a:solidFill>
                <a:latin typeface="Arial" pitchFamily="34" charset="0"/>
                <a:ea typeface="Arial" pitchFamily="34" charset="-122"/>
                <a:cs typeface="Arial" pitchFamily="34" charset="-120"/>
              </a:rPr>
              <a:t>STEP</a:t>
            </a:r>
            <a:pPr indent="0" marL="0">
              <a:buNone/>
            </a:pPr>
            <a:r>
              <a:rPr lang="en-US" sz="1000" dirty="0">
                <a:solidFill>
                  <a:srgbClr val="666666"/>
                </a:solidFill>
                <a:latin typeface="Arial" pitchFamily="34" charset="0"/>
                <a:ea typeface="Arial" pitchFamily="34" charset="-122"/>
                <a:cs typeface="Arial" pitchFamily="34" charset="-120"/>
              </a:rPr>
              <a:t>  Capacity strengthening for local partners</a:t>
            </a:r>
            <a:endParaRPr lang="en-US" sz="1200" dirty="0"/>
          </a:p>
        </p:txBody>
      </p:sp>
      <p:sp>
        <p:nvSpPr>
          <p:cNvPr id="20" name="Shape 18"/>
          <p:cNvSpPr/>
          <p:nvPr/>
        </p:nvSpPr>
        <p:spPr>
          <a:xfrm>
            <a:off x="5029200" y="2743200"/>
            <a:ext cx="3657600" cy="411480"/>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21" name="Shape 19"/>
          <p:cNvSpPr/>
          <p:nvPr/>
        </p:nvSpPr>
        <p:spPr>
          <a:xfrm>
            <a:off x="5029200" y="2743200"/>
            <a:ext cx="54864" cy="411480"/>
          </a:xfrm>
          <a:prstGeom prst="rect">
            <a:avLst/>
          </a:prstGeom>
          <a:solidFill>
            <a:srgbClr val="028090"/>
          </a:solidFill>
          <a:ln/>
        </p:spPr>
      </p:sp>
      <p:sp>
        <p:nvSpPr>
          <p:cNvPr id="22" name="Text 20"/>
          <p:cNvSpPr/>
          <p:nvPr/>
        </p:nvSpPr>
        <p:spPr>
          <a:xfrm>
            <a:off x="5212080" y="2743200"/>
            <a:ext cx="3383280" cy="411480"/>
          </a:xfrm>
          <a:prstGeom prst="rect">
            <a:avLst/>
          </a:prstGeom>
          <a:noFill/>
          <a:ln/>
        </p:spPr>
        <p:txBody>
          <a:bodyPr wrap="square" rtlCol="0" anchor="ctr"/>
          <a:lstStyle/>
          <a:p>
            <a:pPr indent="0" marL="0">
              <a:buNone/>
            </a:pPr>
            <a:r>
              <a:rPr lang="en-US" sz="1200" b="1" dirty="0">
                <a:solidFill>
                  <a:srgbClr val="1A1A2E"/>
                </a:solidFill>
                <a:latin typeface="Arial" pitchFamily="34" charset="0"/>
                <a:ea typeface="Arial" pitchFamily="34" charset="-122"/>
                <a:cs typeface="Arial" pitchFamily="34" charset="-120"/>
              </a:rPr>
              <a:t>UN-HACT</a:t>
            </a:r>
            <a:pPr indent="0" marL="0">
              <a:buNone/>
            </a:pPr>
            <a:r>
              <a:rPr lang="en-US" sz="1000" dirty="0">
                <a:solidFill>
                  <a:srgbClr val="666666"/>
                </a:solidFill>
                <a:latin typeface="Arial" pitchFamily="34" charset="0"/>
                <a:ea typeface="Arial" pitchFamily="34" charset="-122"/>
                <a:cs typeface="Arial" pitchFamily="34" charset="-120"/>
              </a:rPr>
              <a:t>  UN Harmonized Approach to Cash Transfers</a:t>
            </a:r>
            <a:endParaRPr lang="en-US" sz="1200" dirty="0"/>
          </a:p>
        </p:txBody>
      </p:sp>
      <p:sp>
        <p:nvSpPr>
          <p:cNvPr id="23" name="Shape 21"/>
          <p:cNvSpPr/>
          <p:nvPr/>
        </p:nvSpPr>
        <p:spPr>
          <a:xfrm>
            <a:off x="5029200" y="3246120"/>
            <a:ext cx="3657600" cy="411480"/>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24" name="Shape 22"/>
          <p:cNvSpPr/>
          <p:nvPr/>
        </p:nvSpPr>
        <p:spPr>
          <a:xfrm>
            <a:off x="5029200" y="3246120"/>
            <a:ext cx="54864" cy="411480"/>
          </a:xfrm>
          <a:prstGeom prst="rect">
            <a:avLst/>
          </a:prstGeom>
          <a:solidFill>
            <a:srgbClr val="028090"/>
          </a:solidFill>
          <a:ln/>
        </p:spPr>
      </p:sp>
      <p:sp>
        <p:nvSpPr>
          <p:cNvPr id="25" name="Text 23"/>
          <p:cNvSpPr/>
          <p:nvPr/>
        </p:nvSpPr>
        <p:spPr>
          <a:xfrm>
            <a:off x="5212080" y="3246120"/>
            <a:ext cx="3383280" cy="411480"/>
          </a:xfrm>
          <a:prstGeom prst="rect">
            <a:avLst/>
          </a:prstGeom>
          <a:noFill/>
          <a:ln/>
        </p:spPr>
        <p:txBody>
          <a:bodyPr wrap="square" rtlCol="0" anchor="ctr"/>
          <a:lstStyle/>
          <a:p>
            <a:pPr indent="0" marL="0">
              <a:buNone/>
            </a:pPr>
            <a:r>
              <a:rPr lang="en-US" sz="1200" b="1" dirty="0">
                <a:solidFill>
                  <a:srgbClr val="1A1A2E"/>
                </a:solidFill>
                <a:latin typeface="Arial" pitchFamily="34" charset="0"/>
                <a:ea typeface="Arial" pitchFamily="34" charset="-122"/>
                <a:cs typeface="Arial" pitchFamily="34" charset="-120"/>
              </a:rPr>
              <a:t>CHS</a:t>
            </a:r>
            <a:pPr indent="0" marL="0">
              <a:buNone/>
            </a:pPr>
            <a:r>
              <a:rPr lang="en-US" sz="1000" dirty="0">
                <a:solidFill>
                  <a:srgbClr val="666666"/>
                </a:solidFill>
                <a:latin typeface="Arial" pitchFamily="34" charset="0"/>
                <a:ea typeface="Arial" pitchFamily="34" charset="-122"/>
                <a:cs typeface="Arial" pitchFamily="34" charset="-120"/>
              </a:rPr>
              <a:t>  Core Humanitarian Standard</a:t>
            </a:r>
            <a:endParaRPr lang="en-US" sz="1200" dirty="0"/>
          </a:p>
        </p:txBody>
      </p:sp>
      <p:sp>
        <p:nvSpPr>
          <p:cNvPr id="26" name="Shape 24"/>
          <p:cNvSpPr/>
          <p:nvPr/>
        </p:nvSpPr>
        <p:spPr>
          <a:xfrm>
            <a:off x="5029200" y="3749040"/>
            <a:ext cx="3657600" cy="411480"/>
          </a:xfrm>
          <a:prstGeom prst="rect">
            <a:avLst/>
          </a:prstGeom>
          <a:solidFill>
            <a:srgbClr val="FFFFFF"/>
          </a:solidFill>
          <a:ln/>
          <a:effectLst>
            <a:outerShdw sx="100000" sy="100000" kx="0" ky="0" algn="bl" rotWithShape="0" blurRad="50800" dist="12700" dir="8100000">
              <a:srgbClr val="000000">
                <a:alpha val="10000"/>
              </a:srgbClr>
            </a:outerShdw>
          </a:effectLst>
        </p:spPr>
      </p:sp>
      <p:sp>
        <p:nvSpPr>
          <p:cNvPr id="27" name="Shape 25"/>
          <p:cNvSpPr/>
          <p:nvPr/>
        </p:nvSpPr>
        <p:spPr>
          <a:xfrm>
            <a:off x="5029200" y="3749040"/>
            <a:ext cx="54864" cy="411480"/>
          </a:xfrm>
          <a:prstGeom prst="rect">
            <a:avLst/>
          </a:prstGeom>
          <a:solidFill>
            <a:srgbClr val="028090"/>
          </a:solidFill>
          <a:ln/>
        </p:spPr>
      </p:sp>
      <p:sp>
        <p:nvSpPr>
          <p:cNvPr id="28" name="Text 26"/>
          <p:cNvSpPr/>
          <p:nvPr/>
        </p:nvSpPr>
        <p:spPr>
          <a:xfrm>
            <a:off x="5212080" y="3749040"/>
            <a:ext cx="3383280" cy="411480"/>
          </a:xfrm>
          <a:prstGeom prst="rect">
            <a:avLst/>
          </a:prstGeom>
          <a:noFill/>
          <a:ln/>
        </p:spPr>
        <p:txBody>
          <a:bodyPr wrap="square" rtlCol="0" anchor="ctr"/>
          <a:lstStyle/>
          <a:p>
            <a:pPr indent="0" marL="0">
              <a:buNone/>
            </a:pPr>
            <a:r>
              <a:rPr lang="en-US" sz="1200" b="1" dirty="0">
                <a:solidFill>
                  <a:srgbClr val="1A1A2E"/>
                </a:solidFill>
                <a:latin typeface="Arial" pitchFamily="34" charset="0"/>
                <a:ea typeface="Arial" pitchFamily="34" charset="-122"/>
                <a:cs typeface="Arial" pitchFamily="34" charset="-120"/>
              </a:rPr>
              <a:t>NUPAS</a:t>
            </a:r>
            <a:pPr indent="0" marL="0">
              <a:buNone/>
            </a:pPr>
            <a:r>
              <a:rPr lang="en-US" sz="1000" dirty="0">
                <a:solidFill>
                  <a:srgbClr val="666666"/>
                </a:solidFill>
                <a:latin typeface="Arial" pitchFamily="34" charset="0"/>
                <a:ea typeface="Arial" pitchFamily="34" charset="-122"/>
                <a:cs typeface="Arial" pitchFamily="34" charset="-120"/>
              </a:rPr>
              <a:t>  NGO/UN Partner Assessment Standard</a:t>
            </a:r>
            <a:endParaRPr lang="en-US" sz="1200" dirty="0"/>
          </a:p>
        </p:txBody>
      </p:sp>
      <p:sp>
        <p:nvSpPr>
          <p:cNvPr id="29" name="Text 27"/>
          <p:cNvSpPr/>
          <p:nvPr/>
        </p:nvSpPr>
        <p:spPr>
          <a:xfrm>
            <a:off x="640080" y="4206240"/>
            <a:ext cx="1828800" cy="274320"/>
          </a:xfrm>
          <a:prstGeom prst="rect">
            <a:avLst/>
          </a:prstGeom>
          <a:noFill/>
          <a:ln/>
        </p:spPr>
        <p:txBody>
          <a:bodyPr wrap="square" lIns="0" tIns="0" rIns="0" bIns="0" rtlCol="0" anchor="ctr"/>
          <a:lstStyle/>
          <a:p>
            <a:pPr indent="0" marL="0">
              <a:buNone/>
            </a:pPr>
            <a:r>
              <a:rPr lang="en-US" sz="1400" b="1" dirty="0">
                <a:solidFill>
                  <a:srgbClr val="028090"/>
                </a:solidFill>
                <a:latin typeface="Arial" pitchFamily="34" charset="0"/>
                <a:ea typeface="Arial" pitchFamily="34" charset="-122"/>
                <a:cs typeface="Arial" pitchFamily="34" charset="-120"/>
              </a:rPr>
              <a:t>For Donors</a:t>
            </a:r>
            <a:endParaRPr lang="en-US" sz="1400" dirty="0"/>
          </a:p>
        </p:txBody>
      </p:sp>
      <p:sp>
        <p:nvSpPr>
          <p:cNvPr id="30" name="Text 28"/>
          <p:cNvSpPr/>
          <p:nvPr/>
        </p:nvSpPr>
        <p:spPr>
          <a:xfrm>
            <a:off x="640080" y="4480560"/>
            <a:ext cx="7772400" cy="320040"/>
          </a:xfrm>
          <a:prstGeom prst="rect">
            <a:avLst/>
          </a:prstGeom>
          <a:noFill/>
          <a:ln/>
        </p:spPr>
        <p:txBody>
          <a:bodyPr wrap="square" lIns="0" tIns="0" rIns="0" bIns="0" rtlCol="0" anchor="ctr"/>
          <a:lstStyle/>
          <a:p>
            <a:pPr indent="0" marL="0">
              <a:buNone/>
            </a:pPr>
            <a:r>
              <a:rPr lang="en-US" sz="1200" dirty="0">
                <a:solidFill>
                  <a:srgbClr val="1A1A2E"/>
                </a:solidFill>
                <a:latin typeface="Arial" pitchFamily="34" charset="0"/>
                <a:ea typeface="Arial" pitchFamily="34" charset="-122"/>
                <a:cs typeface="Arial" pitchFamily="34" charset="-120"/>
              </a:rPr>
              <a:t>View standardized capacity profiles. Compare NGOs across frameworks. Make funding decisions backed by verified data.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315200" cy="640080"/>
          </a:xfrm>
          <a:prstGeom prst="rect">
            <a:avLst/>
          </a:prstGeom>
          <a:noFill/>
          <a:ln/>
        </p:spPr>
        <p:txBody>
          <a:bodyPr wrap="square" rtlCol="0" anchor="ctr"/>
          <a:lstStyle/>
          <a:p>
            <a:pPr indent="0" marL="0">
              <a:buNone/>
            </a:pPr>
            <a:r>
              <a:rPr lang="en-US" sz="3400" b="1" dirty="0">
                <a:solidFill>
                  <a:srgbClr val="028090"/>
                </a:solidFill>
                <a:latin typeface="Arial" pitchFamily="34" charset="0"/>
                <a:ea typeface="Arial" pitchFamily="34" charset="-122"/>
                <a:cs typeface="Arial" pitchFamily="34" charset="-120"/>
              </a:rPr>
              <a:t>Direct Access to Grant Finances</a:t>
            </a:r>
            <a:endParaRPr lang="en-US" sz="3400" dirty="0"/>
          </a:p>
        </p:txBody>
      </p:sp>
      <p:sp>
        <p:nvSpPr>
          <p:cNvPr id="3" name="Shape 1"/>
          <p:cNvSpPr/>
          <p:nvPr/>
        </p:nvSpPr>
        <p:spPr>
          <a:xfrm>
            <a:off x="457200" y="1371600"/>
            <a:ext cx="2468880" cy="2560320"/>
          </a:xfrm>
          <a:prstGeom prst="rect">
            <a:avLst/>
          </a:prstGeom>
          <a:solidFill>
            <a:srgbClr val="F0F7F4"/>
          </a:solidFill>
          <a:ln/>
          <a:effectLst>
            <a:outerShdw sx="100000" sy="100000" kx="0" ky="0" algn="bl" rotWithShape="0" blurRad="50800" dist="12700" dir="8100000">
              <a:srgbClr val="000000">
                <a:alpha val="10000"/>
              </a:srgbClr>
            </a:outerShdw>
          </a:effectLst>
        </p:spPr>
      </p:sp>
      <p:sp>
        <p:nvSpPr>
          <p:cNvPr id="4" name="Text 2"/>
          <p:cNvSpPr/>
          <p:nvPr/>
        </p:nvSpPr>
        <p:spPr>
          <a:xfrm>
            <a:off x="640080" y="1554480"/>
            <a:ext cx="2103120" cy="457200"/>
          </a:xfrm>
          <a:prstGeom prst="rect">
            <a:avLst/>
          </a:prstGeom>
          <a:noFill/>
          <a:ln/>
        </p:spPr>
        <p:txBody>
          <a:bodyPr wrap="square" rtlCol="0" anchor="ctr"/>
          <a:lstStyle/>
          <a:p>
            <a:pPr indent="0" marL="0">
              <a:buNone/>
            </a:pPr>
            <a:r>
              <a:rPr lang="en-US" sz="1500" b="1" dirty="0">
                <a:solidFill>
                  <a:srgbClr val="028090"/>
                </a:solidFill>
                <a:latin typeface="Arial" pitchFamily="34" charset="0"/>
                <a:ea typeface="Arial" pitchFamily="34" charset="-122"/>
                <a:cs typeface="Arial" pitchFamily="34" charset="-120"/>
              </a:rPr>
              <a:t>Multi-Tenant ERP</a:t>
            </a:r>
            <a:endParaRPr lang="en-US" sz="1500" dirty="0"/>
          </a:p>
        </p:txBody>
      </p:sp>
      <p:sp>
        <p:nvSpPr>
          <p:cNvPr id="5" name="Text 3"/>
          <p:cNvSpPr/>
          <p:nvPr/>
        </p:nvSpPr>
        <p:spPr>
          <a:xfrm>
            <a:off x="640080" y="2011680"/>
            <a:ext cx="2103120" cy="1645920"/>
          </a:xfrm>
          <a:prstGeom prst="rect">
            <a:avLst/>
          </a:prstGeom>
          <a:noFill/>
          <a:ln/>
        </p:spPr>
        <p:txBody>
          <a:bodyPr wrap="square" rtlCol="0" anchor="t"/>
          <a:lstStyle/>
          <a:p>
            <a:pPr indent="0" marL="0">
              <a:buNone/>
            </a:pPr>
            <a:r>
              <a:rPr lang="en-US" sz="1100" dirty="0">
                <a:solidFill>
                  <a:srgbClr val="1A1A2E"/>
                </a:solidFill>
                <a:latin typeface="Arial" pitchFamily="34" charset="0"/>
                <a:ea typeface="Arial" pitchFamily="34" charset="-122"/>
                <a:cs typeface="Arial" pitchFamily="34" charset="-120"/>
              </a:rPr>
              <a:t>Each NGO gets a dedicated Odoo 17 instance with full financial management, procurement, and HR.</a:t>
            </a:r>
            <a:endParaRPr lang="en-US" sz="1100" dirty="0"/>
          </a:p>
        </p:txBody>
      </p:sp>
      <p:sp>
        <p:nvSpPr>
          <p:cNvPr id="6" name="Shape 4"/>
          <p:cNvSpPr/>
          <p:nvPr/>
        </p:nvSpPr>
        <p:spPr>
          <a:xfrm>
            <a:off x="3291840" y="1371600"/>
            <a:ext cx="2468880" cy="2560320"/>
          </a:xfrm>
          <a:prstGeom prst="rect">
            <a:avLst/>
          </a:prstGeom>
          <a:solidFill>
            <a:srgbClr val="F0F7F4"/>
          </a:solidFill>
          <a:ln/>
          <a:effectLst>
            <a:outerShdw sx="100000" sy="100000" kx="0" ky="0" algn="bl" rotWithShape="0" blurRad="50800" dist="12700" dir="8100000">
              <a:srgbClr val="000000">
                <a:alpha val="10000"/>
              </a:srgbClr>
            </a:outerShdw>
          </a:effectLst>
        </p:spPr>
      </p:sp>
      <p:sp>
        <p:nvSpPr>
          <p:cNvPr id="7" name="Text 5"/>
          <p:cNvSpPr/>
          <p:nvPr/>
        </p:nvSpPr>
        <p:spPr>
          <a:xfrm>
            <a:off x="3474720" y="1554480"/>
            <a:ext cx="2103120" cy="457200"/>
          </a:xfrm>
          <a:prstGeom prst="rect">
            <a:avLst/>
          </a:prstGeom>
          <a:noFill/>
          <a:ln/>
        </p:spPr>
        <p:txBody>
          <a:bodyPr wrap="square" rtlCol="0" anchor="ctr"/>
          <a:lstStyle/>
          <a:p>
            <a:pPr indent="0" marL="0">
              <a:buNone/>
            </a:pPr>
            <a:r>
              <a:rPr lang="en-US" sz="1500" b="1" dirty="0">
                <a:solidFill>
                  <a:srgbClr val="028090"/>
                </a:solidFill>
                <a:latin typeface="Arial" pitchFamily="34" charset="0"/>
                <a:ea typeface="Arial" pitchFamily="34" charset="-122"/>
                <a:cs typeface="Arial" pitchFamily="34" charset="-120"/>
              </a:rPr>
              <a:t>Live Dashboards</a:t>
            </a:r>
            <a:endParaRPr lang="en-US" sz="1500" dirty="0"/>
          </a:p>
        </p:txBody>
      </p:sp>
      <p:sp>
        <p:nvSpPr>
          <p:cNvPr id="8" name="Text 6"/>
          <p:cNvSpPr/>
          <p:nvPr/>
        </p:nvSpPr>
        <p:spPr>
          <a:xfrm>
            <a:off x="3474720" y="2011680"/>
            <a:ext cx="2103120" cy="1645920"/>
          </a:xfrm>
          <a:prstGeom prst="rect">
            <a:avLst/>
          </a:prstGeom>
          <a:noFill/>
          <a:ln/>
        </p:spPr>
        <p:txBody>
          <a:bodyPr wrap="square" rtlCol="0" anchor="t"/>
          <a:lstStyle/>
          <a:p>
            <a:pPr indent="0" marL="0">
              <a:buNone/>
            </a:pPr>
            <a:r>
              <a:rPr lang="en-US" sz="1100" dirty="0">
                <a:solidFill>
                  <a:srgbClr val="1A1A2E"/>
                </a:solidFill>
                <a:latin typeface="Arial" pitchFamily="34" charset="0"/>
                <a:ea typeface="Arial" pitchFamily="34" charset="-122"/>
                <a:cs typeface="Arial" pitchFamily="34" charset="-120"/>
              </a:rPr>
              <a:t>Donors see real-time budget utilization, expenditure breakdowns, and variance analysis.</a:t>
            </a:r>
            <a:endParaRPr lang="en-US" sz="1100" dirty="0"/>
          </a:p>
        </p:txBody>
      </p:sp>
      <p:sp>
        <p:nvSpPr>
          <p:cNvPr id="9" name="Shape 7"/>
          <p:cNvSpPr/>
          <p:nvPr/>
        </p:nvSpPr>
        <p:spPr>
          <a:xfrm>
            <a:off x="6126480" y="1371600"/>
            <a:ext cx="2468880" cy="2560320"/>
          </a:xfrm>
          <a:prstGeom prst="rect">
            <a:avLst/>
          </a:prstGeom>
          <a:solidFill>
            <a:srgbClr val="F0F7F4"/>
          </a:solidFill>
          <a:ln/>
          <a:effectLst>
            <a:outerShdw sx="100000" sy="100000" kx="0" ky="0" algn="bl" rotWithShape="0" blurRad="50800" dist="12700" dir="8100000">
              <a:srgbClr val="000000">
                <a:alpha val="10000"/>
              </a:srgbClr>
            </a:outerShdw>
          </a:effectLst>
        </p:spPr>
      </p:sp>
      <p:sp>
        <p:nvSpPr>
          <p:cNvPr id="10" name="Text 8"/>
          <p:cNvSpPr/>
          <p:nvPr/>
        </p:nvSpPr>
        <p:spPr>
          <a:xfrm>
            <a:off x="6309360" y="1554480"/>
            <a:ext cx="2103120" cy="457200"/>
          </a:xfrm>
          <a:prstGeom prst="rect">
            <a:avLst/>
          </a:prstGeom>
          <a:noFill/>
          <a:ln/>
        </p:spPr>
        <p:txBody>
          <a:bodyPr wrap="square" rtlCol="0" anchor="ctr"/>
          <a:lstStyle/>
          <a:p>
            <a:pPr indent="0" marL="0">
              <a:buNone/>
            </a:pPr>
            <a:r>
              <a:rPr lang="en-US" sz="1500" b="1" dirty="0">
                <a:solidFill>
                  <a:srgbClr val="028090"/>
                </a:solidFill>
                <a:latin typeface="Arial" pitchFamily="34" charset="0"/>
                <a:ea typeface="Arial" pitchFamily="34" charset="-122"/>
                <a:cs typeface="Arial" pitchFamily="34" charset="-120"/>
              </a:rPr>
              <a:t>Automated Reporting</a:t>
            </a:r>
            <a:endParaRPr lang="en-US" sz="1500" dirty="0"/>
          </a:p>
        </p:txBody>
      </p:sp>
      <p:sp>
        <p:nvSpPr>
          <p:cNvPr id="11" name="Text 9"/>
          <p:cNvSpPr/>
          <p:nvPr/>
        </p:nvSpPr>
        <p:spPr>
          <a:xfrm>
            <a:off x="6309360" y="2011680"/>
            <a:ext cx="2103120" cy="1645920"/>
          </a:xfrm>
          <a:prstGeom prst="rect">
            <a:avLst/>
          </a:prstGeom>
          <a:noFill/>
          <a:ln/>
        </p:spPr>
        <p:txBody>
          <a:bodyPr wrap="square" rtlCol="0" anchor="t"/>
          <a:lstStyle/>
          <a:p>
            <a:pPr indent="0" marL="0">
              <a:buNone/>
            </a:pPr>
            <a:r>
              <a:rPr lang="en-US" sz="1100" dirty="0">
                <a:solidFill>
                  <a:srgbClr val="1A1A2E"/>
                </a:solidFill>
                <a:latin typeface="Arial" pitchFamily="34" charset="0"/>
                <a:ea typeface="Arial" pitchFamily="34" charset="-122"/>
                <a:cs typeface="Arial" pitchFamily="34" charset="-120"/>
              </a:rPr>
              <a:t>Financial reports generated automatically from ERP data — no manual compilation.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027"/>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Removing Barriers to Funding</a:t>
            </a:r>
            <a:endParaRPr lang="en-US" sz="3400" dirty="0"/>
          </a:p>
        </p:txBody>
      </p:sp>
      <p:sp>
        <p:nvSpPr>
          <p:cNvPr id="3" name="Shape 1"/>
          <p:cNvSpPr/>
          <p:nvPr/>
        </p:nvSpPr>
        <p:spPr>
          <a:xfrm>
            <a:off x="914400" y="1188720"/>
            <a:ext cx="7315200" cy="731520"/>
          </a:xfrm>
          <a:prstGeom prst="rect">
            <a:avLst/>
          </a:prstGeom>
          <a:solidFill>
            <a:srgbClr val="FFFFFF">
              <a:alpha val="90000"/>
            </a:srgbClr>
          </a:solidFill>
          <a:ln/>
          <a:effectLst>
            <a:outerShdw sx="100000" sy="100000" kx="0" ky="0" algn="bl" rotWithShape="0" blurRad="50800" dist="12700" dir="8100000">
              <a:srgbClr val="000000">
                <a:alpha val="10000"/>
              </a:srgbClr>
            </a:outerShdw>
          </a:effectLst>
        </p:spPr>
      </p:sp>
      <p:sp>
        <p:nvSpPr>
          <p:cNvPr id="4" name="Text 2"/>
          <p:cNvSpPr/>
          <p:nvPr/>
        </p:nvSpPr>
        <p:spPr>
          <a:xfrm>
            <a:off x="1097280" y="1188720"/>
            <a:ext cx="2286000" cy="731520"/>
          </a:xfrm>
          <a:prstGeom prst="rect">
            <a:avLst/>
          </a:prstGeom>
          <a:noFill/>
          <a:ln/>
        </p:spPr>
        <p:txBody>
          <a:bodyPr wrap="square" rtlCol="0" anchor="ctr"/>
          <a:lstStyle/>
          <a:p>
            <a:pPr indent="0" marL="0">
              <a:buNone/>
            </a:pPr>
            <a:r>
              <a:rPr lang="en-US" sz="1400" b="1" dirty="0">
                <a:solidFill>
                  <a:srgbClr val="00A896"/>
                </a:solidFill>
                <a:latin typeface="Arial" pitchFamily="34" charset="0"/>
                <a:ea typeface="Arial" pitchFamily="34" charset="-122"/>
                <a:cs typeface="Arial" pitchFamily="34" charset="-120"/>
              </a:rPr>
              <a:t>AI Writing Coach</a:t>
            </a:r>
            <a:endParaRPr lang="en-US" sz="1400" dirty="0"/>
          </a:p>
        </p:txBody>
      </p:sp>
      <p:sp>
        <p:nvSpPr>
          <p:cNvPr id="5" name="Text 3"/>
          <p:cNvSpPr/>
          <p:nvPr/>
        </p:nvSpPr>
        <p:spPr>
          <a:xfrm>
            <a:off x="3383280" y="1188720"/>
            <a:ext cx="4572000" cy="73152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Helps NGOs craft professional proposals that meet donor standards, even in a second language</a:t>
            </a:r>
            <a:endParaRPr lang="en-US" sz="1100" dirty="0"/>
          </a:p>
        </p:txBody>
      </p:sp>
      <p:sp>
        <p:nvSpPr>
          <p:cNvPr id="6" name="Shape 4"/>
          <p:cNvSpPr/>
          <p:nvPr/>
        </p:nvSpPr>
        <p:spPr>
          <a:xfrm>
            <a:off x="914400" y="2103120"/>
            <a:ext cx="7315200" cy="731520"/>
          </a:xfrm>
          <a:prstGeom prst="rect">
            <a:avLst/>
          </a:prstGeom>
          <a:solidFill>
            <a:srgbClr val="FFFFFF">
              <a:alpha val="90000"/>
            </a:srgbClr>
          </a:solidFill>
          <a:ln/>
          <a:effectLst>
            <a:outerShdw sx="100000" sy="100000" kx="0" ky="0" algn="bl" rotWithShape="0" blurRad="50800" dist="12700" dir="8100000">
              <a:srgbClr val="000000">
                <a:alpha val="10000"/>
              </a:srgbClr>
            </a:outerShdw>
          </a:effectLst>
        </p:spPr>
      </p:sp>
      <p:sp>
        <p:nvSpPr>
          <p:cNvPr id="7" name="Text 5"/>
          <p:cNvSpPr/>
          <p:nvPr/>
        </p:nvSpPr>
        <p:spPr>
          <a:xfrm>
            <a:off x="1097280" y="2103120"/>
            <a:ext cx="2286000" cy="731520"/>
          </a:xfrm>
          <a:prstGeom prst="rect">
            <a:avLst/>
          </a:prstGeom>
          <a:noFill/>
          <a:ln/>
        </p:spPr>
        <p:txBody>
          <a:bodyPr wrap="square" rtlCol="0" anchor="ctr"/>
          <a:lstStyle/>
          <a:p>
            <a:pPr indent="0" marL="0">
              <a:buNone/>
            </a:pPr>
            <a:r>
              <a:rPr lang="en-US" sz="1400" b="1" dirty="0">
                <a:solidFill>
                  <a:srgbClr val="00A896"/>
                </a:solidFill>
                <a:latin typeface="Arial" pitchFamily="34" charset="0"/>
                <a:ea typeface="Arial" pitchFamily="34" charset="-122"/>
                <a:cs typeface="Arial" pitchFamily="34" charset="-120"/>
              </a:rPr>
              <a:t>Multi-Language Support</a:t>
            </a:r>
            <a:endParaRPr lang="en-US" sz="1400" dirty="0"/>
          </a:p>
        </p:txBody>
      </p:sp>
      <p:sp>
        <p:nvSpPr>
          <p:cNvPr id="8" name="Text 6"/>
          <p:cNvSpPr/>
          <p:nvPr/>
        </p:nvSpPr>
        <p:spPr>
          <a:xfrm>
            <a:off x="3383280" y="2103120"/>
            <a:ext cx="4572000" cy="73152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Full platform in English, French, Arabic, Swahili, Somali, and Portuguese</a:t>
            </a:r>
            <a:endParaRPr lang="en-US" sz="1100" dirty="0"/>
          </a:p>
        </p:txBody>
      </p:sp>
      <p:sp>
        <p:nvSpPr>
          <p:cNvPr id="9" name="Shape 7"/>
          <p:cNvSpPr/>
          <p:nvPr/>
        </p:nvSpPr>
        <p:spPr>
          <a:xfrm>
            <a:off x="914400" y="3017520"/>
            <a:ext cx="7315200" cy="731520"/>
          </a:xfrm>
          <a:prstGeom prst="rect">
            <a:avLst/>
          </a:prstGeom>
          <a:solidFill>
            <a:srgbClr val="FFFFFF">
              <a:alpha val="90000"/>
            </a:srgbClr>
          </a:solidFill>
          <a:ln/>
          <a:effectLst>
            <a:outerShdw sx="100000" sy="100000" kx="0" ky="0" algn="bl" rotWithShape="0" blurRad="50800" dist="12700" dir="8100000">
              <a:srgbClr val="000000">
                <a:alpha val="10000"/>
              </a:srgbClr>
            </a:outerShdw>
          </a:effectLst>
        </p:spPr>
      </p:sp>
      <p:sp>
        <p:nvSpPr>
          <p:cNvPr id="10" name="Text 8"/>
          <p:cNvSpPr/>
          <p:nvPr/>
        </p:nvSpPr>
        <p:spPr>
          <a:xfrm>
            <a:off x="1097280" y="3017520"/>
            <a:ext cx="2286000" cy="731520"/>
          </a:xfrm>
          <a:prstGeom prst="rect">
            <a:avLst/>
          </a:prstGeom>
          <a:noFill/>
          <a:ln/>
        </p:spPr>
        <p:txBody>
          <a:bodyPr wrap="square" rtlCol="0" anchor="ctr"/>
          <a:lstStyle/>
          <a:p>
            <a:pPr indent="0" marL="0">
              <a:buNone/>
            </a:pPr>
            <a:r>
              <a:rPr lang="en-US" sz="1400" b="1" dirty="0">
                <a:solidFill>
                  <a:srgbClr val="00A896"/>
                </a:solidFill>
                <a:latin typeface="Arial" pitchFamily="34" charset="0"/>
                <a:ea typeface="Arial" pitchFamily="34" charset="-122"/>
                <a:cs typeface="Arial" pitchFamily="34" charset="-120"/>
              </a:rPr>
              <a:t>Reusable Profile</a:t>
            </a:r>
            <a:endParaRPr lang="en-US" sz="1400" dirty="0"/>
          </a:p>
        </p:txBody>
      </p:sp>
      <p:sp>
        <p:nvSpPr>
          <p:cNvPr id="11" name="Text 9"/>
          <p:cNvSpPr/>
          <p:nvPr/>
        </p:nvSpPr>
        <p:spPr>
          <a:xfrm>
            <a:off x="3383280" y="3017520"/>
            <a:ext cx="4572000" cy="73152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Complete your profile once. Apply to multiple grants without re-entering information</a:t>
            </a:r>
            <a:endParaRPr lang="en-US" sz="1100" dirty="0"/>
          </a:p>
        </p:txBody>
      </p:sp>
      <p:sp>
        <p:nvSpPr>
          <p:cNvPr id="12" name="Shape 10"/>
          <p:cNvSpPr/>
          <p:nvPr/>
        </p:nvSpPr>
        <p:spPr>
          <a:xfrm>
            <a:off x="914400" y="3931920"/>
            <a:ext cx="7315200" cy="731520"/>
          </a:xfrm>
          <a:prstGeom prst="rect">
            <a:avLst/>
          </a:prstGeom>
          <a:solidFill>
            <a:srgbClr val="FFFFFF">
              <a:alpha val="90000"/>
            </a:srgbClr>
          </a:solidFill>
          <a:ln/>
          <a:effectLst>
            <a:outerShdw sx="100000" sy="100000" kx="0" ky="0" algn="bl" rotWithShape="0" blurRad="50800" dist="12700" dir="8100000">
              <a:srgbClr val="000000">
                <a:alpha val="10000"/>
              </a:srgbClr>
            </a:outerShdw>
          </a:effectLst>
        </p:spPr>
      </p:sp>
      <p:sp>
        <p:nvSpPr>
          <p:cNvPr id="13" name="Text 11"/>
          <p:cNvSpPr/>
          <p:nvPr/>
        </p:nvSpPr>
        <p:spPr>
          <a:xfrm>
            <a:off x="1097280" y="3931920"/>
            <a:ext cx="2286000" cy="731520"/>
          </a:xfrm>
          <a:prstGeom prst="rect">
            <a:avLst/>
          </a:prstGeom>
          <a:noFill/>
          <a:ln/>
        </p:spPr>
        <p:txBody>
          <a:bodyPr wrap="square" rtlCol="0" anchor="ctr"/>
          <a:lstStyle/>
          <a:p>
            <a:pPr indent="0" marL="0">
              <a:buNone/>
            </a:pPr>
            <a:r>
              <a:rPr lang="en-US" sz="1400" b="1" dirty="0">
                <a:solidFill>
                  <a:srgbClr val="00A896"/>
                </a:solidFill>
                <a:latin typeface="Arial" pitchFamily="34" charset="0"/>
                <a:ea typeface="Arial" pitchFamily="34" charset="-122"/>
                <a:cs typeface="Arial" pitchFamily="34" charset="-120"/>
              </a:rPr>
              <a:t>Affordable Access</a:t>
            </a:r>
            <a:endParaRPr lang="en-US" sz="1400" dirty="0"/>
          </a:p>
        </p:txBody>
      </p:sp>
      <p:sp>
        <p:nvSpPr>
          <p:cNvPr id="14" name="Text 12"/>
          <p:cNvSpPr/>
          <p:nvPr/>
        </p:nvSpPr>
        <p:spPr>
          <a:xfrm>
            <a:off x="3383280" y="3931920"/>
            <a:ext cx="4572000" cy="73152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Designed for organizations in low-resource environments. Mobile-friendly, low-bandwidth optimized</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315200" cy="640080"/>
          </a:xfrm>
          <a:prstGeom prst="rect">
            <a:avLst/>
          </a:prstGeom>
          <a:noFill/>
          <a:ln/>
        </p:spPr>
        <p:txBody>
          <a:bodyPr wrap="square" rtlCol="0" anchor="ctr"/>
          <a:lstStyle/>
          <a:p>
            <a:pPr indent="0" marL="0">
              <a:buNone/>
            </a:pPr>
            <a:r>
              <a:rPr lang="en-US" sz="3400" b="1" dirty="0">
                <a:solidFill>
                  <a:srgbClr val="028090"/>
                </a:solidFill>
                <a:latin typeface="Arial" pitchFamily="34" charset="0"/>
                <a:ea typeface="Arial" pitchFamily="34" charset="-122"/>
                <a:cs typeface="Arial" pitchFamily="34" charset="-120"/>
              </a:rPr>
              <a:t>30+ Years of Humanitarian Expertise</a:t>
            </a:r>
            <a:endParaRPr lang="en-US" sz="3400" dirty="0"/>
          </a:p>
        </p:txBody>
      </p:sp>
      <p:sp>
        <p:nvSpPr>
          <p:cNvPr id="3" name="Text 1"/>
          <p:cNvSpPr/>
          <p:nvPr/>
        </p:nvSpPr>
        <p:spPr>
          <a:xfrm>
            <a:off x="640080" y="1188720"/>
            <a:ext cx="1828800" cy="640080"/>
          </a:xfrm>
          <a:prstGeom prst="rect">
            <a:avLst/>
          </a:prstGeom>
          <a:noFill/>
          <a:ln/>
        </p:spPr>
        <p:txBody>
          <a:bodyPr wrap="square" rtlCol="0" anchor="ctr"/>
          <a:lstStyle/>
          <a:p>
            <a:pPr algn="ctr" indent="0" marL="0">
              <a:buNone/>
            </a:pPr>
            <a:r>
              <a:rPr lang="en-US" sz="4000" b="1" dirty="0">
                <a:solidFill>
                  <a:srgbClr val="028090"/>
                </a:solidFill>
                <a:latin typeface="Arial" pitchFamily="34" charset="0"/>
                <a:ea typeface="Arial" pitchFamily="34" charset="-122"/>
                <a:cs typeface="Arial" pitchFamily="34" charset="-120"/>
              </a:rPr>
              <a:t>1991</a:t>
            </a:r>
            <a:endParaRPr lang="en-US" sz="4000" dirty="0"/>
          </a:p>
        </p:txBody>
      </p:sp>
      <p:sp>
        <p:nvSpPr>
          <p:cNvPr id="4" name="Text 2"/>
          <p:cNvSpPr/>
          <p:nvPr/>
        </p:nvSpPr>
        <p:spPr>
          <a:xfrm>
            <a:off x="640080" y="1828800"/>
            <a:ext cx="1828800" cy="365760"/>
          </a:xfrm>
          <a:prstGeom prst="rect">
            <a:avLst/>
          </a:prstGeom>
          <a:noFill/>
          <a:ln/>
        </p:spPr>
        <p:txBody>
          <a:bodyPr wrap="square" rtlCol="0" anchor="ctr"/>
          <a:lstStyle/>
          <a:p>
            <a:pPr algn="ctr" indent="0" marL="0">
              <a:buNone/>
            </a:pPr>
            <a:r>
              <a:rPr lang="en-US" sz="1400" dirty="0">
                <a:solidFill>
                  <a:srgbClr val="666666"/>
                </a:solidFill>
                <a:latin typeface="Arial" pitchFamily="34" charset="0"/>
                <a:ea typeface="Arial" pitchFamily="34" charset="-122"/>
                <a:cs typeface="Arial" pitchFamily="34" charset="-120"/>
              </a:rPr>
              <a:t>Founded</a:t>
            </a:r>
            <a:endParaRPr lang="en-US" sz="1400" dirty="0"/>
          </a:p>
        </p:txBody>
      </p:sp>
      <p:sp>
        <p:nvSpPr>
          <p:cNvPr id="5" name="Text 3"/>
          <p:cNvSpPr/>
          <p:nvPr/>
        </p:nvSpPr>
        <p:spPr>
          <a:xfrm>
            <a:off x="2926080" y="1188720"/>
            <a:ext cx="1828800" cy="640080"/>
          </a:xfrm>
          <a:prstGeom prst="rect">
            <a:avLst/>
          </a:prstGeom>
          <a:noFill/>
          <a:ln/>
        </p:spPr>
        <p:txBody>
          <a:bodyPr wrap="square" rtlCol="0" anchor="ctr"/>
          <a:lstStyle/>
          <a:p>
            <a:pPr algn="ctr" indent="0" marL="0">
              <a:buNone/>
            </a:pPr>
            <a:r>
              <a:rPr lang="en-US" sz="4000" b="1" dirty="0">
                <a:solidFill>
                  <a:srgbClr val="028090"/>
                </a:solidFill>
                <a:latin typeface="Arial" pitchFamily="34" charset="0"/>
                <a:ea typeface="Arial" pitchFamily="34" charset="-122"/>
                <a:cs typeface="Arial" pitchFamily="34" charset="-120"/>
              </a:rPr>
              <a:t>7</a:t>
            </a:r>
            <a:endParaRPr lang="en-US" sz="4000" dirty="0"/>
          </a:p>
        </p:txBody>
      </p:sp>
      <p:sp>
        <p:nvSpPr>
          <p:cNvPr id="6" name="Text 4"/>
          <p:cNvSpPr/>
          <p:nvPr/>
        </p:nvSpPr>
        <p:spPr>
          <a:xfrm>
            <a:off x="2926080" y="1828800"/>
            <a:ext cx="1828800" cy="365760"/>
          </a:xfrm>
          <a:prstGeom prst="rect">
            <a:avLst/>
          </a:prstGeom>
          <a:noFill/>
          <a:ln/>
        </p:spPr>
        <p:txBody>
          <a:bodyPr wrap="square" rtlCol="0" anchor="ctr"/>
          <a:lstStyle/>
          <a:p>
            <a:pPr algn="ctr" indent="0" marL="0">
              <a:buNone/>
            </a:pPr>
            <a:r>
              <a:rPr lang="en-US" sz="1400" dirty="0">
                <a:solidFill>
                  <a:srgbClr val="666666"/>
                </a:solidFill>
                <a:latin typeface="Arial" pitchFamily="34" charset="0"/>
                <a:ea typeface="Arial" pitchFamily="34" charset="-122"/>
                <a:cs typeface="Arial" pitchFamily="34" charset="-120"/>
              </a:rPr>
              <a:t>Countries</a:t>
            </a:r>
            <a:endParaRPr lang="en-US" sz="1400" dirty="0"/>
          </a:p>
        </p:txBody>
      </p:sp>
      <p:sp>
        <p:nvSpPr>
          <p:cNvPr id="7" name="Text 5"/>
          <p:cNvSpPr/>
          <p:nvPr/>
        </p:nvSpPr>
        <p:spPr>
          <a:xfrm>
            <a:off x="5212080" y="1188720"/>
            <a:ext cx="1828800" cy="640080"/>
          </a:xfrm>
          <a:prstGeom prst="rect">
            <a:avLst/>
          </a:prstGeom>
          <a:noFill/>
          <a:ln/>
        </p:spPr>
        <p:txBody>
          <a:bodyPr wrap="square" rtlCol="0" anchor="ctr"/>
          <a:lstStyle/>
          <a:p>
            <a:pPr algn="ctr" indent="0" marL="0">
              <a:buNone/>
            </a:pPr>
            <a:r>
              <a:rPr lang="en-US" sz="4000" b="1" dirty="0">
                <a:solidFill>
                  <a:srgbClr val="028090"/>
                </a:solidFill>
                <a:latin typeface="Arial" pitchFamily="34" charset="0"/>
                <a:ea typeface="Arial" pitchFamily="34" charset="-122"/>
                <a:cs typeface="Arial" pitchFamily="34" charset="-120"/>
              </a:rPr>
              <a:t>30+</a:t>
            </a:r>
            <a:endParaRPr lang="en-US" sz="4000" dirty="0"/>
          </a:p>
        </p:txBody>
      </p:sp>
      <p:sp>
        <p:nvSpPr>
          <p:cNvPr id="8" name="Text 6"/>
          <p:cNvSpPr/>
          <p:nvPr/>
        </p:nvSpPr>
        <p:spPr>
          <a:xfrm>
            <a:off x="5212080" y="1828800"/>
            <a:ext cx="1828800" cy="365760"/>
          </a:xfrm>
          <a:prstGeom prst="rect">
            <a:avLst/>
          </a:prstGeom>
          <a:noFill/>
          <a:ln/>
        </p:spPr>
        <p:txBody>
          <a:bodyPr wrap="square" rtlCol="0" anchor="ctr"/>
          <a:lstStyle/>
          <a:p>
            <a:pPr algn="ctr" indent="0" marL="0">
              <a:buNone/>
            </a:pPr>
            <a:r>
              <a:rPr lang="en-US" sz="1400" dirty="0">
                <a:solidFill>
                  <a:srgbClr val="666666"/>
                </a:solidFill>
                <a:latin typeface="Arial" pitchFamily="34" charset="0"/>
                <a:ea typeface="Arial" pitchFamily="34" charset="-122"/>
                <a:cs typeface="Arial" pitchFamily="34" charset="-120"/>
              </a:rPr>
              <a:t>Years</a:t>
            </a:r>
            <a:endParaRPr lang="en-US" sz="1400" dirty="0"/>
          </a:p>
        </p:txBody>
      </p:sp>
      <p:sp>
        <p:nvSpPr>
          <p:cNvPr id="9" name="Text 7"/>
          <p:cNvSpPr/>
          <p:nvPr/>
        </p:nvSpPr>
        <p:spPr>
          <a:xfrm>
            <a:off x="640080" y="2560320"/>
            <a:ext cx="7772400" cy="1828800"/>
          </a:xfrm>
          <a:prstGeom prst="rect">
            <a:avLst/>
          </a:prstGeom>
          <a:noFill/>
          <a:ln/>
        </p:spPr>
        <p:txBody>
          <a:bodyPr wrap="square" rtlCol="0" anchor="t"/>
          <a:lstStyle/>
          <a:p>
            <a:pPr indent="0" marL="0">
              <a:buNone/>
            </a:pPr>
            <a:r>
              <a:rPr lang="en-US" sz="1200" dirty="0">
                <a:solidFill>
                  <a:srgbClr val="1A1A2E"/>
                </a:solidFill>
                <a:latin typeface="Arial" pitchFamily="34" charset="0"/>
                <a:ea typeface="Arial" pitchFamily="34" charset="-122"/>
                <a:cs typeface="Arial" pitchFamily="34" charset="-120"/>
              </a:rPr>
              <a:t>Adeso (African Development Solutions) has operated across East Africa and the Sahel since 1991. Our deep understanding of local partner challenges, donor requirements, and humanitarian coordination directly shapes every feature in Kuja. This isn't a tech company guessing at NGO needs — it's three decades of field experience encoded into software.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7F4"/>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algn="ctr" indent="0" marL="0">
              <a:buNone/>
            </a:pPr>
            <a:r>
              <a:rPr lang="en-US" sz="3400" b="1" dirty="0">
                <a:solidFill>
                  <a:srgbClr val="028090"/>
                </a:solidFill>
                <a:latin typeface="Arial" pitchFamily="34" charset="0"/>
                <a:ea typeface="Arial" pitchFamily="34" charset="-122"/>
                <a:cs typeface="Arial" pitchFamily="34" charset="-120"/>
              </a:rPr>
              <a:t>One Platform. Complete Coverage.</a:t>
            </a:r>
            <a:endParaRPr lang="en-US" sz="3400" dirty="0"/>
          </a:p>
        </p:txBody>
      </p:sp>
      <p:sp>
        <p:nvSpPr>
          <p:cNvPr id="3" name="Shape 1"/>
          <p:cNvSpPr/>
          <p:nvPr/>
        </p:nvSpPr>
        <p:spPr>
          <a:xfrm>
            <a:off x="4160520" y="502920"/>
            <a:ext cx="822960" cy="822960"/>
          </a:xfrm>
          <a:prstGeom prst="ellipse">
            <a:avLst/>
          </a:prstGeom>
          <a:solidFill>
            <a:srgbClr val="028090"/>
          </a:solidFill>
          <a:ln/>
        </p:spPr>
      </p:sp>
      <p:sp>
        <p:nvSpPr>
          <p:cNvPr id="4" name="Text 2"/>
          <p:cNvSpPr/>
          <p:nvPr/>
        </p:nvSpPr>
        <p:spPr>
          <a:xfrm>
            <a:off x="4160520" y="502920"/>
            <a:ext cx="822960" cy="82296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Discover</a:t>
            </a:r>
            <a:endParaRPr lang="en-US" sz="900" dirty="0"/>
          </a:p>
        </p:txBody>
      </p:sp>
      <p:sp>
        <p:nvSpPr>
          <p:cNvPr id="5" name="Shape 3"/>
          <p:cNvSpPr/>
          <p:nvPr/>
        </p:nvSpPr>
        <p:spPr>
          <a:xfrm>
            <a:off x="5324361" y="984999"/>
            <a:ext cx="822960" cy="822960"/>
          </a:xfrm>
          <a:prstGeom prst="ellipse">
            <a:avLst/>
          </a:prstGeom>
          <a:solidFill>
            <a:srgbClr val="028090"/>
          </a:solidFill>
          <a:ln/>
        </p:spPr>
      </p:sp>
      <p:sp>
        <p:nvSpPr>
          <p:cNvPr id="6" name="Text 4"/>
          <p:cNvSpPr/>
          <p:nvPr/>
        </p:nvSpPr>
        <p:spPr>
          <a:xfrm>
            <a:off x="5324361" y="984999"/>
            <a:ext cx="822960" cy="82296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Assess</a:t>
            </a:r>
            <a:endParaRPr lang="en-US" sz="900" dirty="0"/>
          </a:p>
        </p:txBody>
      </p:sp>
      <p:sp>
        <p:nvSpPr>
          <p:cNvPr id="7" name="Shape 5"/>
          <p:cNvSpPr/>
          <p:nvPr/>
        </p:nvSpPr>
        <p:spPr>
          <a:xfrm>
            <a:off x="5806440" y="2148840"/>
            <a:ext cx="822960" cy="822960"/>
          </a:xfrm>
          <a:prstGeom prst="ellipse">
            <a:avLst/>
          </a:prstGeom>
          <a:solidFill>
            <a:srgbClr val="028090"/>
          </a:solidFill>
          <a:ln/>
        </p:spPr>
      </p:sp>
      <p:sp>
        <p:nvSpPr>
          <p:cNvPr id="8" name="Text 6"/>
          <p:cNvSpPr/>
          <p:nvPr/>
        </p:nvSpPr>
        <p:spPr>
          <a:xfrm>
            <a:off x="5806440" y="2148840"/>
            <a:ext cx="822960" cy="82296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Verify</a:t>
            </a:r>
            <a:endParaRPr lang="en-US" sz="900" dirty="0"/>
          </a:p>
        </p:txBody>
      </p:sp>
      <p:sp>
        <p:nvSpPr>
          <p:cNvPr id="9" name="Shape 7"/>
          <p:cNvSpPr/>
          <p:nvPr/>
        </p:nvSpPr>
        <p:spPr>
          <a:xfrm>
            <a:off x="5324361" y="3312681"/>
            <a:ext cx="822960" cy="822960"/>
          </a:xfrm>
          <a:prstGeom prst="ellipse">
            <a:avLst/>
          </a:prstGeom>
          <a:solidFill>
            <a:srgbClr val="028090"/>
          </a:solidFill>
          <a:ln/>
        </p:spPr>
      </p:sp>
      <p:sp>
        <p:nvSpPr>
          <p:cNvPr id="10" name="Text 8"/>
          <p:cNvSpPr/>
          <p:nvPr/>
        </p:nvSpPr>
        <p:spPr>
          <a:xfrm>
            <a:off x="5324361" y="3312681"/>
            <a:ext cx="822960" cy="82296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Match</a:t>
            </a:r>
            <a:endParaRPr lang="en-US" sz="900" dirty="0"/>
          </a:p>
        </p:txBody>
      </p:sp>
      <p:sp>
        <p:nvSpPr>
          <p:cNvPr id="11" name="Shape 9"/>
          <p:cNvSpPr/>
          <p:nvPr/>
        </p:nvSpPr>
        <p:spPr>
          <a:xfrm>
            <a:off x="4160520" y="3794760"/>
            <a:ext cx="822960" cy="822960"/>
          </a:xfrm>
          <a:prstGeom prst="ellipse">
            <a:avLst/>
          </a:prstGeom>
          <a:solidFill>
            <a:srgbClr val="028090"/>
          </a:solidFill>
          <a:ln/>
        </p:spPr>
      </p:sp>
      <p:sp>
        <p:nvSpPr>
          <p:cNvPr id="12" name="Text 10"/>
          <p:cNvSpPr/>
          <p:nvPr/>
        </p:nvSpPr>
        <p:spPr>
          <a:xfrm>
            <a:off x="4160520" y="3794760"/>
            <a:ext cx="822960" cy="82296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Apply</a:t>
            </a:r>
            <a:endParaRPr lang="en-US" sz="900" dirty="0"/>
          </a:p>
        </p:txBody>
      </p:sp>
      <p:sp>
        <p:nvSpPr>
          <p:cNvPr id="13" name="Shape 11"/>
          <p:cNvSpPr/>
          <p:nvPr/>
        </p:nvSpPr>
        <p:spPr>
          <a:xfrm>
            <a:off x="2996679" y="3312681"/>
            <a:ext cx="822960" cy="822960"/>
          </a:xfrm>
          <a:prstGeom prst="ellipse">
            <a:avLst/>
          </a:prstGeom>
          <a:solidFill>
            <a:srgbClr val="028090"/>
          </a:solidFill>
          <a:ln/>
        </p:spPr>
      </p:sp>
      <p:sp>
        <p:nvSpPr>
          <p:cNvPr id="14" name="Text 12"/>
          <p:cNvSpPr/>
          <p:nvPr/>
        </p:nvSpPr>
        <p:spPr>
          <a:xfrm>
            <a:off x="2996679" y="3312681"/>
            <a:ext cx="822960" cy="82296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Review</a:t>
            </a:r>
            <a:endParaRPr lang="en-US" sz="900" dirty="0"/>
          </a:p>
        </p:txBody>
      </p:sp>
      <p:sp>
        <p:nvSpPr>
          <p:cNvPr id="15" name="Shape 13"/>
          <p:cNvSpPr/>
          <p:nvPr/>
        </p:nvSpPr>
        <p:spPr>
          <a:xfrm>
            <a:off x="2514600" y="2148840"/>
            <a:ext cx="822960" cy="822960"/>
          </a:xfrm>
          <a:prstGeom prst="ellipse">
            <a:avLst/>
          </a:prstGeom>
          <a:solidFill>
            <a:srgbClr val="028090"/>
          </a:solidFill>
          <a:ln/>
        </p:spPr>
      </p:sp>
      <p:sp>
        <p:nvSpPr>
          <p:cNvPr id="16" name="Text 14"/>
          <p:cNvSpPr/>
          <p:nvPr/>
        </p:nvSpPr>
        <p:spPr>
          <a:xfrm>
            <a:off x="2514600" y="2148840"/>
            <a:ext cx="822960" cy="82296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Report</a:t>
            </a:r>
            <a:endParaRPr lang="en-US" sz="900" dirty="0"/>
          </a:p>
        </p:txBody>
      </p:sp>
      <p:sp>
        <p:nvSpPr>
          <p:cNvPr id="17" name="Shape 15"/>
          <p:cNvSpPr/>
          <p:nvPr/>
        </p:nvSpPr>
        <p:spPr>
          <a:xfrm>
            <a:off x="2996679" y="984999"/>
            <a:ext cx="822960" cy="822960"/>
          </a:xfrm>
          <a:prstGeom prst="ellipse">
            <a:avLst/>
          </a:prstGeom>
          <a:solidFill>
            <a:srgbClr val="028090"/>
          </a:solidFill>
          <a:ln/>
        </p:spPr>
      </p:sp>
      <p:sp>
        <p:nvSpPr>
          <p:cNvPr id="18" name="Text 16"/>
          <p:cNvSpPr/>
          <p:nvPr/>
        </p:nvSpPr>
        <p:spPr>
          <a:xfrm>
            <a:off x="2996679" y="984999"/>
            <a:ext cx="822960" cy="82296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Comply</a:t>
            </a:r>
            <a:endParaRPr lang="en-US" sz="900" dirty="0"/>
          </a:p>
        </p:txBody>
      </p:sp>
      <p:sp>
        <p:nvSpPr>
          <p:cNvPr id="19" name="Text 17"/>
          <p:cNvSpPr/>
          <p:nvPr/>
        </p:nvSpPr>
        <p:spPr>
          <a:xfrm>
            <a:off x="3749040" y="2194560"/>
            <a:ext cx="1645920" cy="731520"/>
          </a:xfrm>
          <a:prstGeom prst="rect">
            <a:avLst/>
          </a:prstGeom>
          <a:noFill/>
          <a:ln/>
        </p:spPr>
        <p:txBody>
          <a:bodyPr wrap="square" rtlCol="0" anchor="ctr"/>
          <a:lstStyle/>
          <a:p>
            <a:pPr algn="ctr" indent="0" marL="0">
              <a:buNone/>
            </a:pPr>
            <a:r>
              <a:rPr lang="en-US" sz="1400" b="1" dirty="0">
                <a:solidFill>
                  <a:srgbClr val="028090"/>
                </a:solidFill>
                <a:latin typeface="Arial" pitchFamily="34" charset="0"/>
                <a:ea typeface="Arial" pitchFamily="34" charset="-122"/>
                <a:cs typeface="Arial" pitchFamily="34" charset="-120"/>
              </a:rPr>
              <a:t>Kuja</a:t>
            </a:r>
            <a:endParaRPr lang="en-US" sz="1400" dirty="0"/>
          </a:p>
          <a:p>
            <a:pPr algn="ctr" indent="0" marL="0">
              <a:buNone/>
            </a:pPr>
            <a:r>
              <a:rPr lang="en-US" sz="1400" b="1" dirty="0">
                <a:solidFill>
                  <a:srgbClr val="028090"/>
                </a:solidFill>
                <a:latin typeface="Arial" pitchFamily="34" charset="0"/>
                <a:ea typeface="Arial" pitchFamily="34" charset="-122"/>
                <a:cs typeface="Arial" pitchFamily="34" charset="-120"/>
              </a:rPr>
              <a:t>Marketplace</a:t>
            </a:r>
            <a:endParaRPr lang="en-US" sz="1400" dirty="0"/>
          </a:p>
        </p:txBody>
      </p:sp>
      <p:sp>
        <p:nvSpPr>
          <p:cNvPr id="20" name="Text 18"/>
          <p:cNvSpPr/>
          <p:nvPr/>
        </p:nvSpPr>
        <p:spPr>
          <a:xfrm>
            <a:off x="457200" y="4572000"/>
            <a:ext cx="8229600" cy="365760"/>
          </a:xfrm>
          <a:prstGeom prst="rect">
            <a:avLst/>
          </a:prstGeom>
          <a:noFill/>
          <a:ln/>
        </p:spPr>
        <p:txBody>
          <a:bodyPr wrap="square" rtlCol="0" anchor="ctr"/>
          <a:lstStyle/>
          <a:p>
            <a:pPr algn="ctr" indent="0" marL="0">
              <a:buNone/>
            </a:pPr>
            <a:r>
              <a:rPr lang="en-US" sz="1300" dirty="0">
                <a:solidFill>
                  <a:srgbClr val="666666"/>
                </a:solidFill>
                <a:latin typeface="Arial" pitchFamily="34" charset="0"/>
                <a:ea typeface="Arial" pitchFamily="34" charset="-122"/>
                <a:cs typeface="Arial" pitchFamily="34" charset="-120"/>
              </a:rPr>
              <a:t>No other platform covers the complete grant lifecycle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315200" cy="640080"/>
          </a:xfrm>
          <a:prstGeom prst="rect">
            <a:avLst/>
          </a:prstGeom>
          <a:noFill/>
          <a:ln/>
        </p:spPr>
        <p:txBody>
          <a:bodyPr wrap="square" rtlCol="0" anchor="ctr"/>
          <a:lstStyle/>
          <a:p>
            <a:pPr indent="0" marL="0">
              <a:buNone/>
            </a:pPr>
            <a:r>
              <a:rPr lang="en-US" sz="3400" b="1" dirty="0">
                <a:solidFill>
                  <a:srgbClr val="028090"/>
                </a:solidFill>
                <a:latin typeface="Arial" pitchFamily="34" charset="0"/>
                <a:ea typeface="Arial" pitchFamily="34" charset="-122"/>
                <a:cs typeface="Arial" pitchFamily="34" charset="-120"/>
              </a:rPr>
              <a:t>Enterprise-Ready Platform</a:t>
            </a:r>
            <a:endParaRPr lang="en-US" sz="3400" dirty="0"/>
          </a:p>
        </p:txBody>
      </p:sp>
      <p:sp>
        <p:nvSpPr>
          <p:cNvPr id="3" name="Shape 1"/>
          <p:cNvSpPr/>
          <p:nvPr/>
        </p:nvSpPr>
        <p:spPr>
          <a:xfrm>
            <a:off x="457200" y="1188720"/>
            <a:ext cx="2560320" cy="1463040"/>
          </a:xfrm>
          <a:prstGeom prst="rect">
            <a:avLst/>
          </a:prstGeom>
          <a:solidFill>
            <a:srgbClr val="F0F7F4"/>
          </a:solidFill>
          <a:ln/>
          <a:effectLst>
            <a:outerShdw sx="100000" sy="100000" kx="0" ky="0" algn="bl" rotWithShape="0" blurRad="50800" dist="12700" dir="8100000">
              <a:srgbClr val="000000">
                <a:alpha val="10000"/>
              </a:srgbClr>
            </a:outerShdw>
          </a:effectLst>
        </p:spPr>
      </p:sp>
      <p:sp>
        <p:nvSpPr>
          <p:cNvPr id="4" name="Text 2"/>
          <p:cNvSpPr/>
          <p:nvPr/>
        </p:nvSpPr>
        <p:spPr>
          <a:xfrm>
            <a:off x="594360" y="1325880"/>
            <a:ext cx="2286000" cy="365760"/>
          </a:xfrm>
          <a:prstGeom prst="rect">
            <a:avLst/>
          </a:prstGeom>
          <a:noFill/>
          <a:ln/>
        </p:spPr>
        <p:txBody>
          <a:bodyPr wrap="square" rtlCol="0" anchor="ctr"/>
          <a:lstStyle/>
          <a:p>
            <a:pPr indent="0" marL="0">
              <a:buNone/>
            </a:pPr>
            <a:r>
              <a:rPr lang="en-US" sz="1400" b="1" dirty="0">
                <a:solidFill>
                  <a:srgbClr val="028090"/>
                </a:solidFill>
                <a:latin typeface="Arial" pitchFamily="34" charset="0"/>
                <a:ea typeface="Arial" pitchFamily="34" charset="-122"/>
                <a:cs typeface="Arial" pitchFamily="34" charset="-120"/>
              </a:rPr>
              <a:t>Claude AI</a:t>
            </a:r>
            <a:endParaRPr lang="en-US" sz="1400" dirty="0"/>
          </a:p>
        </p:txBody>
      </p:sp>
      <p:sp>
        <p:nvSpPr>
          <p:cNvPr id="5" name="Text 3"/>
          <p:cNvSpPr/>
          <p:nvPr/>
        </p:nvSpPr>
        <p:spPr>
          <a:xfrm>
            <a:off x="594360" y="1691640"/>
            <a:ext cx="2286000" cy="822960"/>
          </a:xfrm>
          <a:prstGeom prst="rect">
            <a:avLst/>
          </a:prstGeom>
          <a:noFill/>
          <a:ln/>
        </p:spPr>
        <p:txBody>
          <a:bodyPr wrap="square" rtlCol="0" anchor="t"/>
          <a:lstStyle/>
          <a:p>
            <a:pPr indent="0" marL="0">
              <a:buNone/>
            </a:pPr>
            <a:r>
              <a:rPr lang="en-US" sz="1100" dirty="0">
                <a:solidFill>
                  <a:srgbClr val="1A1A2E"/>
                </a:solidFill>
                <a:latin typeface="Arial" pitchFamily="34" charset="0"/>
                <a:ea typeface="Arial" pitchFamily="34" charset="-122"/>
                <a:cs typeface="Arial" pitchFamily="34" charset="-120"/>
              </a:rPr>
              <a:t>Anthropic's Claude powers document analysis, assessments, and reporting</a:t>
            </a:r>
            <a:endParaRPr lang="en-US" sz="1100" dirty="0"/>
          </a:p>
        </p:txBody>
      </p:sp>
      <p:sp>
        <p:nvSpPr>
          <p:cNvPr id="6" name="Shape 4"/>
          <p:cNvSpPr/>
          <p:nvPr/>
        </p:nvSpPr>
        <p:spPr>
          <a:xfrm>
            <a:off x="3291840" y="1188720"/>
            <a:ext cx="2560320" cy="1463040"/>
          </a:xfrm>
          <a:prstGeom prst="rect">
            <a:avLst/>
          </a:prstGeom>
          <a:solidFill>
            <a:srgbClr val="F0F7F4"/>
          </a:solidFill>
          <a:ln/>
          <a:effectLst>
            <a:outerShdw sx="100000" sy="100000" kx="0" ky="0" algn="bl" rotWithShape="0" blurRad="50800" dist="12700" dir="8100000">
              <a:srgbClr val="000000">
                <a:alpha val="10000"/>
              </a:srgbClr>
            </a:outerShdw>
          </a:effectLst>
        </p:spPr>
      </p:sp>
      <p:sp>
        <p:nvSpPr>
          <p:cNvPr id="7" name="Text 5"/>
          <p:cNvSpPr/>
          <p:nvPr/>
        </p:nvSpPr>
        <p:spPr>
          <a:xfrm>
            <a:off x="3429000" y="1325880"/>
            <a:ext cx="2286000" cy="365760"/>
          </a:xfrm>
          <a:prstGeom prst="rect">
            <a:avLst/>
          </a:prstGeom>
          <a:noFill/>
          <a:ln/>
        </p:spPr>
        <p:txBody>
          <a:bodyPr wrap="square" rtlCol="0" anchor="ctr"/>
          <a:lstStyle/>
          <a:p>
            <a:pPr indent="0" marL="0">
              <a:buNone/>
            </a:pPr>
            <a:r>
              <a:rPr lang="en-US" sz="1400" b="1" dirty="0">
                <a:solidFill>
                  <a:srgbClr val="028090"/>
                </a:solidFill>
                <a:latin typeface="Arial" pitchFamily="34" charset="0"/>
                <a:ea typeface="Arial" pitchFamily="34" charset="-122"/>
                <a:cs typeface="Arial" pitchFamily="34" charset="-120"/>
              </a:rPr>
              <a:t>PostgreSQL + Redis</a:t>
            </a:r>
            <a:endParaRPr lang="en-US" sz="1400" dirty="0"/>
          </a:p>
        </p:txBody>
      </p:sp>
      <p:sp>
        <p:nvSpPr>
          <p:cNvPr id="8" name="Text 6"/>
          <p:cNvSpPr/>
          <p:nvPr/>
        </p:nvSpPr>
        <p:spPr>
          <a:xfrm>
            <a:off x="3429000" y="1691640"/>
            <a:ext cx="2286000" cy="822960"/>
          </a:xfrm>
          <a:prstGeom prst="rect">
            <a:avLst/>
          </a:prstGeom>
          <a:noFill/>
          <a:ln/>
        </p:spPr>
        <p:txBody>
          <a:bodyPr wrap="square" rtlCol="0" anchor="t"/>
          <a:lstStyle/>
          <a:p>
            <a:pPr indent="0" marL="0">
              <a:buNone/>
            </a:pPr>
            <a:r>
              <a:rPr lang="en-US" sz="1100" dirty="0">
                <a:solidFill>
                  <a:srgbClr val="1A1A2E"/>
                </a:solidFill>
                <a:latin typeface="Arial" pitchFamily="34" charset="0"/>
                <a:ea typeface="Arial" pitchFamily="34" charset="-122"/>
                <a:cs typeface="Arial" pitchFamily="34" charset="-120"/>
              </a:rPr>
              <a:t>Production-grade database with caching for fast performance</a:t>
            </a:r>
            <a:endParaRPr lang="en-US" sz="1100" dirty="0"/>
          </a:p>
        </p:txBody>
      </p:sp>
      <p:sp>
        <p:nvSpPr>
          <p:cNvPr id="9" name="Shape 7"/>
          <p:cNvSpPr/>
          <p:nvPr/>
        </p:nvSpPr>
        <p:spPr>
          <a:xfrm>
            <a:off x="6126480" y="1188720"/>
            <a:ext cx="2560320" cy="1463040"/>
          </a:xfrm>
          <a:prstGeom prst="rect">
            <a:avLst/>
          </a:prstGeom>
          <a:solidFill>
            <a:srgbClr val="F0F7F4"/>
          </a:solidFill>
          <a:ln/>
          <a:effectLst>
            <a:outerShdw sx="100000" sy="100000" kx="0" ky="0" algn="bl" rotWithShape="0" blurRad="50800" dist="12700" dir="8100000">
              <a:srgbClr val="000000">
                <a:alpha val="10000"/>
              </a:srgbClr>
            </a:outerShdw>
          </a:effectLst>
        </p:spPr>
      </p:sp>
      <p:sp>
        <p:nvSpPr>
          <p:cNvPr id="10" name="Text 8"/>
          <p:cNvSpPr/>
          <p:nvPr/>
        </p:nvSpPr>
        <p:spPr>
          <a:xfrm>
            <a:off x="6263640" y="1325880"/>
            <a:ext cx="2286000" cy="365760"/>
          </a:xfrm>
          <a:prstGeom prst="rect">
            <a:avLst/>
          </a:prstGeom>
          <a:noFill/>
          <a:ln/>
        </p:spPr>
        <p:txBody>
          <a:bodyPr wrap="square" rtlCol="0" anchor="ctr"/>
          <a:lstStyle/>
          <a:p>
            <a:pPr indent="0" marL="0">
              <a:buNone/>
            </a:pPr>
            <a:r>
              <a:rPr lang="en-US" sz="1400" b="1" dirty="0">
                <a:solidFill>
                  <a:srgbClr val="028090"/>
                </a:solidFill>
                <a:latin typeface="Arial" pitchFamily="34" charset="0"/>
                <a:ea typeface="Arial" pitchFamily="34" charset="-122"/>
                <a:cs typeface="Arial" pitchFamily="34" charset="-120"/>
              </a:rPr>
              <a:t>Cloud Infrastructure</a:t>
            </a:r>
            <a:endParaRPr lang="en-US" sz="1400" dirty="0"/>
          </a:p>
        </p:txBody>
      </p:sp>
      <p:sp>
        <p:nvSpPr>
          <p:cNvPr id="11" name="Text 9"/>
          <p:cNvSpPr/>
          <p:nvPr/>
        </p:nvSpPr>
        <p:spPr>
          <a:xfrm>
            <a:off x="6263640" y="1691640"/>
            <a:ext cx="2286000" cy="822960"/>
          </a:xfrm>
          <a:prstGeom prst="rect">
            <a:avLst/>
          </a:prstGeom>
          <a:noFill/>
          <a:ln/>
        </p:spPr>
        <p:txBody>
          <a:bodyPr wrap="square" rtlCol="0" anchor="t"/>
          <a:lstStyle/>
          <a:p>
            <a:pPr indent="0" marL="0">
              <a:buNone/>
            </a:pPr>
            <a:r>
              <a:rPr lang="en-US" sz="1100" dirty="0">
                <a:solidFill>
                  <a:srgbClr val="1A1A2E"/>
                </a:solidFill>
                <a:latin typeface="Arial" pitchFamily="34" charset="0"/>
                <a:ea typeface="Arial" pitchFamily="34" charset="-122"/>
                <a:cs typeface="Arial" pitchFamily="34" charset="-120"/>
              </a:rPr>
              <a:t>Railway-hosted with auto-scaling and 99.9% uptime</a:t>
            </a:r>
            <a:endParaRPr lang="en-US" sz="1100" dirty="0"/>
          </a:p>
        </p:txBody>
      </p:sp>
      <p:sp>
        <p:nvSpPr>
          <p:cNvPr id="12" name="Shape 10"/>
          <p:cNvSpPr/>
          <p:nvPr/>
        </p:nvSpPr>
        <p:spPr>
          <a:xfrm>
            <a:off x="457200" y="2926080"/>
            <a:ext cx="2560320" cy="1463040"/>
          </a:xfrm>
          <a:prstGeom prst="rect">
            <a:avLst/>
          </a:prstGeom>
          <a:solidFill>
            <a:srgbClr val="F0F7F4"/>
          </a:solidFill>
          <a:ln/>
          <a:effectLst>
            <a:outerShdw sx="100000" sy="100000" kx="0" ky="0" algn="bl" rotWithShape="0" blurRad="50800" dist="12700" dir="8100000">
              <a:srgbClr val="000000">
                <a:alpha val="10000"/>
              </a:srgbClr>
            </a:outerShdw>
          </a:effectLst>
        </p:spPr>
      </p:sp>
      <p:sp>
        <p:nvSpPr>
          <p:cNvPr id="13" name="Text 11"/>
          <p:cNvSpPr/>
          <p:nvPr/>
        </p:nvSpPr>
        <p:spPr>
          <a:xfrm>
            <a:off x="594360" y="3063240"/>
            <a:ext cx="2286000" cy="365760"/>
          </a:xfrm>
          <a:prstGeom prst="rect">
            <a:avLst/>
          </a:prstGeom>
          <a:noFill/>
          <a:ln/>
        </p:spPr>
        <p:txBody>
          <a:bodyPr wrap="square" rtlCol="0" anchor="ctr"/>
          <a:lstStyle/>
          <a:p>
            <a:pPr indent="0" marL="0">
              <a:buNone/>
            </a:pPr>
            <a:r>
              <a:rPr lang="en-US" sz="1400" b="1" dirty="0">
                <a:solidFill>
                  <a:srgbClr val="028090"/>
                </a:solidFill>
                <a:latin typeface="Arial" pitchFamily="34" charset="0"/>
                <a:ea typeface="Arial" pitchFamily="34" charset="-122"/>
                <a:cs typeface="Arial" pitchFamily="34" charset="-120"/>
              </a:rPr>
              <a:t>Security First</a:t>
            </a:r>
            <a:endParaRPr lang="en-US" sz="1400" dirty="0"/>
          </a:p>
        </p:txBody>
      </p:sp>
      <p:sp>
        <p:nvSpPr>
          <p:cNvPr id="14" name="Text 12"/>
          <p:cNvSpPr/>
          <p:nvPr/>
        </p:nvSpPr>
        <p:spPr>
          <a:xfrm>
            <a:off x="594360" y="3429000"/>
            <a:ext cx="2286000" cy="822960"/>
          </a:xfrm>
          <a:prstGeom prst="rect">
            <a:avLst/>
          </a:prstGeom>
          <a:noFill/>
          <a:ln/>
        </p:spPr>
        <p:txBody>
          <a:bodyPr wrap="square" rtlCol="0" anchor="t"/>
          <a:lstStyle/>
          <a:p>
            <a:pPr indent="0" marL="0">
              <a:buNone/>
            </a:pPr>
            <a:r>
              <a:rPr lang="en-US" sz="1100" dirty="0">
                <a:solidFill>
                  <a:srgbClr val="1A1A2E"/>
                </a:solidFill>
                <a:latin typeface="Arial" pitchFamily="34" charset="0"/>
                <a:ea typeface="Arial" pitchFamily="34" charset="-122"/>
                <a:cs typeface="Arial" pitchFamily="34" charset="-120"/>
              </a:rPr>
              <a:t>JWT auth, role-based access, encrypted data at rest and in transit</a:t>
            </a:r>
            <a:endParaRPr lang="en-US" sz="1100" dirty="0"/>
          </a:p>
        </p:txBody>
      </p:sp>
      <p:sp>
        <p:nvSpPr>
          <p:cNvPr id="15" name="Shape 13"/>
          <p:cNvSpPr/>
          <p:nvPr/>
        </p:nvSpPr>
        <p:spPr>
          <a:xfrm>
            <a:off x="3291840" y="2926080"/>
            <a:ext cx="2560320" cy="1463040"/>
          </a:xfrm>
          <a:prstGeom prst="rect">
            <a:avLst/>
          </a:prstGeom>
          <a:solidFill>
            <a:srgbClr val="F0F7F4"/>
          </a:solidFill>
          <a:ln/>
          <a:effectLst>
            <a:outerShdw sx="100000" sy="100000" kx="0" ky="0" algn="bl" rotWithShape="0" blurRad="50800" dist="12700" dir="8100000">
              <a:srgbClr val="000000">
                <a:alpha val="10000"/>
              </a:srgbClr>
            </a:outerShdw>
          </a:effectLst>
        </p:spPr>
      </p:sp>
      <p:sp>
        <p:nvSpPr>
          <p:cNvPr id="16" name="Text 14"/>
          <p:cNvSpPr/>
          <p:nvPr/>
        </p:nvSpPr>
        <p:spPr>
          <a:xfrm>
            <a:off x="3429000" y="3063240"/>
            <a:ext cx="2286000" cy="365760"/>
          </a:xfrm>
          <a:prstGeom prst="rect">
            <a:avLst/>
          </a:prstGeom>
          <a:noFill/>
          <a:ln/>
        </p:spPr>
        <p:txBody>
          <a:bodyPr wrap="square" rtlCol="0" anchor="ctr"/>
          <a:lstStyle/>
          <a:p>
            <a:pPr indent="0" marL="0">
              <a:buNone/>
            </a:pPr>
            <a:r>
              <a:rPr lang="en-US" sz="1400" b="1" dirty="0">
                <a:solidFill>
                  <a:srgbClr val="028090"/>
                </a:solidFill>
                <a:latin typeface="Arial" pitchFamily="34" charset="0"/>
                <a:ea typeface="Arial" pitchFamily="34" charset="-122"/>
                <a:cs typeface="Arial" pitchFamily="34" charset="-120"/>
              </a:rPr>
              <a:t>6 Languages</a:t>
            </a:r>
            <a:endParaRPr lang="en-US" sz="1400" dirty="0"/>
          </a:p>
        </p:txBody>
      </p:sp>
      <p:sp>
        <p:nvSpPr>
          <p:cNvPr id="17" name="Text 15"/>
          <p:cNvSpPr/>
          <p:nvPr/>
        </p:nvSpPr>
        <p:spPr>
          <a:xfrm>
            <a:off x="3429000" y="3429000"/>
            <a:ext cx="2286000" cy="822960"/>
          </a:xfrm>
          <a:prstGeom prst="rect">
            <a:avLst/>
          </a:prstGeom>
          <a:noFill/>
          <a:ln/>
        </p:spPr>
        <p:txBody>
          <a:bodyPr wrap="square" rtlCol="0" anchor="t"/>
          <a:lstStyle/>
          <a:p>
            <a:pPr indent="0" marL="0">
              <a:buNone/>
            </a:pPr>
            <a:r>
              <a:rPr lang="en-US" sz="1100" dirty="0">
                <a:solidFill>
                  <a:srgbClr val="1A1A2E"/>
                </a:solidFill>
                <a:latin typeface="Arial" pitchFamily="34" charset="0"/>
                <a:ea typeface="Arial" pitchFamily="34" charset="-122"/>
                <a:cs typeface="Arial" pitchFamily="34" charset="-120"/>
              </a:rPr>
              <a:t>English, French, Arabic, Swahili, Somali, Portuguese</a:t>
            </a:r>
            <a:endParaRPr lang="en-US" sz="1100" dirty="0"/>
          </a:p>
        </p:txBody>
      </p:sp>
      <p:sp>
        <p:nvSpPr>
          <p:cNvPr id="18" name="Shape 16"/>
          <p:cNvSpPr/>
          <p:nvPr/>
        </p:nvSpPr>
        <p:spPr>
          <a:xfrm>
            <a:off x="6126480" y="2926080"/>
            <a:ext cx="2560320" cy="1463040"/>
          </a:xfrm>
          <a:prstGeom prst="rect">
            <a:avLst/>
          </a:prstGeom>
          <a:solidFill>
            <a:srgbClr val="F0F7F4"/>
          </a:solidFill>
          <a:ln/>
          <a:effectLst>
            <a:outerShdw sx="100000" sy="100000" kx="0" ky="0" algn="bl" rotWithShape="0" blurRad="50800" dist="12700" dir="8100000">
              <a:srgbClr val="000000">
                <a:alpha val="10000"/>
              </a:srgbClr>
            </a:outerShdw>
          </a:effectLst>
        </p:spPr>
      </p:sp>
      <p:sp>
        <p:nvSpPr>
          <p:cNvPr id="19" name="Text 17"/>
          <p:cNvSpPr/>
          <p:nvPr/>
        </p:nvSpPr>
        <p:spPr>
          <a:xfrm>
            <a:off x="6263640" y="3063240"/>
            <a:ext cx="2286000" cy="365760"/>
          </a:xfrm>
          <a:prstGeom prst="rect">
            <a:avLst/>
          </a:prstGeom>
          <a:noFill/>
          <a:ln/>
        </p:spPr>
        <p:txBody>
          <a:bodyPr wrap="square" rtlCol="0" anchor="ctr"/>
          <a:lstStyle/>
          <a:p>
            <a:pPr indent="0" marL="0">
              <a:buNone/>
            </a:pPr>
            <a:r>
              <a:rPr lang="en-US" sz="1400" b="1" dirty="0">
                <a:solidFill>
                  <a:srgbClr val="028090"/>
                </a:solidFill>
                <a:latin typeface="Arial" pitchFamily="34" charset="0"/>
                <a:ea typeface="Arial" pitchFamily="34" charset="-122"/>
                <a:cs typeface="Arial" pitchFamily="34" charset="-120"/>
              </a:rPr>
              <a:t>Automated Testing</a:t>
            </a:r>
            <a:endParaRPr lang="en-US" sz="1400" dirty="0"/>
          </a:p>
        </p:txBody>
      </p:sp>
      <p:sp>
        <p:nvSpPr>
          <p:cNvPr id="20" name="Text 18"/>
          <p:cNvSpPr/>
          <p:nvPr/>
        </p:nvSpPr>
        <p:spPr>
          <a:xfrm>
            <a:off x="6263640" y="3429000"/>
            <a:ext cx="2286000" cy="822960"/>
          </a:xfrm>
          <a:prstGeom prst="rect">
            <a:avLst/>
          </a:prstGeom>
          <a:noFill/>
          <a:ln/>
        </p:spPr>
        <p:txBody>
          <a:bodyPr wrap="square" rtlCol="0" anchor="t"/>
          <a:lstStyle/>
          <a:p>
            <a:pPr indent="0" marL="0">
              <a:buNone/>
            </a:pPr>
            <a:r>
              <a:rPr lang="en-US" sz="1100" dirty="0">
                <a:solidFill>
                  <a:srgbClr val="1A1A2E"/>
                </a:solidFill>
                <a:latin typeface="Arial" pitchFamily="34" charset="0"/>
                <a:ea typeface="Arial" pitchFamily="34" charset="-122"/>
                <a:cs typeface="Arial" pitchFamily="34" charset="-120"/>
              </a:rPr>
              <a:t>136 test cases across all modules and user roles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027"/>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Where We're Going</a:t>
            </a:r>
            <a:endParaRPr lang="en-US" sz="3400" dirty="0"/>
          </a:p>
        </p:txBody>
      </p:sp>
      <p:sp>
        <p:nvSpPr>
          <p:cNvPr id="3" name="Shape 1"/>
          <p:cNvSpPr/>
          <p:nvPr/>
        </p:nvSpPr>
        <p:spPr>
          <a:xfrm>
            <a:off x="640080" y="1188720"/>
            <a:ext cx="2560320" cy="3200400"/>
          </a:xfrm>
          <a:prstGeom prst="rect">
            <a:avLst/>
          </a:prstGeom>
          <a:solidFill>
            <a:srgbClr val="FFFFFF">
              <a:alpha val="92000"/>
            </a:srgbClr>
          </a:solidFill>
          <a:ln/>
          <a:effectLst>
            <a:outerShdw sx="100000" sy="100000" kx="0" ky="0" algn="bl" rotWithShape="0" blurRad="76200" dist="25400" dir="8100000">
              <a:srgbClr val="000000">
                <a:alpha val="12000"/>
              </a:srgbClr>
            </a:outerShdw>
          </a:effectLst>
        </p:spPr>
      </p:sp>
      <p:sp>
        <p:nvSpPr>
          <p:cNvPr id="4" name="Shape 2"/>
          <p:cNvSpPr/>
          <p:nvPr/>
        </p:nvSpPr>
        <p:spPr>
          <a:xfrm>
            <a:off x="640080" y="1188720"/>
            <a:ext cx="2560320" cy="457200"/>
          </a:xfrm>
          <a:prstGeom prst="rect">
            <a:avLst/>
          </a:prstGeom>
          <a:solidFill>
            <a:srgbClr val="02C39A"/>
          </a:solidFill>
          <a:ln/>
        </p:spPr>
      </p:sp>
      <p:sp>
        <p:nvSpPr>
          <p:cNvPr id="5" name="Text 3"/>
          <p:cNvSpPr/>
          <p:nvPr/>
        </p:nvSpPr>
        <p:spPr>
          <a:xfrm>
            <a:off x="640080" y="1188720"/>
            <a:ext cx="256032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NOW</a:t>
            </a:r>
            <a:endParaRPr lang="en-US" sz="1600" dirty="0"/>
          </a:p>
        </p:txBody>
      </p:sp>
      <p:sp>
        <p:nvSpPr>
          <p:cNvPr id="6" name="Text 4"/>
          <p:cNvSpPr/>
          <p:nvPr/>
        </p:nvSpPr>
        <p:spPr>
          <a:xfrm>
            <a:off x="777240" y="1828800"/>
            <a:ext cx="2286000" cy="2286000"/>
          </a:xfrm>
          <a:prstGeom prst="rect">
            <a:avLst/>
          </a:prstGeom>
          <a:noFill/>
          <a:ln/>
        </p:spPr>
        <p:txBody>
          <a:bodyPr wrap="square" rtlCol="0" anchor="ctr"/>
          <a:lstStyle/>
          <a:p>
            <a:pPr marL="342900" indent="-342900">
              <a:buSzPct val="100000"/>
              <a:buChar char="•"/>
            </a:pPr>
            <a:r>
              <a:rPr lang="en-US" sz="1100" dirty="0">
                <a:solidFill>
                  <a:srgbClr val="FFFFFF"/>
                </a:solidFill>
                <a:latin typeface="Arial" pitchFamily="34" charset="0"/>
                <a:ea typeface="Arial" pitchFamily="34" charset="-122"/>
                <a:cs typeface="Arial" pitchFamily="34" charset="-120"/>
              </a:rPr>
              <a:t>NGO Marketplace live</a:t>
            </a:r>
            <a:endParaRPr lang="en-US" sz="11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AI grant wizard</a:t>
            </a:r>
            <a:endParaRPr lang="en-US" sz="11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Sanctions screening</a:t>
            </a:r>
            <a:endParaRPr lang="en-US" sz="11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5 assessment frameworks</a:t>
            </a:r>
            <a:endParaRPr lang="en-US" sz="11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Donor portal</a:t>
            </a:r>
            <a:endParaRPr lang="en-US" sz="1100" dirty="0"/>
          </a:p>
        </p:txBody>
      </p:sp>
      <p:sp>
        <p:nvSpPr>
          <p:cNvPr id="7" name="Shape 5"/>
          <p:cNvSpPr/>
          <p:nvPr/>
        </p:nvSpPr>
        <p:spPr>
          <a:xfrm>
            <a:off x="3200400" y="2286000"/>
            <a:ext cx="365760" cy="0"/>
          </a:xfrm>
          <a:prstGeom prst="line">
            <a:avLst/>
          </a:prstGeom>
          <a:noFill/>
          <a:ln w="25400">
            <a:solidFill>
              <a:srgbClr val="00A896"/>
            </a:solidFill>
            <a:prstDash val="solid"/>
          </a:ln>
        </p:spPr>
      </p:sp>
      <p:sp>
        <p:nvSpPr>
          <p:cNvPr id="8" name="Shape 6"/>
          <p:cNvSpPr/>
          <p:nvPr/>
        </p:nvSpPr>
        <p:spPr>
          <a:xfrm>
            <a:off x="3566160" y="1188720"/>
            <a:ext cx="2560320" cy="3200400"/>
          </a:xfrm>
          <a:prstGeom prst="rect">
            <a:avLst/>
          </a:prstGeom>
          <a:solidFill>
            <a:srgbClr val="FFFFFF">
              <a:alpha val="92000"/>
            </a:srgbClr>
          </a:solidFill>
          <a:ln/>
          <a:effectLst>
            <a:outerShdw sx="100000" sy="100000" kx="0" ky="0" algn="bl" rotWithShape="0" blurRad="76200" dist="25400" dir="8100000">
              <a:srgbClr val="000000">
                <a:alpha val="12000"/>
              </a:srgbClr>
            </a:outerShdw>
          </a:effectLst>
        </p:spPr>
      </p:sp>
      <p:sp>
        <p:nvSpPr>
          <p:cNvPr id="9" name="Shape 7"/>
          <p:cNvSpPr/>
          <p:nvPr/>
        </p:nvSpPr>
        <p:spPr>
          <a:xfrm>
            <a:off x="3566160" y="1188720"/>
            <a:ext cx="2560320" cy="457200"/>
          </a:xfrm>
          <a:prstGeom prst="rect">
            <a:avLst/>
          </a:prstGeom>
          <a:solidFill>
            <a:srgbClr val="028090"/>
          </a:solidFill>
          <a:ln/>
        </p:spPr>
      </p:sp>
      <p:sp>
        <p:nvSpPr>
          <p:cNvPr id="10" name="Text 8"/>
          <p:cNvSpPr/>
          <p:nvPr/>
        </p:nvSpPr>
        <p:spPr>
          <a:xfrm>
            <a:off x="3566160" y="1188720"/>
            <a:ext cx="256032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NEXT</a:t>
            </a:r>
            <a:endParaRPr lang="en-US" sz="1600" dirty="0"/>
          </a:p>
        </p:txBody>
      </p:sp>
      <p:sp>
        <p:nvSpPr>
          <p:cNvPr id="11" name="Text 9"/>
          <p:cNvSpPr/>
          <p:nvPr/>
        </p:nvSpPr>
        <p:spPr>
          <a:xfrm>
            <a:off x="3703320" y="1828800"/>
            <a:ext cx="2286000" cy="2286000"/>
          </a:xfrm>
          <a:prstGeom prst="rect">
            <a:avLst/>
          </a:prstGeom>
          <a:noFill/>
          <a:ln/>
        </p:spPr>
        <p:txBody>
          <a:bodyPr wrap="square" rtlCol="0" anchor="ctr"/>
          <a:lstStyle/>
          <a:p>
            <a:pPr marL="342900" indent="-342900">
              <a:buSzPct val="100000"/>
              <a:buChar char="•"/>
            </a:pPr>
            <a:r>
              <a:rPr lang="en-US" sz="1100" dirty="0">
                <a:solidFill>
                  <a:srgbClr val="FFFFFF"/>
                </a:solidFill>
                <a:latin typeface="Arial" pitchFamily="34" charset="0"/>
                <a:ea typeface="Arial" pitchFamily="34" charset="-122"/>
                <a:cs typeface="Arial" pitchFamily="34" charset="-120"/>
              </a:rPr>
              <a:t>Odoo 17 ERP integration</a:t>
            </a:r>
            <a:endParaRPr lang="en-US" sz="11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Financial dashboards</a:t>
            </a:r>
            <a:endParaRPr lang="en-US" sz="11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Advanced analytics</a:t>
            </a:r>
            <a:endParaRPr lang="en-US" sz="11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Mobile app</a:t>
            </a:r>
            <a:endParaRPr lang="en-US" sz="11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API marketplace</a:t>
            </a:r>
            <a:endParaRPr lang="en-US" sz="1100" dirty="0"/>
          </a:p>
        </p:txBody>
      </p:sp>
      <p:sp>
        <p:nvSpPr>
          <p:cNvPr id="12" name="Shape 10"/>
          <p:cNvSpPr/>
          <p:nvPr/>
        </p:nvSpPr>
        <p:spPr>
          <a:xfrm>
            <a:off x="6126480" y="2286000"/>
            <a:ext cx="365760" cy="0"/>
          </a:xfrm>
          <a:prstGeom prst="line">
            <a:avLst/>
          </a:prstGeom>
          <a:noFill/>
          <a:ln w="25400">
            <a:solidFill>
              <a:srgbClr val="00A896"/>
            </a:solidFill>
            <a:prstDash val="solid"/>
          </a:ln>
        </p:spPr>
      </p:sp>
      <p:sp>
        <p:nvSpPr>
          <p:cNvPr id="13" name="Shape 11"/>
          <p:cNvSpPr/>
          <p:nvPr/>
        </p:nvSpPr>
        <p:spPr>
          <a:xfrm>
            <a:off x="6492240" y="1188720"/>
            <a:ext cx="2560320" cy="3200400"/>
          </a:xfrm>
          <a:prstGeom prst="rect">
            <a:avLst/>
          </a:prstGeom>
          <a:solidFill>
            <a:srgbClr val="FFFFFF">
              <a:alpha val="92000"/>
            </a:srgbClr>
          </a:solidFill>
          <a:ln/>
          <a:effectLst>
            <a:outerShdw sx="100000" sy="100000" kx="0" ky="0" algn="bl" rotWithShape="0" blurRad="76200" dist="25400" dir="8100000">
              <a:srgbClr val="000000">
                <a:alpha val="12000"/>
              </a:srgbClr>
            </a:outerShdw>
          </a:effectLst>
        </p:spPr>
      </p:sp>
      <p:sp>
        <p:nvSpPr>
          <p:cNvPr id="14" name="Shape 12"/>
          <p:cNvSpPr/>
          <p:nvPr/>
        </p:nvSpPr>
        <p:spPr>
          <a:xfrm>
            <a:off x="6492240" y="1188720"/>
            <a:ext cx="2560320" cy="457200"/>
          </a:xfrm>
          <a:prstGeom prst="rect">
            <a:avLst/>
          </a:prstGeom>
          <a:solidFill>
            <a:srgbClr val="F4A261"/>
          </a:solidFill>
          <a:ln/>
        </p:spPr>
      </p:sp>
      <p:sp>
        <p:nvSpPr>
          <p:cNvPr id="15" name="Text 13"/>
          <p:cNvSpPr/>
          <p:nvPr/>
        </p:nvSpPr>
        <p:spPr>
          <a:xfrm>
            <a:off x="6492240" y="1188720"/>
            <a:ext cx="256032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FUTURE</a:t>
            </a:r>
            <a:endParaRPr lang="en-US" sz="1600" dirty="0"/>
          </a:p>
        </p:txBody>
      </p:sp>
      <p:sp>
        <p:nvSpPr>
          <p:cNvPr id="16" name="Text 14"/>
          <p:cNvSpPr/>
          <p:nvPr/>
        </p:nvSpPr>
        <p:spPr>
          <a:xfrm>
            <a:off x="6629400" y="1828800"/>
            <a:ext cx="2286000" cy="2286000"/>
          </a:xfrm>
          <a:prstGeom prst="rect">
            <a:avLst/>
          </a:prstGeom>
          <a:noFill/>
          <a:ln/>
        </p:spPr>
        <p:txBody>
          <a:bodyPr wrap="square" rtlCol="0" anchor="ctr"/>
          <a:lstStyle/>
          <a:p>
            <a:pPr marL="342900" indent="-342900">
              <a:buSzPct val="100000"/>
              <a:buChar char="•"/>
            </a:pPr>
            <a:r>
              <a:rPr lang="en-US" sz="1100" dirty="0">
                <a:solidFill>
                  <a:srgbClr val="FFFFFF"/>
                </a:solidFill>
                <a:latin typeface="Arial" pitchFamily="34" charset="0"/>
                <a:ea typeface="Arial" pitchFamily="34" charset="-122"/>
                <a:cs typeface="Arial" pitchFamily="34" charset="-120"/>
              </a:rPr>
              <a:t>Blockchain verification</a:t>
            </a:r>
            <a:endParaRPr lang="en-US" sz="11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Predictive risk scoring</a:t>
            </a:r>
            <a:endParaRPr lang="en-US" sz="11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Global registry expansion</a:t>
            </a:r>
            <a:endParaRPr lang="en-US" sz="11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Multi-currency support</a:t>
            </a:r>
            <a:endParaRPr lang="en-US" sz="11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Impact measurement AI</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2027"/>
        </a:solidFill>
      </p:bgPr>
    </p:bg>
    <p:spTree>
      <p:nvGrpSpPr>
        <p:cNvPr id="1" name=""/>
        <p:cNvGrpSpPr/>
        <p:nvPr/>
      </p:nvGrpSpPr>
      <p:grpSpPr>
        <a:xfrm>
          <a:off x="0" y="0"/>
          <a:ext cx="0" cy="0"/>
          <a:chOff x="0" y="0"/>
          <a:chExt cx="0" cy="0"/>
        </a:xfrm>
      </p:grpSpPr>
      <p:sp>
        <p:nvSpPr>
          <p:cNvPr id="2" name="Shape 0"/>
          <p:cNvSpPr/>
          <p:nvPr/>
        </p:nvSpPr>
        <p:spPr>
          <a:xfrm>
            <a:off x="3886200" y="457200"/>
            <a:ext cx="1371600" cy="1371600"/>
          </a:xfrm>
          <a:prstGeom prst="roundRect">
            <a:avLst>
              <a:gd name="adj" fmla="val 10000"/>
            </a:avLst>
          </a:prstGeom>
          <a:solidFill>
            <a:srgbClr val="028090"/>
          </a:solidFill>
          <a:ln/>
        </p:spPr>
      </p:sp>
      <p:sp>
        <p:nvSpPr>
          <p:cNvPr id="3" name="Text 1"/>
          <p:cNvSpPr/>
          <p:nvPr/>
        </p:nvSpPr>
        <p:spPr>
          <a:xfrm>
            <a:off x="3886200" y="457200"/>
            <a:ext cx="1371600" cy="1371600"/>
          </a:xfrm>
          <a:prstGeom prst="rect">
            <a:avLst/>
          </a:prstGeom>
          <a:noFill/>
          <a:ln/>
        </p:spPr>
        <p:txBody>
          <a:bodyPr wrap="square" rtlCol="0" anchor="ctr"/>
          <a:lstStyle/>
          <a:p>
            <a:pPr algn="ctr" indent="0" marL="0">
              <a:buNone/>
            </a:pPr>
            <a:r>
              <a:rPr lang="en-US" sz="5400" b="1" dirty="0">
                <a:solidFill>
                  <a:srgbClr val="FFFFFF"/>
                </a:solidFill>
                <a:latin typeface="Arial Black" pitchFamily="34" charset="0"/>
                <a:ea typeface="Arial Black" pitchFamily="34" charset="-122"/>
                <a:cs typeface="Arial Black" pitchFamily="34" charset="-120"/>
              </a:rPr>
              <a:t>K</a:t>
            </a:r>
            <a:endParaRPr lang="en-US" sz="5400" dirty="0"/>
          </a:p>
        </p:txBody>
      </p:sp>
      <p:sp>
        <p:nvSpPr>
          <p:cNvPr id="4" name="Text 2"/>
          <p:cNvSpPr/>
          <p:nvPr/>
        </p:nvSpPr>
        <p:spPr>
          <a:xfrm>
            <a:off x="457200" y="2103120"/>
            <a:ext cx="8229600" cy="731520"/>
          </a:xfrm>
          <a:prstGeom prst="rect">
            <a:avLst/>
          </a:prstGeom>
          <a:noFill/>
          <a:ln/>
        </p:spPr>
        <p:txBody>
          <a:bodyPr wrap="square"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Let's Transform Grant Management Together</a:t>
            </a:r>
            <a:endParaRPr lang="en-US" sz="3600" dirty="0"/>
          </a:p>
        </p:txBody>
      </p:sp>
      <p:sp>
        <p:nvSpPr>
          <p:cNvPr id="5" name="Text 3"/>
          <p:cNvSpPr/>
          <p:nvPr/>
        </p:nvSpPr>
        <p:spPr>
          <a:xfrm>
            <a:off x="457200" y="2834640"/>
            <a:ext cx="8229600" cy="457200"/>
          </a:xfrm>
          <a:prstGeom prst="rect">
            <a:avLst/>
          </a:prstGeom>
          <a:noFill/>
          <a:ln/>
        </p:spPr>
        <p:txBody>
          <a:bodyPr wrap="square" rtlCol="0" anchor="ctr"/>
          <a:lstStyle/>
          <a:p>
            <a:pPr algn="ctr" indent="0" marL="0">
              <a:buNone/>
            </a:pPr>
            <a:r>
              <a:rPr lang="en-US" sz="1600" dirty="0">
                <a:solidFill>
                  <a:srgbClr val="00A896"/>
                </a:solidFill>
                <a:latin typeface="Arial" pitchFamily="34" charset="0"/>
                <a:ea typeface="Arial" pitchFamily="34" charset="-122"/>
                <a:cs typeface="Arial" pitchFamily="34" charset="-120"/>
              </a:rPr>
              <a:t>Partner with us to fund smarter, monitor better, and maximize impact</a:t>
            </a:r>
            <a:endParaRPr lang="en-US" sz="1600" dirty="0"/>
          </a:p>
        </p:txBody>
      </p:sp>
      <p:sp>
        <p:nvSpPr>
          <p:cNvPr id="6" name="Text 4"/>
          <p:cNvSpPr/>
          <p:nvPr/>
        </p:nvSpPr>
        <p:spPr>
          <a:xfrm>
            <a:off x="457200" y="3474720"/>
            <a:ext cx="8229600" cy="10972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info@adeso.org</a:t>
            </a:r>
            <a:endParaRPr lang="en-US" sz="1400" dirty="0"/>
          </a:p>
          <a:p>
            <a:pPr algn="ctr" indent="0" marL="0">
              <a:buNone/>
            </a:pPr>
            <a:r>
              <a:rPr lang="en-US" sz="1400" dirty="0">
                <a:solidFill>
                  <a:srgbClr val="FFFFFF"/>
                </a:solidFill>
                <a:latin typeface="Arial" pitchFamily="34" charset="0"/>
                <a:ea typeface="Arial" pitchFamily="34" charset="-122"/>
                <a:cs typeface="Arial" pitchFamily="34" charset="-120"/>
              </a:rPr>
              <a:t>www.adesoafrica.org</a:t>
            </a:r>
            <a:endParaRPr lang="en-US" sz="1400" dirty="0"/>
          </a:p>
          <a:p>
            <a:pPr algn="ctr" indent="0" marL="0">
              <a:buNone/>
            </a:pPr>
            <a:r>
              <a:rPr lang="en-US" sz="1200" dirty="0">
                <a:solidFill>
                  <a:srgbClr val="666666"/>
                </a:solidFill>
                <a:latin typeface="Arial" pitchFamily="34" charset="0"/>
                <a:ea typeface="Arial" pitchFamily="34" charset="-122"/>
                <a:cs typeface="Arial" pitchFamily="34" charset="-120"/>
              </a:rPr>
              <a:t>Nairobi | Mogadishu | Washington DC</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Kuja Grant Management - Donor Pitch Deck</dc:title>
  <dc:subject>PptxGenJS Presentation</dc:subject>
  <dc:creator>Adeso</dc:creator>
  <cp:lastModifiedBy>Adeso</cp:lastModifiedBy>
  <cp:revision>1</cp:revision>
  <dcterms:created xsi:type="dcterms:W3CDTF">2026-04-14T18:45:19Z</dcterms:created>
  <dcterms:modified xsi:type="dcterms:W3CDTF">2026-04-14T18:45:19Z</dcterms:modified>
</cp:coreProperties>
</file>