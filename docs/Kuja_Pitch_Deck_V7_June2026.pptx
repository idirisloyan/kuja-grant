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48640" y="2788920"/>
            <a:ext cx="21945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Locally-led funding, at network speed.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pillars. Three motions.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AI-native. Global South-built. Trust as the product.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Production-deployed. </a:t>
            </a:r>
            <a:pPr indent="0" marL="0">
              <a:buNone/>
            </a:pPr>
            <a:r>
              <a:rPr lang="en-US" sz="14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AI surfaces shipped. 130+ phases delivered. The reference architecture for peer-governed network funding — co-developed with NEAR, which Adeso co-founded in 2016.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· June 2026 · Adeso · Nairobi · kuja@adeso.org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historic funding shock — verified, not anecdotal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−23.1%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real-terms decline 2025 — largest ever recorded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0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297680" y="3017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USAID programs terminated ($75.9B in value)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$32B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046720" y="3017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foreign aid 2025 (vs ~$68B in 2024)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18288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840480"/>
            <a:ext cx="109728" cy="1828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97764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cuts are systemic. </a:t>
            </a:r>
            <a:pPr indent="0" marL="0">
              <a:buNone/>
            </a:pPr>
            <a:r>
              <a:rPr lang="en-US" sz="14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FCDO program ODA −33% (Africa bilateral −56%). Canada GAC −38% over 4 years. Sweden Sida −18% operational (Africa −57% 2021→2026). Germany BMZ multilateral cooperation −15%. Norway and Australia in real-terms decline. </a:t>
            </a:r>
            <a:pPr indent="0" marL="0">
              <a:buNone/>
            </a:pPr>
            <a:r>
              <a:rPr lang="en-US" sz="1400" b="1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cannot fund its way out of this — it has to operate its way out.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ODA Preliminary 2025 Data (Apr 2026); Donor Tracker on USAID closure; House of Commons Library CBP-10243; CBC on Canada Budget 2025; Devex/Donor Tracker on Sweden Sida.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LOCALIZATION IS FAILING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Stuck at 3.8% — declined ~1/3 from 2023 to 2024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4E8DC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Bargain Target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funding to local/national actors. Signed by 60+ donors in 2016.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20116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6263640" y="3291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in 2024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37490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indirect funding, total reaching LNAs is just under 10%. Direct funding declined roughly one-third from 2023.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 is no longer "more political will." It is infrastructure local actors can actually use — that donors will actually trust.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Development Initiatives — Falling Short: Funding to Local &amp; National Actors (2025); ALNAP GHA Report 2025.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Locally-led funding, at network speed.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36576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109728" cy="36576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68880"/>
            <a:ext cx="10424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is the operating system for locally-led funding.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platform. Four integrated pillars. Three go-to-market motions. Shared customer record, shared Trust Profile, shared AI memory, shared audit chain. </a:t>
            </a:r>
            <a:pPr indent="0" marL="0">
              <a:buNone/>
            </a:pPr>
            <a:r>
              <a:rPr lang="en-US" sz="16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pillar reinforces the others. Every customer engagement compounds.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production-deployed today, with the NEAR reference architecture as the proof-of-design for peer-governed network funding. NEAR — the Network for Empowered Aid Response — was co-founded by Adeso in 2016.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integrated pillars on one codebase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3200400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109728" cy="32004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Marketplace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ecosystem connectivity. Free for NGOs; donor-funded publishing tier.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697480" cy="32004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103120"/>
            <a:ext cx="109728" cy="3200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Grant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7889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 with 35+ AI surfaces. SaaS by org type + volume.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697480" cy="3200400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103120"/>
            <a:ext cx="109728" cy="3200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Elevate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7889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mid-size NGOs. 11 module families replace 6-10 SaaS tools. Adeso runs on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2103120"/>
            <a:ext cx="2697480" cy="32004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2103120"/>
            <a:ext cx="109728" cy="32004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ERP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27889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Odoo backbone — opt-in integration with Grant for real-time donor visibility. Donor-sponsored.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PMO-as-a-Service: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cross-pillar accelerator. Executive reporting + operating cadence + audit-evidence standards. Converts one-time deployments into multi-pillar relationships.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pillars of trust, anchored to one tamper-evident chain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Registration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country registries pre-mapped + AI confidence.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8348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live + UN/OFAC/EU fallback. Re-screened on cadence.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3252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3252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24-month lookback. Citations + confidence.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2519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+ IBAN + microdeposit.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6576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8348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42519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signature step. Audit-anchored.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6576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73252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Assessment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32520" y="42519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5-framework. Reusable. Publishable as a Trust Passport.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chain: </a:t>
            </a:r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governance action links to the previous one. Tamper an entry, every row after breaks. The answer to "how do you know?" is a URL.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— THE NGO OPERATING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Eleven module families. Replaces 6-10 SaaS tools.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110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295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ClearPoint, Workboard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4992" y="1874520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4992" y="1874520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9110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29584" y="2295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Asana, Monday, Smartsheet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1874520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1874520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19110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Partnerships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45936" y="2295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Salesforce NPC, HubSpot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97696" y="1874520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97696" y="1874520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9110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(CLM)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62288" y="2295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DocuSign CLM, Ironclad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871216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871216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9077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ConvergePoint, PowerDMS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64992" y="2871216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2871216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29077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29584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BoardEffect, OnBoard, Diligent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81344" y="2871216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344" y="2871216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29077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45936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Foundant, Submittable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97696" y="2871216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97696" y="2871216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62288" y="29077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Executive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62288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PowerBI, Tableau dashboards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3867912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867912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39044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Daily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(Inbox)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13232" y="428853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Six logins, six inboxes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64992" y="3867912"/>
            <a:ext cx="2697480" cy="877824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64992" y="3867912"/>
            <a:ext cx="109728" cy="8778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9584" y="39044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529584" y="428853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Per-tool admin surfaces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81344" y="3867912"/>
            <a:ext cx="2697480" cy="877824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81344" y="3867912"/>
            <a:ext cx="109728" cy="8778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39044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(cross-cutting)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45936" y="428853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Not present in incumbent stacks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5120640"/>
            <a:ext cx="109728" cy="9144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" y="52120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on it today. </a:t>
            </a:r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reported. Every contract signed. Every board pack generated. Every SOP versioned. Every partner conversation logged. The product is not a roadmap — it is the company's own operating system, </a:t>
            </a:r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productized for the rest of the sector.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STITCHED-STACK TCO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mid-size NGOs pay today for one tool per category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301752"/>
          </a:xfrm>
          <a:prstGeom prst="rect">
            <a:avLst/>
          </a:prstGeom>
          <a:solidFill>
            <a:srgbClr val="7C2D1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3657600" cy="301752"/>
          </a:xfrm>
          <a:prstGeom prst="rect">
            <a:avLst/>
          </a:prstGeom>
          <a:solidFill>
            <a:srgbClr val="7C2D1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810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(mid-market)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2377440" cy="301752"/>
          </a:xfrm>
          <a:prstGeom prst="rect">
            <a:avLst/>
          </a:prstGeom>
          <a:solidFill>
            <a:srgbClr val="7C2D1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105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0" y="1783080"/>
            <a:ext cx="2286000" cy="301752"/>
          </a:xfrm>
          <a:prstGeom prst="rect">
            <a:avLst/>
          </a:prstGeom>
          <a:solidFill>
            <a:srgbClr val="7C2D1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0" y="1810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impl.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305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partnerships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103120"/>
            <a:ext cx="3657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130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NPC (10 free + 40 paid)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103120"/>
            <a:ext cx="23774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1305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$28.8K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0" y="2103120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21305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423160"/>
            <a:ext cx="274320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450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423160"/>
            <a:ext cx="365760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4505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LinkSquares (Vendr median)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423160"/>
            <a:ext cx="237744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450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26880" y="2423160"/>
            <a:ext cx="228600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24505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2743200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70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portal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743200"/>
            <a:ext cx="3657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7706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BoardEffect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2743200"/>
            <a:ext cx="23774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2770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26880" y="2743200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0" y="2770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063240"/>
            <a:ext cx="274320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090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/ strategy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1840" y="3063240"/>
            <a:ext cx="365760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3090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ClearPoint Strategy Professional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3063240"/>
            <a:ext cx="237744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3090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326880" y="3063240"/>
            <a:ext cx="228600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0" y="30906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383280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410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SOP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91840" y="3383280"/>
            <a:ext cx="3657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3410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Onspring (entry)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49440" y="3383280"/>
            <a:ext cx="23774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3410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326880" y="3383280"/>
            <a:ext cx="22860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18320" y="34107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3703320"/>
            <a:ext cx="274320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730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91840" y="3703320"/>
            <a:ext cx="365760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0" y="3730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Advanced (100 seats)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949440" y="3703320"/>
            <a:ext cx="237744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0" y="3730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326880" y="3703320"/>
            <a:ext cx="2286000" cy="301752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18320" y="37307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4023360"/>
            <a:ext cx="274320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4050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91840" y="4023360"/>
            <a:ext cx="365760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83280" y="4050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949440" y="4023360"/>
            <a:ext cx="237744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40880" y="40507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$129K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326880" y="4023360"/>
            <a:ext cx="228600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18320" y="4050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$55K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8640" y="4343400"/>
            <a:ext cx="274320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43708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TCO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291840" y="4343400"/>
            <a:ext cx="365760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83280" y="4370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49440" y="4343400"/>
            <a:ext cx="237744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40880" y="4370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~$184K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326880" y="4343400"/>
            <a:ext cx="228600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18320" y="4370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48640" y="4663440"/>
            <a:ext cx="274320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4690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Y2+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291840" y="4663440"/>
            <a:ext cx="365760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83280" y="46908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949440" y="4663440"/>
            <a:ext cx="237744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40880" y="46908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~$129K / yr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326880" y="4663440"/>
            <a:ext cx="2286000" cy="301752"/>
          </a:xfrm>
          <a:prstGeom prst="rect">
            <a:avLst/>
          </a:prstGeom>
          <a:solidFill>
            <a:srgbClr val="F4E8D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418320" y="46908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48640" y="5166360"/>
            <a:ext cx="11064240" cy="86868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" y="5166360"/>
            <a:ext cx="10972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68680" y="52578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Standard tier: $30K–$60K / year. </a:t>
            </a:r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One-third to one-quarter the stitched-stack TCO. </a:t>
            </a:r>
            <a:pPr indent="0" marL="0">
              <a:buNone/>
            </a:pPr>
            <a:r>
              <a:rPr lang="en-US" sz="1300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AI included, full integration, six-language parity, Global South-built. Adeso runs on it today.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Bind (DocuSign / Ironclad / LinkSquares 2026); Vendr Marketplace; imBoard; SaaSWorthy (ClearPoint); SmartSuite (Onspring); G2 (Asana); Salesforce / Zeffy (NPC). Stitched-stack profile: $10–25M revenue, ~100 staff, ~15 board.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ELEVATE MAKES NGOS TRUSTED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 Loop — capacity is the moat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AF5F2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baseline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9464" y="3063240"/>
            <a:ext cx="118872" cy="320040"/>
          </a:xfrm>
          <a:prstGeom prst="rightArrow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2377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4E8DC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892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+ governance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8304" y="3063240"/>
            <a:ext cx="118872" cy="320040"/>
          </a:xfrm>
          <a:prstGeom prst="rightArrow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377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AF5F2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+ Grant 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67144" y="3063240"/>
            <a:ext cx="118872" cy="320040"/>
          </a:xfrm>
          <a:prstGeom prst="rightArrow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2377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4E8DC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Passport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15984" y="3063240"/>
            <a:ext cx="118872" cy="320040"/>
          </a:xfrm>
          <a:prstGeom prst="rightArrow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2377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AF5F2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donors via Marketplace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26280"/>
            <a:ext cx="109728" cy="14630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6634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proven on Adeso's own 9-month operational transformation. </a:t>
            </a:r>
            <a:pPr indent="0" marL="0">
              <a:buNone/>
            </a:pPr>
            <a:r>
              <a:rPr lang="en-US" sz="14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the donor pays for: </a:t>
            </a:r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maturity uplift against a structured baseline assessment. </a:t>
            </a:r>
            <a:pPr indent="0" marL="0">
              <a:buNone/>
            </a:pPr>
            <a:r>
              <a:rPr lang="en-US" sz="1300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baseline for first-attempt Tier-1 capacity assessment success is typically below 30%.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KUJA ERP ADDS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paths are AI-driven. ERP changes batched to real-time.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603504"/>
          </a:xfrm>
          <a:prstGeom prst="rect">
            <a:avLst/>
          </a:prstGeom>
          <a:solidFill>
            <a:srgbClr val="7C2D1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3677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600200"/>
            <a:ext cx="4434840" cy="603504"/>
          </a:xfrm>
          <a:prstGeom prst="rect">
            <a:avLst/>
          </a:prstGeom>
          <a:solidFill>
            <a:srgbClr val="7C2D1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63677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AI (no ERP)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60920" y="1600200"/>
            <a:ext cx="4434840" cy="603504"/>
          </a:xfrm>
          <a:prstGeom prst="rect">
            <a:avLst/>
          </a:prstGeom>
          <a:solidFill>
            <a:srgbClr val="7C2D1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63677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Kuja ERP (integrated)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23774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7685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experience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240280"/>
            <a:ext cx="44348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27685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draft applications + structure voice/photo evidence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0920" y="2240280"/>
            <a:ext cx="44348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227685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AI helps the NGO end-to-end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2377440" cy="603504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169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880360"/>
            <a:ext cx="4434840" cy="603504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91693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NGO-submitted reports against the agreement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2880360"/>
            <a:ext cx="4434840" cy="603504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91693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ledger; real-time burn rate + variance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23774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5701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3520440"/>
            <a:ext cx="44348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55701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AI summaries with per-criterion citations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60920" y="3520440"/>
            <a:ext cx="44348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355701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reviewer AI unchanged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2377440" cy="603504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9709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0" y="4160520"/>
            <a:ext cx="4434840" cy="603504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419709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reporting cycle — point-in-time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0920" y="4160520"/>
            <a:ext cx="4434840" cy="603504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419709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Real-time. Spend events flow as they happen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00600"/>
            <a:ext cx="23774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3717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926080" y="4800600"/>
            <a:ext cx="44348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483717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60920" y="4800600"/>
            <a:ext cx="443484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483717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individual spend event, at the moment of entry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440680"/>
            <a:ext cx="2377440" cy="603504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47725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/ anomaly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26080" y="5440680"/>
            <a:ext cx="4434840" cy="603504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547725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raised when reports come 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60920" y="5440680"/>
            <a:ext cx="4434840" cy="603504"/>
          </a:xfrm>
          <a:prstGeom prst="rect">
            <a:avLst/>
          </a:prstGeom>
          <a:solidFill>
            <a:srgbClr val="FAF5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547725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the day a line crosses threshold — before quarter end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ERP product — opt-in integration with Grant. Donor + NGO that opt in get real-time visibility. Donor + NGO that opt out fall back to the standard AI-driven Grant compliance — fully functional.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the operating system — not a chatbot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cites its source.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03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Tenant-specific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rubrics, YOUR thresholds.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103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0372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743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scores, classifies, extracts.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20116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E8DC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103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9264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Fallback-aware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2743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path always available.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31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languages parity; Whisper fallback.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840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931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1480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Per-endpoint failure-rate telemetry.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840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931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0372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caching. Haiku for transforms.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15400" y="3840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7C2D12"/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9319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9006840" y="4892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 today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AI MOMENT FOR NONPROFIT TECH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is universal. Impact is not. The window is open.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nonprofits use AI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29768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major organizational impact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0467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NOT yet using AI to screen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192024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49040"/>
            <a:ext cx="109728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886200"/>
            <a:ext cx="10424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Adoption-vs-impact gap is the AI-native challenger's opening. </a:t>
            </a:r>
            <a:pPr indent="0" marL="0">
              <a:buNone/>
            </a:pPr>
            <a:r>
              <a:rPr lang="en-US" sz="14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Submittable, Salesforce Einstein for Nonprofit Cloud, Bonterra Funder Intelligence — all bolting AI onto rigid data models built before the AI era. Fluxx has no shipped AI features as of 2025. </a:t>
            </a:r>
            <a:pPr indent="0" marL="0">
              <a:buNone/>
            </a:pPr>
            <a:r>
              <a:rPr lang="en-US" sz="1400" b="1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Funder-side AI is essentially greenfield. </a:t>
            </a:r>
            <a:pPr indent="0" marL="0">
              <a:buNone/>
            </a:pPr>
            <a:r>
              <a:rPr lang="en-US" sz="14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$500M Humanity AI (Ford, MacArthur + 8 others, Oct 2025) + Gates AI Principles for Development create grounding/explainability requirements legacy stacks cannot meet.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Virtuous + Fundraising.AI 2026 Nonprofit AI Adoption Report (NonProfit PRO summary); Candid 2024 — funders' insights on AI-generated proposals; Ford Foundation Oct 2025 announcement; Plinth 2025 grant-management comparison.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MULTILINGUAL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Mainstream LLMs do not yet serve the markets we serve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&gt;98%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African languages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by mainstream LLMs (arXiv:2502.19582)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4E8DC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9202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&lt;600 hrs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46520" y="3154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training on Yoruba + Hausa combined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8404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~680K hours total across 96 languages (arXiv:2512.10968)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7492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663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Kuja's 6-language platform parity, Whisper fallback for Somali / Swahili / Arabic, and confidence-band UI for low-resource languages </a:t>
            </a:r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designed for exactly this gap.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three motions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91640" y="233172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 / INGO Motion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— 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Foundations, INGOs, family offices, bilateral donors, DAFs.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— 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Grant + Elevate + ERP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AF5F2"/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886200"/>
            <a:ext cx="777240" cy="77724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91640" y="374904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Motion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— 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secretariats running peer-governed pooled funds. NEAR is the reference + lead pilot prospect.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— 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Grant + Marketplace (tenanted) + governance primitives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E8D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5303520"/>
            <a:ext cx="777240" cy="7772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303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691640" y="516636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Hosted Network Motion</a:t>
            </a:r>
            <a:pPr indent="0" marL="0">
              <a:buNone/>
            </a:pPr>
            <a:r>
              <a:rPr lang="en-US" sz="10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NEW IN V3.4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— 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and DAFs that want network-grade trust without running their own.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— 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Marketplace + Grant + optional Elevate sponsorship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 — NEW IN V3.4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Kuja-hosted network: for foundations without their own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371600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109728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opportunity. </a:t>
            </a:r>
            <a:pPr indent="0" marL="0">
              <a:buNone/>
            </a:pPr>
            <a:r>
              <a:rPr lang="en-US" sz="14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small-to-mid foundations and family offices want the peer-governed network funding model but cannot justify the overhead of running their own network secretariat. Until now the only choices were build-your-own (expensive) or fall back to direct-to-NGO (loses the network benefit).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AF5F2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get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pre-vetted NGO pool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AI-matched recommendations with citations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Profile + audit chain by default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cohort reviews (new NGOs by sector &amp; geo)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Elevate sponsorship for grantee uplift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36576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buys this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4206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without their own grantee network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offices with charitable arms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DAFs (Fidelity, Schwab, Vanguard Charitable, etc.)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philanthropy entering Global South work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$30K–$80K annual + per-grant fee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buyer segments — each with its own motion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39696"/>
            <a:ext cx="868680" cy="438912"/>
          </a:xfrm>
          <a:prstGeom prst="roundRect">
            <a:avLst>
              <a:gd name="adj" fmla="val 10417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39696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213969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secretariats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2139696"/>
            <a:ext cx="5349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Marketplace tenanted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868680" cy="438912"/>
          </a:xfrm>
          <a:prstGeom prst="roundRect">
            <a:avLst>
              <a:gd name="adj" fmla="val 1041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06624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270662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/ Philanthropy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706624"/>
            <a:ext cx="5349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sponsored Elevate + ERP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868680" cy="438912"/>
          </a:xfrm>
          <a:prstGeom prst="roundRect">
            <a:avLst>
              <a:gd name="adj" fmla="val 1041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73552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27355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/ Government donors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273552"/>
            <a:ext cx="5349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sponsored Elevate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868680" cy="438912"/>
          </a:xfrm>
          <a:prstGeom prst="roundRect">
            <a:avLst>
              <a:gd name="adj" fmla="val 1041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8404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INGOs running grant programs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3840480"/>
            <a:ext cx="5349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Elevate + sub-grant Marketplace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07408"/>
            <a:ext cx="868680" cy="438912"/>
          </a:xfrm>
          <a:prstGeom prst="roundRect">
            <a:avLst>
              <a:gd name="adj" fmla="val 1041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0740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440740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4407408"/>
            <a:ext cx="5349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subsidised + Elevate via sponsor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74336"/>
            <a:ext cx="868680" cy="438912"/>
          </a:xfrm>
          <a:prstGeom prst="roundRect">
            <a:avLst>
              <a:gd name="adj" fmla="val 1041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74336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497433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offices / Corporate / DAFs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4974336"/>
            <a:ext cx="5349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Marketplace + Grant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41264"/>
            <a:ext cx="868680" cy="438912"/>
          </a:xfrm>
          <a:prstGeom prst="roundRect">
            <a:avLst>
              <a:gd name="adj" fmla="val 10417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541264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00200" y="554126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 / Regional partners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5541264"/>
            <a:ext cx="5349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+ Elevate playbooks (channel)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paths to first deployment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AF5F2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5661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756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Pilot</a:t>
            </a:r>
            <a:pPr indent="0" marL="0">
              <a:buNone/>
            </a:pPr>
            <a:r>
              <a:rPr lang="en-US" sz="900" b="1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$25K–$50K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90–120 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5643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high-urgency workflow runs end-to-end on Kuja Grant. Foundation keeps its existing stack for everything else.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4864608"/>
            <a:ext cx="3200400" cy="0"/>
          </a:xfrm>
          <a:prstGeom prst="line">
            <a:avLst/>
          </a:prstGeom>
          <a:noFill/>
          <a:ln w="6350">
            <a:solidFill>
              <a:srgbClr val="D8D2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9377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pilot: </a:t>
            </a:r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entry barrier. Highest learning velocity. Where every first-time foundation conversation should start.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011680"/>
            <a:ext cx="3566160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0756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 Cohort Pilot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651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$100K–$400K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345643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sponsors 5 grantees onto Grant, Elevate, or ERP — or the bundle. Measurable maturity uplift per grantee.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4864608"/>
            <a:ext cx="3200400" cy="0"/>
          </a:xfrm>
          <a:prstGeom prst="line">
            <a:avLst/>
          </a:prstGeom>
          <a:noFill/>
          <a:ln w="6350">
            <a:solidFill>
              <a:srgbClr val="D8D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9377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pilot: </a:t>
            </a:r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Elevate trust-building. Convert grantees to recurring Kuja Grant + ERP by Year 2–3. 3-year LTV $235K per grantee.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20116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AF5F2"/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011680"/>
            <a:ext cx="3566160" cy="5029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0756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Tenant Pilot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2651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$60K–$150K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to go-live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345643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secretariat runs one full Crisis Monitoring + Declaration + Award cycle on their own hosted Kuja tenant.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4864608"/>
            <a:ext cx="3200400" cy="0"/>
          </a:xfrm>
          <a:prstGeom prst="line">
            <a:avLst/>
          </a:prstGeom>
          <a:noFill/>
          <a:ln w="6350">
            <a:solidFill>
              <a:srgbClr val="D8D2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9377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pilot: </a:t>
            </a:r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motion proof point. 3-year LTV $360K–$630K per network. NEAR is the reference architecture.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 LAND-AND-EXPAND 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deliberate steps over three years — each a separate buying decision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41832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9418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93392"/>
            <a:ext cx="594360" cy="5943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 </a:t>
            </a:r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Pilot</a:t>
            </a:r>
            <a:pPr indent="0" marL="0">
              <a:buNone/>
            </a:pPr>
            <a:r>
              <a:rPr lang="en-US" sz="11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Year 1, Q1–Q2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$25K–$50K. Single workflow runs end-to-end. Cycle-time and per-criterion evidence proof points.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1064240" cy="941832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62072"/>
            <a:ext cx="109728" cy="9418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026664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266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9077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 </a:t>
            </a:r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Bundle (Platform + Advisory) for 5-grantee cohort</a:t>
            </a:r>
            <a:pPr indent="0" marL="0">
              <a:buNone/>
            </a:pPr>
            <a:r>
              <a:rPr lang="en-US" sz="11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Year 1, Q3+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31927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$200K–$375K. Diagnose + Improve + Automate. Trust Profile + Capacity Passport per grantee.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64240" cy="941832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95344"/>
            <a:ext cx="109728" cy="94183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59936"/>
            <a:ext cx="594360" cy="59436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599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54480" y="394106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Cement  </a:t>
            </a:r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donor-sponsored for the strongest grantees</a:t>
            </a:r>
            <a:pPr indent="0" marL="0">
              <a:buNone/>
            </a:pPr>
            <a:r>
              <a:rPr lang="en-US" sz="11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Year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35254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$32K + add-on per grantee. Wires into Grant — real-time financial visibility for the donor.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928616"/>
            <a:ext cx="11064240" cy="941832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928616"/>
            <a:ext cx="109728" cy="9418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093208"/>
            <a:ext cx="594360" cy="59436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93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54480" y="497433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  </a:t>
            </a:r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Grantee transitions to grantee-paid; foundation expands into next cohort</a:t>
            </a:r>
            <a:pPr indent="0" marL="0">
              <a:buNone/>
            </a:pPr>
            <a:r>
              <a:rPr lang="en-US" sz="11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Year 3+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38581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spend on original cohort goes down; ARR with the foundation compounds.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separate buying decision. The foundation can stop at Step 1, 2, or 3. Each platform layer is fully usable on its own. Expansion is gravity, not a forced upsell.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BENCHMARKED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pricing vs verified competitor benchmarks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91840" cy="256032"/>
          </a:xfrm>
          <a:prstGeom prst="rect">
            <a:avLst/>
          </a:prstGeom>
          <a:solidFill>
            <a:srgbClr val="7C2D1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1790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/ Competitor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0" y="1508760"/>
            <a:ext cx="2926080" cy="256032"/>
          </a:xfrm>
          <a:prstGeom prst="rect">
            <a:avLst/>
          </a:prstGeom>
          <a:solidFill>
            <a:srgbClr val="7C2D1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1517904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/ Starting Price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0" y="1508760"/>
            <a:ext cx="4846320" cy="256032"/>
          </a:xfrm>
          <a:prstGeom prst="rect">
            <a:avLst/>
          </a:prstGeom>
          <a:solidFill>
            <a:srgbClr val="7C2D1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9712" y="1517904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(verified)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792224"/>
            <a:ext cx="329184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01368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(SaaS)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1792224"/>
            <a:ext cx="292608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801368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 subsidized – $120K foundation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1792224"/>
            <a:ext cx="484632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1801368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Six-language, multi-tenant, AI-grounded with citations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075688"/>
            <a:ext cx="329184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084832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Foundant GLM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2075688"/>
            <a:ext cx="292608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13632" y="2084832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~$4,250/year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2075688"/>
            <a:ext cx="484632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2084832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Plinth, 2025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359152"/>
            <a:ext cx="329184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36829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SmartSimple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0" y="2359152"/>
            <a:ext cx="292608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2368296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~$6,000/year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359152"/>
            <a:ext cx="484632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2368296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Plinth, 2025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642616"/>
            <a:ext cx="329184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2651760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GivingData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0" y="2642616"/>
            <a:ext cx="292608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2651760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~$9,950/year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642616"/>
            <a:ext cx="484632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2651760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Plinth, 2025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2926080"/>
            <a:ext cx="329184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293522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Instrumentl (grant discovery)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0" y="2926080"/>
            <a:ext cx="292608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13632" y="2935224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$299–$999/month tiered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2926080"/>
            <a:ext cx="484632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9712" y="2935224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Capterra, 2025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3209544"/>
            <a:ext cx="329184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3218688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Fluxx / Submittable / Salesforce / Bonterra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0" y="3209544"/>
            <a:ext cx="292608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3632" y="3218688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quote — not public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3209544"/>
            <a:ext cx="484632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9712" y="3218688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sites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3493008"/>
            <a:ext cx="329184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3502152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Platform (SaaS)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40480" y="3493008"/>
            <a:ext cx="292608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3632" y="3502152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$8K–$25K / NGO / year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766560" y="3493008"/>
            <a:ext cx="484632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9712" y="3502152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Self-serve. Assessment + policy library + AI policy drafting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8640" y="3776472"/>
            <a:ext cx="329184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378561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Advisory (services)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840480" y="3776472"/>
            <a:ext cx="292608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13632" y="3785616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$32K–$50K / grantee, one-time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766560" y="3776472"/>
            <a:ext cx="484632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39712" y="3785616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Diagnose + Improve + Automate engagement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8640" y="4059936"/>
            <a:ext cx="329184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4069080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Bundle (cohort)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840480" y="4059936"/>
            <a:ext cx="292608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13632" y="4069080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$40K–$75K / grantee (donor-sponsored)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766560" y="4059936"/>
            <a:ext cx="484632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39712" y="4069080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+ Advisory + 6mo support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48640" y="4343400"/>
            <a:ext cx="329184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435254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Big-4 East Africa (directional)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840480" y="4343400"/>
            <a:ext cx="292608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13632" y="4352544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$1,500–$3,000/day, ~$150K–$300K/engagement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766560" y="4343400"/>
            <a:ext cx="484632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39712" y="4352544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Consultancy.africa — not benchmarked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8640" y="4626864"/>
            <a:ext cx="329184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1792" y="4636008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ERP — 3 components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840480" y="4626864"/>
            <a:ext cx="292608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913632" y="4636008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+ License + Donor add-on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766560" y="4626864"/>
            <a:ext cx="4846320" cy="256032"/>
          </a:xfrm>
          <a:prstGeom prst="rect">
            <a:avLst/>
          </a:prstGeom>
          <a:solidFill>
            <a:srgbClr val="F4E8DC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39712" y="4636008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product; opt-in integration with Grant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48640" y="4910328"/>
            <a:ext cx="329184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1792" y="4919472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Implementation (one-time)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840480" y="4910328"/>
            <a:ext cx="292608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13632" y="4919472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$20K–$90K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766560" y="4910328"/>
            <a:ext cx="484632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39712" y="4919472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+ complexity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48640" y="5193792"/>
            <a:ext cx="329184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1792" y="520293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Annual license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840480" y="5193792"/>
            <a:ext cx="292608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913632" y="5202936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$12K–$80K / yr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766560" y="5193792"/>
            <a:ext cx="484632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39712" y="5202936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size + seats + modules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48640" y="5477256"/>
            <a:ext cx="329184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1792" y="5486400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Donor visibility add-on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840480" y="5477256"/>
            <a:ext cx="292608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13632" y="5486400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$6K–$24K / donor / yr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766560" y="5477256"/>
            <a:ext cx="484632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39712" y="5486400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integrated mode — real-time grant spend visibility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48640" y="5760720"/>
            <a:ext cx="329184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1792" y="576986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Sage Intacct Nonprofit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840480" y="5760720"/>
            <a:ext cx="292608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913632" y="5769864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$15K–$50K/yr + $30K–$75K impl.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766560" y="5760720"/>
            <a:ext cx="484632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839712" y="5769864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Partners; ERP Research, 2025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48640" y="6044184"/>
            <a:ext cx="329184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1792" y="6053328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NetSuite Social Impact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840480" y="6044184"/>
            <a:ext cx="292608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913632" y="6053328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public; typically 1.5×–2.5× Sage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766560" y="6044184"/>
            <a:ext cx="4846320" cy="256032"/>
          </a:xfrm>
          <a:prstGeom prst="rect">
            <a:avLst/>
          </a:prstGeom>
          <a:solidFill>
            <a:srgbClr val="FAF5F2"/>
          </a:solidFill>
          <a:ln w="3175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839712" y="6053328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Research, 2025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foundation-grade vendors (Fluxx, Submittable, Salesforce, Bonterra) require enterprise sales for pricing — published numbers are starting tiers only.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DONOR MOTION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Per-grantee LTV: Year-1 donor-paid → Year-3 grantee-paid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AF5F2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$40K–$50K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Bundle (Platform + Advisory)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Donor-paid 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AF5F2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331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27889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$70K–$90K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29768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4297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Platform + Grant + donor-sponsored ERP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donor + grantee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1945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AF5F2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331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7889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$100K–$130K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04672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297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Platform + Grant + ERP — grantee-paid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grantee-paid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65099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LTV per grantee: $235K  ·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≥ 3:1  ·  </a:t>
            </a:r>
            <a:pPr algn="ctr" indent="0" marL="0">
              <a:buNone/>
            </a:pPr>
            <a:r>
              <a:rPr lang="en-US" sz="13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pays acquisition; Kuja pays retention.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 — CONSERVATIVE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Profitable from 2029 on $3M+ ARR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148840"/>
            <a:ext cx="50329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1929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706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816352"/>
            <a:ext cx="754929" cy="411480"/>
          </a:xfrm>
          <a:prstGeom prst="rect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6529" y="27706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80160" y="3483864"/>
            <a:ext cx="2138964" cy="411480"/>
          </a:xfrm>
          <a:prstGeom prst="rect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0564" y="343814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10565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4151376"/>
            <a:ext cx="4403750" cy="411480"/>
          </a:xfrm>
          <a:prstGeom prst="rect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5350" y="41056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7731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80160" y="4818888"/>
            <a:ext cx="7863840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47731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0" y="2103120"/>
            <a:ext cx="2011680" cy="36576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2103120"/>
            <a:ext cx="109728" cy="3657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38360" y="260604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(paid tenants)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cohort pilots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Grant-only pilots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Network (new motion)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implementations Y2+</a:t>
            </a:r>
            <a:endParaRPr lang="en-US" sz="1000" dirty="0"/>
          </a:p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expansions Y3+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H2 2028 · Profitable from 2029 · Ambitious scenario reaches $2.4M in 2027 with $1.5M growth capital injected H2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offers all four pillars on one trust record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6858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109728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2057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 (no AI), Submittable, Salesforce Einstein, Foundant, Bonterra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AI-grounded with citations · 6 languages · multi-tenant · audit chain · per-criterion evidence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685800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109728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34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Transform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Big-4 advisory, Humentum, INGO-led capacity strengthening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Productized (not bespoke) · 6 languages · methodology proven on Adeso's own ops · platform-integrated output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6858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66160"/>
            <a:ext cx="109728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11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ERP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Intacct ($15-50K/yr), NetSuite (1.5-2.5× Sage), QuickBooks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(verified absence in competitors) · 6 languages · country payroll modules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685800"/>
          </a:xfrm>
          <a:prstGeom prst="rect">
            <a:avLst/>
          </a:prstGeom>
          <a:solidFill>
            <a:srgbClr val="F4E8DC"/>
          </a:solidFill>
          <a:ln w="6350">
            <a:solidFill>
              <a:srgbClr val="F4E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43400"/>
            <a:ext cx="109728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89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GlobalGiving (5-12% fee), Candid ($55-220/mo), Instrumentl ($299-999/mo)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institutional matching · Trust Passport portability · workflow-integrated · Hosted Network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64240" cy="6858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20640"/>
            <a:ext cx="10972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Pooled Funds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5166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pPr indent="0" marL="0">
              <a:buNone/>
            </a:pPr>
            <a:r>
              <a:rPr lang="en-US" sz="105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(uncontested — no commercial SaaS competitor identified)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· Start Fund's platform not sold · unlimited tenants · data-portable spin-out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Platform-shipped, production-tested, Global-South-built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7C2D12"/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coverage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 sustained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5394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34640" y="5394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10312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Adeso's own 9-month operational transformation became Kuja Elevate. </a:t>
            </a:r>
            <a:pPr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selling theory.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co-founded NEAR in 2016. NEAR is the reference architecture + lead pilot prospect for the Networks motion.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 (EN, FR, AR, SW, SO, ES). Mobile-first. Seven country registries pre-mapped.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is integral, not bolted on. Competitors would rewrite their data model to match.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deploys. 100+ commits in the last sprint.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the truth about risks. NEAR_BACKLOG.md is the open gap list.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still working out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28016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10972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at scale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to 5-grantee pilots. Senior consultants in each region. INGO partnerships for methodology validation.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5394960" cy="128016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10972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concentration Y1–Y2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pilots by motion. Land-and-expand inside each customer. Annual contracts + quarterly reviews.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394960" cy="128016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20440"/>
            <a:ext cx="10972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adoption (behavior change)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platform support per Elevate. Voice + photo intake. 6 languages at parity. Mobile-first.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520440"/>
            <a:ext cx="5394960" cy="128016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520440"/>
            <a:ext cx="10972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/ failure / hallucination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977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caching. Per-org budget gates. Citations on every output. Fallbacks everywhere. /admin/ai-telemetry surfaces drift.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394960" cy="128016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37760"/>
            <a:ext cx="10972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pen-test Q3 2026 before second paid network tenant. SLOW_REQUEST observability already live.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937760"/>
            <a:ext cx="5394960" cy="128016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937760"/>
            <a:ext cx="10972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scaling (consultants)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53949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Remote-Africa hiring. Structured 12–18mo associate → consultant program. BPO partners in underserved markets.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· June 2026 · V7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 depends on who you 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868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run a network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92024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to walk you through our Networks architecture and the NEAR reference tenant. Then a 6-week tenant pilot — Crisis Monitoring + Declaration cycle. You become one of three reference tenants in 2026.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73152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803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fund the Global South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88036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90-day Grant Pilot ($25K–$50K) — single workflow, no long procurement. Expand to Elevate and ERP for the grantees where it makes sense.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73152" cy="8686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04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a foundation or DAF without your own 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8404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Hosted Network motion. Network-grade trust + curated NGO access without operating a secretariat. $30K–$80K annual subscription to start.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73152" cy="86868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8006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a growth-stage funder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480060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$1.5M–$2.5M over 18 months in 3 milestone tranches. Conservative case profitable from 2029 on $3M+ ARR.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   ·   https://web-production-6f8a.up.railway.app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claim in this deck is traceable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0574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2057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landscape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Preliminary 2025 Data (April 2026)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Tracker — USAID closure 2025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via Malay Mail — Rubio 83% USAID cancellation (10 Mar 2025)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Commons Library CBP-10243 (UK FCDO)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UK — ODA allocations (Mar 2026)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News on Canada Budget 2025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Devex + Donor Tracker on Sida (Sweden)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94960" cy="20574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691640"/>
            <a:ext cx="109728" cy="2057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+ foundations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148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Initiatives — Funding to LNAs (2025)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ALNAP / GHA Report 2025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— Private Philanthropy for Development 3rd Ed. (Dec 2025)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News — MacKenzie Scott 2025 donations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Foundation — BUILD program expansion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 Foundation Annual Report 2024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94960" cy="20574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31920"/>
            <a:ext cx="109728" cy="2057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nonprofits + grantmakers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Virtuous + Fundraising.AI — 2026 Nonprofit AI Adoption Report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 — Funders' insights on AI proposals (2024)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Foundation — Humanity AI announcement (Oct 2025)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Foundation — AI Principles for Development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TechSoup + Tapp Network — State of AI in Nonprofits (2025)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BDO — Nonprofit Standards Benchmarking Survey (2024)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394960" cy="2057400"/>
          </a:xfrm>
          <a:prstGeom prst="rect">
            <a:avLst/>
          </a:prstGeom>
          <a:solidFill>
            <a:srgbClr val="FAF5F2"/>
          </a:solidFill>
          <a:ln w="635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931920"/>
            <a:ext cx="109728" cy="2057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+ competitor pricing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4389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arXiv:2502.19582 — Evaluating LLM Performance on African Languages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arXiv:2512.10968 — Benchmarking ASR for African Languages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AIES 2025 — Invisible Filters bias study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Partners + ERP Research — Sage Intacct nonprofit pricing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Plinth (2025) — Grant Management Systems Compared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Capterra listings + vendor pages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GlobalGiving fees article (2025); Start Network (2025)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bibliography in the strategy document (V3.4, Section 19).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— One Platform, Three Motions</dc:title>
  <dc:subject>Kuja Pitch Deck V7 — June 2026</dc:subject>
  <dc:creator>PptxGenJS</dc:creator>
  <cp:lastModifiedBy>PptxGenJS</cp:lastModifiedBy>
  <cp:revision>1</cp:revision>
  <dcterms:created xsi:type="dcterms:W3CDTF">2026-06-18T02:16:55Z</dcterms:created>
  <dcterms:modified xsi:type="dcterms:W3CDTF">2026-06-18T02:16:55Z</dcterms:modified>
</cp:coreProperties>
</file>