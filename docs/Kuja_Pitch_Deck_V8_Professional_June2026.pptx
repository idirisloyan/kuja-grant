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A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94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ADESO  ·  NAIROBI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1691640"/>
            <a:ext cx="10911535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KUJA</a:t>
            </a:r>
            <a:endParaRPr lang="en-US" sz="22000" dirty="0"/>
          </a:p>
        </p:txBody>
      </p:sp>
      <p:sp>
        <p:nvSpPr>
          <p:cNvPr id="4" name="Shape 2"/>
          <p:cNvSpPr/>
          <p:nvPr/>
        </p:nvSpPr>
        <p:spPr>
          <a:xfrm>
            <a:off x="640080" y="3749040"/>
            <a:ext cx="1097280" cy="4114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3931920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i="1" dirty="0">
                <a:solidFill>
                  <a:srgbClr val="F4E8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Locally-led funding, at network speed.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4572000"/>
            <a:ext cx="109115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platform. Four products. Built for the Global South.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V8  ·  June 2026  ·  Confidential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894015" y="6355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kuja@adeso.org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MOMENT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aid system has been rebuilt in real time.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40080" y="21488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numbers that define the next decade of locally-led funding.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" y="283464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154680"/>
            <a:ext cx="3515258" cy="1554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−23.1%</a:t>
            </a:r>
            <a:endParaRPr lang="en-US" sz="8000" dirty="0"/>
          </a:p>
        </p:txBody>
      </p:sp>
      <p:sp>
        <p:nvSpPr>
          <p:cNvPr id="9" name="Shape 7"/>
          <p:cNvSpPr/>
          <p:nvPr/>
        </p:nvSpPr>
        <p:spPr>
          <a:xfrm>
            <a:off x="640080" y="4754880"/>
            <a:ext cx="548640" cy="2286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4873752"/>
            <a:ext cx="351525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OECD ODA real-terms decline in 2025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5276088"/>
            <a:ext cx="351525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annual decline ever recorded. Germany overtook the US as the #1 donor.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338218" y="3154680"/>
            <a:ext cx="3515258" cy="1554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7C2D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86%</a:t>
            </a:r>
            <a:endParaRPr lang="en-US" sz="8000" dirty="0"/>
          </a:p>
        </p:txBody>
      </p:sp>
      <p:sp>
        <p:nvSpPr>
          <p:cNvPr id="13" name="Shape 11"/>
          <p:cNvSpPr/>
          <p:nvPr/>
        </p:nvSpPr>
        <p:spPr>
          <a:xfrm>
            <a:off x="4338218" y="4754880"/>
            <a:ext cx="548640" cy="22860"/>
          </a:xfrm>
          <a:prstGeom prst="rect">
            <a:avLst/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38218" y="4873752"/>
            <a:ext cx="351525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USAID programs terminated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338218" y="5276088"/>
            <a:ext cx="351525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5,341 contracts cancelled · $75.9B in program value · USAID closed July 2025.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036357" y="3154680"/>
            <a:ext cx="3515258" cy="1554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$32B</a:t>
            </a:r>
            <a:endParaRPr lang="en-US" sz="8000" dirty="0"/>
          </a:p>
        </p:txBody>
      </p:sp>
      <p:sp>
        <p:nvSpPr>
          <p:cNvPr id="17" name="Shape 15"/>
          <p:cNvSpPr/>
          <p:nvPr/>
        </p:nvSpPr>
        <p:spPr>
          <a:xfrm>
            <a:off x="8036357" y="4754880"/>
            <a:ext cx="548640" cy="228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36357" y="4873752"/>
            <a:ext cx="351525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US foreign aid 2025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036357" y="5276088"/>
            <a:ext cx="351525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 from ~$68B in 2024. Bilateral cuts of 33–56% across UK, Sweden, Canada.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598932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OECD Apr 2026 · Donor Tracker · Reuters · House of Commons Library CBP-10243 · CBC News.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008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011680" y="6400800"/>
            <a:ext cx="78025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  ·  V8  ·  Confidential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CRISIS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Localization has failed.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40080" y="21488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decade of pledges. The numbers have not moved.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" y="278892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3108960"/>
            <a:ext cx="5272888" cy="2834640"/>
          </a:xfrm>
          <a:prstGeom prst="rect">
            <a:avLst/>
          </a:prstGeom>
          <a:solidFill>
            <a:srgbClr val="F4E8DC"/>
          </a:solidFill>
          <a:ln w="12700">
            <a:solidFill>
              <a:srgbClr val="F4E8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3337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PROMISE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370332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0" b="1" dirty="0">
                <a:solidFill>
                  <a:srgbClr val="4A7C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25%</a:t>
            </a:r>
            <a:endParaRPr lang="en-US" sz="13000" dirty="0"/>
          </a:p>
        </p:txBody>
      </p:sp>
      <p:sp>
        <p:nvSpPr>
          <p:cNvPr id="11" name="Text 9"/>
          <p:cNvSpPr/>
          <p:nvPr/>
        </p:nvSpPr>
        <p:spPr>
          <a:xfrm>
            <a:off x="1005840" y="5303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 Bargain target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05840" y="56235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funding to local &amp; national actors. Signed by 60+ donors in 2016.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78728" y="3108960"/>
            <a:ext cx="5272888" cy="283464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44488" y="3337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REALITY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644488" y="370332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3.8%</a:t>
            </a:r>
            <a:endParaRPr lang="en-US" sz="13000" dirty="0"/>
          </a:p>
        </p:txBody>
      </p:sp>
      <p:sp>
        <p:nvSpPr>
          <p:cNvPr id="16" name="Text 14"/>
          <p:cNvSpPr/>
          <p:nvPr/>
        </p:nvSpPr>
        <p:spPr>
          <a:xfrm>
            <a:off x="6644488" y="5303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direct funding in 2024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644488" y="56235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Declined roughly one-third from 2023 as international actors deprioritized localization.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598932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Development Initiatives — Falling Short: Funding to LNAs (2025); ALNAP GHA Report 2025.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008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011680" y="6400800"/>
            <a:ext cx="78025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  ·  V8  ·  Confidential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ANSWER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10911535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7C2D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Kuja is the operating system for locally-led funding.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640080" y="4114800"/>
            <a:ext cx="1371600" cy="3657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4343400"/>
            <a:ext cx="927480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AI-native platform. Four integrated products. Shared customer record, shared Trust Profile, shared AI memory, shared audit chain.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5166360"/>
            <a:ext cx="927480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the Global South, FOR the Global South. Adeso runs its own operations on it today.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011680" y="6400800"/>
            <a:ext cx="78025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  ·  V8  ·  Confidential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integrated products on one codebase.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one. Adopt all. The data model is shared either way.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" y="278892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0175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3429000"/>
            <a:ext cx="457200" cy="36576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566160"/>
            <a:ext cx="26135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Marketplace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40080" y="4160520"/>
            <a:ext cx="252214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and ecosystem connectivity. NGOs publish their Trust Passport; donors discover with AI-grounded recommendations.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0080" y="5760720"/>
            <a:ext cx="26135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" y="5961888"/>
            <a:ext cx="26135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for NGOs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06064" y="30175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406064" y="3429000"/>
            <a:ext cx="457200" cy="36576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06064" y="3566160"/>
            <a:ext cx="26135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Grant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3406064" y="4160520"/>
            <a:ext cx="252214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grant lifecycle. AI-grounded scoring, six-language reporting, hash-anchored audit trail. 35+ AI surfaces in production.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406064" y="5760720"/>
            <a:ext cx="26135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406064" y="5961888"/>
            <a:ext cx="26135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by org type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72048" y="30175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72048" y="3429000"/>
            <a:ext cx="457200" cy="3657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72048" y="3566160"/>
            <a:ext cx="26135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Elevate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172048" y="4160520"/>
            <a:ext cx="252214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operating system for mid-size NGOs. Eleven modules replacing 6–10 SaaS tools. Adeso runs on it today.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172048" y="5760720"/>
            <a:ext cx="26135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172048" y="5961888"/>
            <a:ext cx="26135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NGO + sponsored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938031" y="30175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938031" y="3429000"/>
            <a:ext cx="457200" cy="36576"/>
          </a:xfrm>
          <a:prstGeom prst="rect">
            <a:avLst/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938031" y="3566160"/>
            <a:ext cx="26135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ERP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8938031" y="4160520"/>
            <a:ext cx="252214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Odoo 17 finance backbone. Standalone product with opt-in real-time donor visibility via Grant integration.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8938031" y="5760720"/>
            <a:ext cx="26135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938031" y="5961888"/>
            <a:ext cx="26135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Donor-sponsored primary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40080" y="5715000"/>
            <a:ext cx="10911535" cy="502920"/>
          </a:xfrm>
          <a:prstGeom prst="rect">
            <a:avLst/>
          </a:prstGeom>
          <a:solidFill>
            <a:srgbClr val="0F0A07"/>
          </a:solidFill>
          <a:ln w="12700">
            <a:solidFill>
              <a:srgbClr val="0F0A0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" y="5779008"/>
            <a:ext cx="104543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Shared: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memory  ·  Trust Profile  ·  Audit chain  ·  Customer record  ·  Identity  ·  Six-language parity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008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011680" y="6400800"/>
            <a:ext cx="78025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  ·  V8  ·  Confidential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1  ·  KUJA GRANT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end-to-end grant lifecycle, AI-grounded.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21488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designs. NGO applies. Reviewers score. Reports are evaluated. Every step grounded with citations.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" y="288036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154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WORKFLOW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520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51560" y="35204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377440" y="35204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configures rubrics, criteria, eligibility — wizard-driven.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4023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51560" y="40233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377440" y="40233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 applies with AI co-author drafting from their own profile.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4526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051560" y="452628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377440" y="45262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panels score per criterion with evidence citations.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5029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051560" y="50292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377440" y="50292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Hard-gated rules enforced at submit. Audit-anchored decisions.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5532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051560" y="55321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377440" y="55321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AI-evaluated against agreement; per-requirement structured signals.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583680" y="3108960"/>
            <a:ext cx="4967935" cy="3291840"/>
          </a:xfrm>
          <a:prstGeom prst="rect">
            <a:avLst/>
          </a:prstGeom>
          <a:solidFill>
            <a:srgbClr val="0F0A07"/>
          </a:solidFill>
          <a:ln w="12700">
            <a:solidFill>
              <a:srgbClr val="0F0A0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0" y="3383280"/>
            <a:ext cx="4419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TODAY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949440" y="3749040"/>
            <a:ext cx="441929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35+</a:t>
            </a:r>
            <a:endParaRPr lang="en-US" sz="9000" dirty="0"/>
          </a:p>
        </p:txBody>
      </p:sp>
      <p:sp>
        <p:nvSpPr>
          <p:cNvPr id="27" name="Text 25"/>
          <p:cNvSpPr/>
          <p:nvPr/>
        </p:nvSpPr>
        <p:spPr>
          <a:xfrm>
            <a:off x="6949440" y="4937760"/>
            <a:ext cx="4419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surfaces in production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949440" y="5394960"/>
            <a:ext cx="548640" cy="1828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49440" y="5532120"/>
            <a:ext cx="441929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Voice-to-report  ·  Photo-as-evidence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949440" y="5733288"/>
            <a:ext cx="441929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rubric scoring with citations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949440" y="5934456"/>
            <a:ext cx="441929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languages at platform parity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949440" y="6135624"/>
            <a:ext cx="441929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54/54 prod regression  ·  19/19 UAT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008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011680" y="6400800"/>
            <a:ext cx="78025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  ·  V8  ·  Confidential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2  ·  KUJA ELEVATE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operating system for mid-size NGOs.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21488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 module families. One platform. Replaces 6–10 stitched SaaS tools.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" y="288036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3108960"/>
            <a:ext cx="3515258" cy="713232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3108960"/>
            <a:ext cx="64008" cy="71323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3182112"/>
            <a:ext cx="314949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&amp;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41248" y="3529584"/>
            <a:ext cx="324093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ClearPoint, Workboard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338218" y="3108960"/>
            <a:ext cx="3515258" cy="713232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38218" y="3108960"/>
            <a:ext cx="64008" cy="71323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39386" y="3182112"/>
            <a:ext cx="314949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Initiatives &amp;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39386" y="3529584"/>
            <a:ext cx="324093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Asana, Monday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036357" y="3108960"/>
            <a:ext cx="3515258" cy="713232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36357" y="3108960"/>
            <a:ext cx="64008" cy="71323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37525" y="3182112"/>
            <a:ext cx="314949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Dev &amp;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37525" y="3529584"/>
            <a:ext cx="324093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Salesforce NPC, HubSpot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40080" y="3959352"/>
            <a:ext cx="3515258" cy="713232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3959352"/>
            <a:ext cx="64008" cy="71323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" y="4032504"/>
            <a:ext cx="314949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 (CLM)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41248" y="4379976"/>
            <a:ext cx="324093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DocuSign CLM, Ironclad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338218" y="3959352"/>
            <a:ext cx="3515258" cy="713232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38218" y="3959352"/>
            <a:ext cx="64008" cy="71323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39386" y="4032504"/>
            <a:ext cx="314949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SOPs &amp; Policies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39386" y="4379976"/>
            <a:ext cx="324093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ConvergePoint, PowerDMS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8036357" y="3959352"/>
            <a:ext cx="3515258" cy="713232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036357" y="3959352"/>
            <a:ext cx="64008" cy="71323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37525" y="4032504"/>
            <a:ext cx="314949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&amp;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237525" y="4379976"/>
            <a:ext cx="324093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BoardEffect, Diligent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40080" y="4809744"/>
            <a:ext cx="3515258" cy="713232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0080" y="4809744"/>
            <a:ext cx="64008" cy="71323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41248" y="4882896"/>
            <a:ext cx="314949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Grants &amp;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41248" y="5230368"/>
            <a:ext cx="324093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Foundant, Submittable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338218" y="4809744"/>
            <a:ext cx="3515258" cy="713232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338218" y="4809744"/>
            <a:ext cx="64008" cy="71323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39386" y="4882896"/>
            <a:ext cx="314949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Departments &amp;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539386" y="5230368"/>
            <a:ext cx="324093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PowerBI / custom dashboards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8036357" y="4809744"/>
            <a:ext cx="3515258" cy="713232"/>
          </a:xfrm>
          <a:prstGeom prst="rect">
            <a:avLst/>
          </a:prstGeom>
          <a:solidFill>
            <a:srgbClr val="F4E8DC"/>
          </a:solidFill>
          <a:ln w="12700">
            <a:solidFill>
              <a:srgbClr val="F4E8D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036357" y="4809744"/>
            <a:ext cx="64008" cy="71323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237525" y="4882896"/>
            <a:ext cx="314949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Co-pilot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8237525" y="5230368"/>
            <a:ext cx="324093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Not in incumbent stacks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40080" y="5806440"/>
            <a:ext cx="10911535" cy="411480"/>
          </a:xfrm>
          <a:prstGeom prst="rect">
            <a:avLst/>
          </a:prstGeom>
          <a:solidFill>
            <a:srgbClr val="0F0A07"/>
          </a:solidFill>
          <a:ln w="12700">
            <a:solidFill>
              <a:srgbClr val="0F0A0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14400" y="5870448"/>
            <a:ext cx="104543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Adeso runs on it today.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KPI reported. Every contract signed. Every board pack generated. Every policy versioned.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64008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2011680" y="6400800"/>
            <a:ext cx="78025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  ·  V8  ·  Confidential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ELEVATE WINS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stitched stack costs three times as much.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none of it talks to each other.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926080"/>
            <a:ext cx="5943600" cy="320040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315468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 ·  THE STITCHED STACK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60120" y="3474720"/>
            <a:ext cx="53949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$184K</a:t>
            </a:r>
            <a:endParaRPr lang="en-US" sz="9000" dirty="0"/>
          </a:p>
        </p:txBody>
      </p:sp>
      <p:sp>
        <p:nvSpPr>
          <p:cNvPr id="11" name="Text 9"/>
          <p:cNvSpPr/>
          <p:nvPr/>
        </p:nvSpPr>
        <p:spPr>
          <a:xfrm>
            <a:off x="960120" y="475488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total cost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60120" y="5120640"/>
            <a:ext cx="457200" cy="1828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5257800"/>
            <a:ext cx="5394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NPC + LinkSquares + BoardEffect + ClearPoint + Onspring + Asana ($129K subscription + $55K implementation). Zero integration. No AI. Six logins.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0" y="2926080"/>
            <a:ext cx="4693615" cy="3200400"/>
          </a:xfrm>
          <a:prstGeom prst="rect">
            <a:avLst/>
          </a:prstGeom>
          <a:solidFill>
            <a:srgbClr val="0F0A07"/>
          </a:solidFill>
          <a:ln w="12700">
            <a:solidFill>
              <a:srgbClr val="0F0A0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78040" y="3154680"/>
            <a:ext cx="4144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ELEVATE STANDARD TIER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178040" y="3474720"/>
            <a:ext cx="414497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$30K–$60K</a:t>
            </a:r>
            <a:endParaRPr lang="en-US" sz="7000" dirty="0"/>
          </a:p>
        </p:txBody>
      </p:sp>
      <p:sp>
        <p:nvSpPr>
          <p:cNvPr id="17" name="Text 15"/>
          <p:cNvSpPr/>
          <p:nvPr/>
        </p:nvSpPr>
        <p:spPr>
          <a:xfrm>
            <a:off x="7178040" y="4754880"/>
            <a:ext cx="41449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NGO per year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178040" y="5120640"/>
            <a:ext cx="457200" cy="1828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78040" y="5257800"/>
            <a:ext cx="414497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platform. AI integrated across every module. Single login. Six-language parity. Adeso runs on it today.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580644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2D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One-third to one-quarter the TCO. </a:t>
            </a:r>
            <a:pPr indent="0" marL="0">
              <a:buNone/>
            </a:pPr>
            <a:r>
              <a:rPr lang="en-US" sz="14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AI included. Plus integration. Plus Adeso reference.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0080" y="6217920"/>
            <a:ext cx="1091153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Bind 2026 · Vendr Marketplace · imBoard · SaaSWorthy · SmartSuite · G2 · Salesforce / Zeffy. Stitched-stack profile: $10–25M revenue, 100 staff, 15 board.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008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011680" y="6400800"/>
            <a:ext cx="78025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  ·  V8  ·  Confidential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3  ·  KUJA ERP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Standalone backbone. Integrated upgrade.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and NGO each choose. Both paths are AI-driven. ERP makes the financial data real-time.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" y="278892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3017520"/>
            <a:ext cx="10911535" cy="502920"/>
          </a:xfrm>
          <a:prstGeom prst="rect">
            <a:avLst/>
          </a:prstGeom>
          <a:solidFill>
            <a:srgbClr val="0F0A07"/>
          </a:solidFill>
          <a:ln w="12700">
            <a:solidFill>
              <a:srgbClr val="0F0A0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34640" y="3063240"/>
            <a:ext cx="4084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Grant + AI  (no ERP)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284568" y="3063240"/>
            <a:ext cx="4084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Grant + Kuja ERP  (integrated)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520440"/>
            <a:ext cx="10911535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56616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reports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834640" y="3566160"/>
            <a:ext cx="4084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evaluates NGO submissions, per criterion, with citations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284568" y="3566160"/>
            <a:ext cx="4084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from the ledger — real-time burn rate &amp; variance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" y="4114800"/>
            <a:ext cx="10911535" cy="594360"/>
          </a:xfrm>
          <a:prstGeom prst="rect">
            <a:avLst/>
          </a:prstGeom>
          <a:solidFill>
            <a:srgbClr val="FAF5F2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16052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cadence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834640" y="4160520"/>
            <a:ext cx="4084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/ monthly point-in-time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284568" y="4160520"/>
            <a:ext cx="4084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as spend events flow in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" y="4709160"/>
            <a:ext cx="10911535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75488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chain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834640" y="4754880"/>
            <a:ext cx="4084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Anchored at each submission event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284568" y="4754880"/>
            <a:ext cx="4084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Anchored at every spend event, at the moment of entry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0080" y="5303520"/>
            <a:ext cx="10911535" cy="594360"/>
          </a:xfrm>
          <a:prstGeom prst="rect">
            <a:avLst/>
          </a:prstGeom>
          <a:solidFill>
            <a:srgbClr val="FAF5F2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534924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variance flags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2834640" y="5349240"/>
            <a:ext cx="4084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Raised when reports come in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284568" y="5349240"/>
            <a:ext cx="4084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Raised the day a line crosses threshold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40080" y="5897880"/>
            <a:ext cx="109115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donor visibility — the wedge no competitor has. </a:t>
            </a:r>
            <a:pPr indent="0" marL="0">
              <a:buNone/>
            </a:pPr>
            <a:r>
              <a:rPr lang="en-US" sz="13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NGO owns its tenant; donors get a role-aware cross-tenant view of the grant-scoped spend across their funded grantees.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008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011680" y="6400800"/>
            <a:ext cx="78025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  ·  V8  ·  Confidential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IS THE PRODUCT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pillars. One tamper-evident chain.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funder asks the same question: how do I know? The answer is a URL.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" y="278892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0175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3310128"/>
            <a:ext cx="365760" cy="2286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429000"/>
            <a:ext cx="333237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Identity &amp; Registration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3886200"/>
            <a:ext cx="333237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African registries pre-mapped. AI-confidence score on the verification.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338218" y="30175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38218" y="3310128"/>
            <a:ext cx="365760" cy="2286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38218" y="3429000"/>
            <a:ext cx="333237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Sanctions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338218" y="3886200"/>
            <a:ext cx="333237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OpenSanctions live, UN/OFAC/EU fallback. Re-screened on cadence.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036357" y="30175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036357" y="3310128"/>
            <a:ext cx="365760" cy="2286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36357" y="3429000"/>
            <a:ext cx="333237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Adverse Media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036357" y="3886200"/>
            <a:ext cx="333237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24-month lookback. Per-finding source citations.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45262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4818888"/>
            <a:ext cx="365760" cy="2286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937760"/>
            <a:ext cx="333237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Bank Verification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0080" y="5394960"/>
            <a:ext cx="333237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Plaid + IBAN + microdeposit. Country-specific where the rail exists.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338218" y="45262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338218" y="4818888"/>
            <a:ext cx="365760" cy="2286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38218" y="4937760"/>
            <a:ext cx="333237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Conflict of Interest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338218" y="5394960"/>
            <a:ext cx="333237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Captured per signature step. Audit-anchored. OB recusal flow.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036357" y="45262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036357" y="4818888"/>
            <a:ext cx="365760" cy="2286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36357" y="4937760"/>
            <a:ext cx="333237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Capacity Assessment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036357" y="5394960"/>
            <a:ext cx="333237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5-framework. Reusable. Publishable as a tamper-evident Trust Passport.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40080" y="5897880"/>
            <a:ext cx="10911535" cy="41148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" y="5961888"/>
            <a:ext cx="104543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Hash-anchored audit chain.  </a:t>
            </a:r>
            <a:pPr indent="0" marL="0">
              <a:buNone/>
            </a:pPr>
            <a:r>
              <a:rPr lang="en-US" sz="12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governance action links to the previous one. Tamper an entry — every row after breaks.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4008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011680" y="6400800"/>
            <a:ext cx="78025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  ·  V8  ·  Confidential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0A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THE ARCHITECTURE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Adoption is universal. Impact is not. The window is open.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40080" y="3200400"/>
            <a:ext cx="3332378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92%</a:t>
            </a:r>
            <a:endParaRPr lang="en-US" sz="11000" dirty="0"/>
          </a:p>
        </p:txBody>
      </p:sp>
      <p:sp>
        <p:nvSpPr>
          <p:cNvPr id="7" name="Shape 5"/>
          <p:cNvSpPr/>
          <p:nvPr/>
        </p:nvSpPr>
        <p:spPr>
          <a:xfrm>
            <a:off x="640080" y="4892040"/>
            <a:ext cx="365760" cy="228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5029200"/>
            <a:ext cx="314949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nonprofits use AI tools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429658" y="3200400"/>
            <a:ext cx="3332378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7%</a:t>
            </a:r>
            <a:endParaRPr lang="en-US" sz="11000" dirty="0"/>
          </a:p>
        </p:txBody>
      </p:sp>
      <p:sp>
        <p:nvSpPr>
          <p:cNvPr id="10" name="Shape 8"/>
          <p:cNvSpPr/>
          <p:nvPr/>
        </p:nvSpPr>
        <p:spPr>
          <a:xfrm>
            <a:off x="4429658" y="4892040"/>
            <a:ext cx="365760" cy="228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29658" y="5029200"/>
            <a:ext cx="314949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major organizational impact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19237" y="3200400"/>
            <a:ext cx="3332378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0" b="1" dirty="0">
                <a:solidFill>
                  <a:srgbClr val="84B5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97%</a:t>
            </a:r>
            <a:endParaRPr lang="en-US" sz="11000" dirty="0"/>
          </a:p>
        </p:txBody>
      </p:sp>
      <p:sp>
        <p:nvSpPr>
          <p:cNvPr id="13" name="Shape 11"/>
          <p:cNvSpPr/>
          <p:nvPr/>
        </p:nvSpPr>
        <p:spPr>
          <a:xfrm>
            <a:off x="8219237" y="4892040"/>
            <a:ext cx="365760" cy="22860"/>
          </a:xfrm>
          <a:prstGeom prst="rect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19237" y="5029200"/>
            <a:ext cx="314949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foundations NOT yet using AI to screen applications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598932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Incumbents are bolting AI onto rigid data models. Kuja was built AI-native from day one.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6400800"/>
            <a:ext cx="1091153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Virtuous + Fundraising.AI 2026 · Candid 2024 · Plinth 2025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$35–40B funding gap meets a 150,000-NGO market.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Global South mid-size NGO is the buyer. The funding shock is the demand signal.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3017520"/>
            <a:ext cx="3454298" cy="320040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291840"/>
            <a:ext cx="29056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 UNIVERSE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3611880"/>
            <a:ext cx="290565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4A7C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478K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914400" y="4572000"/>
            <a:ext cx="29056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Form 990 filers (Candid)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4846320"/>
            <a:ext cx="29056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897K active CSOs in Brazil (IPEA 2024)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5120640"/>
            <a:ext cx="29056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187K NGOs on Darpan India (2023)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5532120"/>
            <a:ext cx="290565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Mid-size band ($1–50M revenue): ~150K–300K globally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68698" y="3017520"/>
            <a:ext cx="3454298" cy="3200400"/>
          </a:xfrm>
          <a:prstGeom prst="rect">
            <a:avLst/>
          </a:prstGeom>
          <a:solidFill>
            <a:srgbClr val="F4E8DC"/>
          </a:solidFill>
          <a:ln w="12700">
            <a:solidFill>
              <a:srgbClr val="F4E8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43018" y="3291840"/>
            <a:ext cx="29056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SERVICEABLE ADDRESSABLE MARKET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43018" y="3611880"/>
            <a:ext cx="290565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50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15K–35K</a:t>
            </a:r>
            <a:endParaRPr lang="en-US" sz="5000" dirty="0"/>
          </a:p>
        </p:txBody>
      </p:sp>
      <p:sp>
        <p:nvSpPr>
          <p:cNvPr id="18" name="Text 16"/>
          <p:cNvSpPr/>
          <p:nvPr/>
        </p:nvSpPr>
        <p:spPr>
          <a:xfrm>
            <a:off x="4643018" y="4572000"/>
            <a:ext cx="29056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mid-size Global South NGOs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43018" y="4892040"/>
            <a:ext cx="29056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applied: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43018" y="5120640"/>
            <a:ext cx="290565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(Africa, MENA, Asia-Pacific, LatAm)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643018" y="5349240"/>
            <a:ext cx="290565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maturity (stitched-stack pain)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643018" y="5577840"/>
            <a:ext cx="290565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Discretionary spend OR donor sponsorship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097317" y="3017520"/>
            <a:ext cx="3454298" cy="3200400"/>
          </a:xfrm>
          <a:prstGeom prst="rect">
            <a:avLst/>
          </a:prstGeom>
          <a:solidFill>
            <a:srgbClr val="0F0A07"/>
          </a:solidFill>
          <a:ln w="12700">
            <a:solidFill>
              <a:srgbClr val="0F0A0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71637" y="3291840"/>
            <a:ext cx="29056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CEILING (SAM × ACV)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371637" y="3611880"/>
            <a:ext cx="290565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$400M–$2.6B</a:t>
            </a:r>
            <a:endParaRPr lang="en-US" sz="3800" dirty="0"/>
          </a:p>
        </p:txBody>
      </p:sp>
      <p:sp>
        <p:nvSpPr>
          <p:cNvPr id="26" name="Text 24"/>
          <p:cNvSpPr/>
          <p:nvPr/>
        </p:nvSpPr>
        <p:spPr>
          <a:xfrm>
            <a:off x="8371637" y="4480560"/>
            <a:ext cx="29056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ceiling for Elevate alone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371637" y="4800600"/>
            <a:ext cx="548640" cy="1828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71637" y="4937760"/>
            <a:ext cx="29056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2030 target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371637" y="5212080"/>
            <a:ext cx="29056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$12.5M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8371637" y="5715000"/>
            <a:ext cx="29056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rate needed: &lt;0.5%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008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011680" y="6400800"/>
            <a:ext cx="78025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  ·  V8  ·  Confidential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WIN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structural advantages that compound.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competitor has all five — and the platform incumbents would need to rewrite their data models to match.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9260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80160" y="2926080"/>
            <a:ext cx="454136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platform, one customer record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80160" y="3310128"/>
            <a:ext cx="454136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signed in module 4 auto-updates the obligation tracker in module 5, surfaces in module 9, rolls into module 10. Stitched stack does none of this without paid integrations.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187288" y="29260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27368" y="2926080"/>
            <a:ext cx="454136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AI-native, not AI-bolted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827368" y="3310128"/>
            <a:ext cx="454136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runs INSIDE every module — extraction, summarization, drafting, evaluation. Incumbents (Submittable, Salesforce Einstein, Bonterra) layer AI onto data models built before the AI era.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40690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280160" y="4069080"/>
            <a:ext cx="454136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Global South-built, six languages parity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80160" y="4453128"/>
            <a:ext cx="454136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EN, FR, AR, SW, SO, ES at the workflow level. Seven African registries pre-mapped. Donor-compliance regimes encoded. Mobile-first.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87288" y="40690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27368" y="4069080"/>
            <a:ext cx="454136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Adeso runs on it today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827368" y="4453128"/>
            <a:ext cx="454136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in the user guide is something we operate — not a roadmap. The company building the platform depends on the platform.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52120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280160" y="5212080"/>
            <a:ext cx="454136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Platform + Advisory together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280160" y="5596128"/>
            <a:ext cx="454136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commercial offering that sells the SaaS plus the deployment-and-adoption service as one motion. Buyers don't coordinate six vendors plus a consultant.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011680" y="6400800"/>
            <a:ext cx="78025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  ·  V8  ·  Confidential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motions. Three buyers. Three pricing tiers.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mid-size NGO sales is primary. Donor-sponsored cohorts are secondary. Networks are tertiary.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926080"/>
            <a:ext cx="3515258" cy="338328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926080"/>
            <a:ext cx="3515258" cy="50292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999232"/>
            <a:ext cx="305805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14400" y="3182112"/>
            <a:ext cx="305805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spc="200" kern="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3611880"/>
            <a:ext cx="305805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Direct NGO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914400" y="4114800"/>
            <a:ext cx="457200" cy="1828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297680"/>
            <a:ext cx="305805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14400" y="4462272"/>
            <a:ext cx="305805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Mid-size Global South NGO ($5M–$25M)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4736592"/>
            <a:ext cx="305805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14400" y="4901184"/>
            <a:ext cx="305805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 Platform Standard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4400" y="5175504"/>
            <a:ext cx="305805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14400" y="5340096"/>
            <a:ext cx="305805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$30K–$60K / yr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4400" y="5614416"/>
            <a:ext cx="305805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14400" y="5779008"/>
            <a:ext cx="305805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4–9 months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338218" y="2926080"/>
            <a:ext cx="3515258" cy="338328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38218" y="2926080"/>
            <a:ext cx="3515258" cy="5029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12538" y="2999232"/>
            <a:ext cx="305805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B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612538" y="3182112"/>
            <a:ext cx="305805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spc="200" kern="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612538" y="3611880"/>
            <a:ext cx="305805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Donor-sponsored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4612538" y="4114800"/>
            <a:ext cx="457200" cy="1828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12538" y="4297680"/>
            <a:ext cx="305805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612538" y="4462272"/>
            <a:ext cx="305805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funding grantee cohort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612538" y="4736592"/>
            <a:ext cx="305805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612538" y="4901184"/>
            <a:ext cx="305805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 Cohort Bundle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612538" y="5175504"/>
            <a:ext cx="305805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612538" y="5340096"/>
            <a:ext cx="305805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$50K–$80K / grantee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612538" y="5614416"/>
            <a:ext cx="305805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612538" y="5779008"/>
            <a:ext cx="305805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4–9 months with foundation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036357" y="2926080"/>
            <a:ext cx="3515258" cy="338328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036357" y="2926080"/>
            <a:ext cx="3515258" cy="50292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310677" y="2999232"/>
            <a:ext cx="305805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C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310677" y="3182112"/>
            <a:ext cx="305805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spc="200" kern="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TERTIARY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310677" y="3611880"/>
            <a:ext cx="305805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Networks + INGOs</a:t>
            </a:r>
            <a:endParaRPr lang="en-US" sz="2200" dirty="0"/>
          </a:p>
        </p:txBody>
      </p:sp>
      <p:sp>
        <p:nvSpPr>
          <p:cNvPr id="41" name="Shape 39"/>
          <p:cNvSpPr/>
          <p:nvPr/>
        </p:nvSpPr>
        <p:spPr>
          <a:xfrm>
            <a:off x="8310677" y="4114800"/>
            <a:ext cx="457200" cy="18288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310677" y="4297680"/>
            <a:ext cx="305805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310677" y="4462272"/>
            <a:ext cx="305805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secretariat or INGO HQ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310677" y="4736592"/>
            <a:ext cx="305805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8310677" y="4901184"/>
            <a:ext cx="305805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Platform + Custom Advisory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8310677" y="5175504"/>
            <a:ext cx="305805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8310677" y="5340096"/>
            <a:ext cx="305805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$200K+ Year 1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8310677" y="5614416"/>
            <a:ext cx="305805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8310677" y="5779008"/>
            <a:ext cx="305805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6–18 months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4008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2011680" y="6400800"/>
            <a:ext cx="78025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  ·  V8  ·  Confidential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direct mid-size NGO is the highest-margin customer.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 pays everything. CAC is sales + customer success. 3-year LTV mid-point: $300K. LTV/CAC ≥ 4:1.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3017520"/>
            <a:ext cx="3515258" cy="246888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3017520"/>
            <a:ext cx="3515258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246120"/>
            <a:ext cx="29666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3566160"/>
            <a:ext cx="296661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$130K–$210K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914400" y="4709160"/>
            <a:ext cx="29666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contract value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4983480"/>
            <a:ext cx="296661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Platform + Full Transformation Advisory (one-time)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38218" y="3017520"/>
            <a:ext cx="3515258" cy="246888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38218" y="3017520"/>
            <a:ext cx="3515258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2538" y="3246120"/>
            <a:ext cx="29666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12538" y="3566160"/>
            <a:ext cx="296661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$40K–$80K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4612538" y="4709160"/>
            <a:ext cx="29666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contract value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12538" y="4983480"/>
            <a:ext cx="296661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Platform + optional Kuja Grant module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036357" y="3017520"/>
            <a:ext cx="3515258" cy="246888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36357" y="3017520"/>
            <a:ext cx="3515258" cy="64008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10677" y="3246120"/>
            <a:ext cx="29666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310677" y="3566160"/>
            <a:ext cx="296661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4A7C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$45K–$90K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8310677" y="4709160"/>
            <a:ext cx="29666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contract value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310677" y="4983480"/>
            <a:ext cx="296661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Platform + Grant + optional ERP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" y="5715000"/>
            <a:ext cx="10911535" cy="548640"/>
          </a:xfrm>
          <a:prstGeom prst="rect">
            <a:avLst/>
          </a:prstGeom>
          <a:solidFill>
            <a:srgbClr val="0F0A07"/>
          </a:solidFill>
          <a:ln w="12700">
            <a:solidFill>
              <a:srgbClr val="0F0A0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3-year LTV: $215K–$380K  ·  Mid: $300K  ·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LTV/CAC ≥ 4:1  ·  </a:t>
            </a:r>
            <a:pPr indent="0" marL="0">
              <a:buNone/>
            </a:pPr>
            <a:r>
              <a:rPr lang="en-US" sz="1200" i="1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NGO pays everything; only acquisition cost is sales + CS.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64008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011680" y="6400800"/>
            <a:ext cx="78025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  ·  V8  ·  Confidential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PATH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Conservative: $7M by 2029. Profitable from H2 2028.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Direct-NGO sales as primary motion. Donor cohorts and networks as compounding layers.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01752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554480" y="3063240"/>
            <a:ext cx="46425" cy="3657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38065" y="30175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$80K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639312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554480" y="3685032"/>
            <a:ext cx="696378" cy="36576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88018" y="363931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$1.2M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4261104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554480" y="4306824"/>
            <a:ext cx="1973070" cy="36576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64710" y="4261104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$3.4M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4882896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2029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554480" y="4928616"/>
            <a:ext cx="4062204" cy="36576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53844" y="488289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$7.0M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5504688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554480" y="5550408"/>
            <a:ext cx="7253935" cy="36576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45575" y="550468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$12.5M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539935" y="3017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539935" y="33832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2028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539935" y="36576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539935" y="40233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2029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539935" y="42976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Profitable on $7M ARR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539935" y="46634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539935" y="49377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&gt;$12M ARR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0080" y="5943600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Ambitious scenario: $2.4M in 2027, $12M+ in 2029, with $1.5M growth capital injected H2 2026.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008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011680" y="6400800"/>
            <a:ext cx="78025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  ·  V8  ·  Confidential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ADESO / KUJA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Production-deployed today. Adeso runs on it.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reasons we ship at a pace incumbents cannot match.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926080"/>
            <a:ext cx="5029200" cy="3474720"/>
          </a:xfrm>
          <a:prstGeom prst="rect">
            <a:avLst/>
          </a:prstGeom>
          <a:solidFill>
            <a:srgbClr val="0F0A07"/>
          </a:solidFill>
          <a:ln w="12700">
            <a:solidFill>
              <a:srgbClr val="0F0A0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320040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TEST COVERAGE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37033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54/54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005840" y="4114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E2E regression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91840" y="37033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19/19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291840" y="4114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UAT suite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05840" y="45720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67/67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005840" y="49834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invariants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91840" y="45720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50/50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291840" y="49834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 health probes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05840" y="54406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50+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005840" y="58521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AI surfaces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91840" y="54406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130+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3291840" y="58521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Numbered phases shipped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989320" y="3090672"/>
            <a:ext cx="164592" cy="164592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09360" y="2926080"/>
            <a:ext cx="515081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Adeso's own 9-month operational transformation became Kuja Elevate. We are not selling theory.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989320" y="3657600"/>
            <a:ext cx="164592" cy="164592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0" y="3493008"/>
            <a:ext cx="515081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Adeso co-founded NEAR in 2016. NEAR is the reference architecture for the Networks motion.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989320" y="4224528"/>
            <a:ext cx="164592" cy="164592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4059936"/>
            <a:ext cx="515081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languages at platform parity. Seven country registries pre-mapped. Mobile-first.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989320" y="4791456"/>
            <a:ext cx="164592" cy="164592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09360" y="4626864"/>
            <a:ext cx="515081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chain is integral — not bolted on. Competitors would rewrite their data model to match.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989320" y="5358384"/>
            <a:ext cx="164592" cy="164592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9360" y="5193792"/>
            <a:ext cx="515081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production deploys. 100+ commits in the last sprint.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989320" y="5925312"/>
            <a:ext cx="164592" cy="164592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09360" y="5760720"/>
            <a:ext cx="515081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tell the truth about risks. NEAR_BACKLOG.md is the open gap list.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008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011680" y="6400800"/>
            <a:ext cx="78025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  ·  V8  ·  Confidential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0A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ask depends on who you are.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640080" y="2468880"/>
            <a:ext cx="73152" cy="68580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4688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you run a network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2834640"/>
            <a:ext cx="1045433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minutes to walk you through our architecture. Then a 6-week tenant pilot.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337560"/>
            <a:ext cx="73152" cy="6858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3375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you fund the Global South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14400" y="3703320"/>
            <a:ext cx="1045433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the 90-day Grant Pilot ($25K–$50K). Expand to Elevate and ERP.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206240"/>
            <a:ext cx="73152" cy="685800"/>
          </a:xfrm>
          <a:prstGeom prst="rect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2062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84B5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you are a mid-size NGO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14400" y="4572000"/>
            <a:ext cx="1045433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purchase of Elevate Platform Standard. $30K–$60K/yr replaces six tools.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5074920"/>
            <a:ext cx="73152" cy="6858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50749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you are a growth-stage funder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914400" y="5440680"/>
            <a:ext cx="1045433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$1.5M–$2.5M over 18 months. Profitable from 2029 on $7M ARR (Conservative).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5989320"/>
            <a:ext cx="10911535" cy="228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6217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kuja@adeso.org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065215" y="6217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https://web-production-6f8a.up.railway.app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Adeso / Kuja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Kuja — Locally-led funding, at network speed</dc:title>
  <dc:subject>Professional Pitch Deck V8 — June 2026</dc:subject>
  <dc:creator>PptxGenJS</dc:creator>
  <cp:lastModifiedBy>PptxGenJS</cp:lastModifiedBy>
  <cp:revision>1</cp:revision>
  <dcterms:created xsi:type="dcterms:W3CDTF">2026-06-18T04:44:34Z</dcterms:created>
  <dcterms:modified xsi:type="dcterms:W3CDTF">2026-06-18T04:44:34Z</dcterms:modified>
</cp:coreProperties>
</file>