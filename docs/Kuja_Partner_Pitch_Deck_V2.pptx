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First AI-Powered End-to-End</a:t>
            </a:r>
            <a:br/>
            <a:r>
              <a:t>Grant Management Platform for the Global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5B4FC"/>
                </a:solidFill>
                <a:latin typeface="Calibri"/>
              </a:defRPr>
            </a:pPr>
            <a:r>
              <a:t>Powered by Adeso — 30 Years of African-Led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3A3BF"/>
                </a:solidFill>
                <a:latin typeface="Calibri"/>
              </a:defRPr>
            </a:pPr>
            <a:r>
              <a:t>kuja.org  |  adesoafrica.org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Funding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017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CSOs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4–12 duplicate assessments per year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Below 5% direct funding to local orgs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English-first platforms exclude millions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Enterprise pricing excludes local orgs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3017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DONORS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Cannot find vetted local partners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Risk perception barriers persist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Manual compliance monitoring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Lack of standardized assessments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0175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$36B USAID cuts (2025)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Aid localization stalled at &lt;5%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No infrastructure for direct partnerships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Growing demand, shrinking supply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4183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F2A37"/>
                </a:solidFill>
                <a:latin typeface="Calibri"/>
              </a:defRPr>
            </a:pPr>
            <a:r>
              <a:t>Local organizations closest to communities have the most effective solutions — but the least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Platform. Complete Grant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318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ASSESS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482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6646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MATCH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217920" y="2606040"/>
            <a:ext cx="274320" cy="4572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AI-Guided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3736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8318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Dual Score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2900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7482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Compliance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2064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6646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31" name="Curved Left Arrow 30"/>
          <p:cNvSpPr/>
          <p:nvPr/>
        </p:nvSpPr>
        <p:spPr>
          <a:xfrm>
            <a:off x="6903720" y="3474720"/>
            <a:ext cx="548640" cy="640080"/>
          </a:xfrm>
          <a:prstGeom prst="curved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3337560"/>
            <a:ext cx="41148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3832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WITHOUT OUR ERP?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A37"/>
                </a:solidFill>
                <a:latin typeface="Calibri"/>
              </a:defRPr>
            </a:pPr>
            <a:r>
              <a:t>Stages 1–7 work standalone. NGOs not using the ERP use our built-in reporting module to seamlessly submit compliance reports per grant agreement requirements.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029200"/>
            <a:ext cx="66751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No other platform covers all 8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by Those Who Know 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ADESO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Founded 1991 in Somalia — 30+ years humanitarian experience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Led the NEAR network for aid localization advocacy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Operations across Kenya, Somalia, and the Horn of Africa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501(c)(3) through Myriad USA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Deep relationships: Oxfam, IRC, Save the Children,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Gates Foundation, Hilton Foundation, Porticus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02920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Understands compliance from BOTH sides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as an NGO AND as a grantor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Built by Global South, for Global South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Multi-language: Arabic, French, Spanish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live today — no competitor offers this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Not a Silicon Valley startup guessing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lived experience solving these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"We didn't build Kuja because we read about the problem. We built it because we lived it."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Capacity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194560" cy="10972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Assessment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</a:t>
            </a:r>
            <a:br/>
            <a:r>
              <a:t>(TechSoup)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UN-HACT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0896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475488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CHS</a:t>
            </a:r>
            <a:br/>
            <a:r>
              <a:t>Alliance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6576" cy="21031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108960"/>
            <a:ext cx="36576" cy="1463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46304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+ Donor</a:t>
            </a:r>
            <a:br/>
            <a:r>
              <a:t>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108960"/>
            <a:ext cx="3657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188720"/>
            <a:ext cx="34747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1828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783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Self-service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Complete online, no expensive consultants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974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Passportable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Assess once, share with multiple donors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3657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11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AI-analyzed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Upload policies, AI identifies gaps and scores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Extensible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Add donor-specific or any new framework on demand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5486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440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Configurable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Donors set their own criteria and weightings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That Works Across the Entire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Sustained Chat Threads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Per-entity scoped with memory + reset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Document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Score 0–100 with detailed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Agreement Parsing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Extract requirements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Report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Per-requirement compliance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reviews policies, identifies gaps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838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Reviewer Match + Auto-Assign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Fires on submit, cron backfill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212080"/>
            <a:ext cx="94183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Powered by Anthropic Claude  |  6 languages live (EN, FR, AR, ES, SW, SO)  —  every AI output cited + measured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Compliance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REGISTRY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Kenya — NGO Board / BRS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Nigeria — Corporate Affairs Commission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South Africa — DSD NPO Directorate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Uganda — NGO Bureau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Tanzania — NiS Registry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Somalia — MOIFAR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Ethiopia — ACSO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7 countries live today. Designed to expand to any Global South country</a:t>
            </a:r>
            <a:br/>
            <a:r>
              <a:t>with a government verification portal.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5303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SANCTIONS SCREENING  —  4+ 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0299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UN Security Council</a:t>
            </a:r>
            <a:r>
              <a:rPr sz="1200">
                <a:solidFill>
                  <a:srgbClr val="1F2A37"/>
                </a:solidFill>
                <a:latin typeface="Calibri"/>
              </a:rPr>
              <a:t>  —  Global sanctions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0604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24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US OFAC SDN</a:t>
            </a:r>
            <a:r>
              <a:rPr sz="1200">
                <a:solidFill>
                  <a:srgbClr val="1F2A37"/>
                </a:solidFill>
                <a:latin typeface="Calibri"/>
              </a:rPr>
              <a:t>  —  US Treasury sanctions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0040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2186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EU Financial Sanctions</a:t>
            </a:r>
            <a:r>
              <a:rPr sz="1200">
                <a:solidFill>
                  <a:srgbClr val="1F2A37"/>
                </a:solidFill>
                <a:latin typeface="Calibri"/>
              </a:rPr>
              <a:t>  —  European Union 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9476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13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World Bank Debarment</a:t>
            </a:r>
            <a:r>
              <a:rPr sz="1200">
                <a:solidFill>
                  <a:srgbClr val="1F2A37"/>
                </a:solidFill>
                <a:latin typeface="Calibri"/>
              </a:rPr>
              <a:t>  —  Procurement exclusions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OpenSanctions API</a:t>
            </a:r>
            <a:r>
              <a:rPr sz="1200">
                <a:solidFill>
                  <a:srgbClr val="1F2A37"/>
                </a:solidFill>
                <a:latin typeface="Calibri"/>
              </a:rPr>
              <a:t>  —  Unified global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212080"/>
            <a:ext cx="7589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Live, automated, continuous — not a one-time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Invisible to Investment-Ready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NGO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Free profile on kuja.org marketplace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capacity assessment, get readiness score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30/60/90-day roadmap, learning resources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AI-guided applications, document coaching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Seamless compliance 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0515600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2103120" cy="73152"/>
          </a:xfrm>
          <a:prstGeom prst="rect">
            <a:avLst/>
          </a:prstGeom>
          <a:solidFill>
            <a:srgbClr val="DC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4572000"/>
            <a:ext cx="2103120" cy="73152"/>
          </a:xfrm>
          <a:prstGeom prst="rect">
            <a:avLst/>
          </a:prstGeom>
          <a:solidFill>
            <a:srgbClr val="BAD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4572000"/>
            <a:ext cx="2103120" cy="73152"/>
          </a:xfrm>
          <a:prstGeom prst="rect">
            <a:avLst/>
          </a:prstGeom>
          <a:solidFill>
            <a:srgbClr val="7C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457200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Invisible  →  Visible  →  Assessed  →  Ready  →  Funded  → 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Searching to 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DONOR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Browse verified, assessed organizations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Set your criteria, thresholds, weightings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AI-ranked shortlists, dual scoring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AWARD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Grant wizard with AI agreement parsing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Real-time reporting, AI compliance scores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93776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For donors using our ERP: multi-tenant real-time financial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$4.79B Market. Zero Solutions for the Global South.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$2.75B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Current Market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Grand View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$4.79B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Projected (2030)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10.3% CAGR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59E0B"/>
                </a:solidFill>
                <a:latin typeface="Calibri"/>
              </a:defRPr>
            </a:pPr>
            <a:r>
              <a:t>58.2%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NGO Segment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Largest 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70332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Nonprofits Wanting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CEP 2025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70332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100K+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African CSOs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Registered organizations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703320"/>
            <a:ext cx="3200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DC2626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Direct Funding to Local Actors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vs 25% Grand Bargain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One Else Does What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234440"/>
            <a:ext cx="11887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Fluxx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Submittable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SmartSimple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GlobalGiving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Instrumentl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Xapien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End-to-End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4028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24612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74904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Global South Design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70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5196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088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070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548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Affordable for CSOs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4088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5780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5216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070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7607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50800" bIns="50800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Reporting Module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5216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4088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070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1234440"/>
            <a:ext cx="1188720" cy="5029200"/>
          </a:xfrm>
          <a:prstGeom prst="rect">
            <a:avLst/>
          </a:prstGeom>
          <a:noFill/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Sustainable Revenue, Subsidized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80160"/>
            <a:ext cx="3200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CA3AF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F2A37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Marketplace profile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Basic capacity assessment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Grant discovery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3200400" cy="3474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APPLICATION</a:t>
            </a:r>
            <a:br/>
            <a:r>
              <a:t>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$10K–$20K/yr</a:t>
            </a:r>
            <a:br/>
            <a:r>
              <a:t>per donor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AI matching + assessment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Donor-configured criteria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Shortlist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280160"/>
            <a:ext cx="3200400" cy="34747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Custom</a:t>
            </a:r>
            <a:br/>
            <a:r>
              <a:t>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Full fund management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ERP integration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Custom AI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6858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Free marketplace + basic assessment for CSOs  |  Paid tiers for donors drive sustainability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029200"/>
            <a:ext cx="3383280" cy="5943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2026 Target: $1M revenue + $1M fundraised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Kenya to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69848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8528" y="2606040"/>
            <a:ext cx="320040" cy="3200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Q1–Q2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2377440" cy="1828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KENYA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8 pipeline partners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 CSO Network MoUs</a:t>
            </a:r>
          </a:p>
        </p:txBody>
      </p:sp>
      <p:sp>
        <p:nvSpPr>
          <p:cNvPr id="12" name="Oval 11"/>
          <p:cNvSpPr/>
          <p:nvPr/>
        </p:nvSpPr>
        <p:spPr>
          <a:xfrm>
            <a:off x="4636008" y="26060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Q2–Q4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108960"/>
            <a:ext cx="2377440" cy="1828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GLOBAL NETWORKS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NEAR, WACSI, EACSOF,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SANGONet + Oxfam/IRC/Save</a:t>
            </a:r>
          </a:p>
        </p:txBody>
      </p:sp>
      <p:sp>
        <p:nvSpPr>
          <p:cNvPr id="15" name="Oval 14"/>
          <p:cNvSpPr/>
          <p:nvPr/>
        </p:nvSpPr>
        <p:spPr>
          <a:xfrm>
            <a:off x="7333488" y="260604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Q3 2026–</a:t>
            </a:r>
            <a:br/>
            <a:r>
              <a:t>Q2 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37744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SUB-SAHARAN</a:t>
            </a:r>
            <a:br/>
            <a:r>
              <a:t>AFRICA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24 countries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Continental expansion</a:t>
            </a:r>
          </a:p>
        </p:txBody>
      </p:sp>
      <p:sp>
        <p:nvSpPr>
          <p:cNvPr id="18" name="Oval 17"/>
          <p:cNvSpPr/>
          <p:nvPr/>
        </p:nvSpPr>
        <p:spPr>
          <a:xfrm>
            <a:off x="10030968" y="26060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Q3–Q4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108960"/>
            <a:ext cx="23774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LATIN AMERICA</a:t>
            </a:r>
            <a:br/>
            <a:r>
              <a:t>&amp; CARIBBEAN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15 countries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Regional partnerships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698480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Partners: NEAR  |  WACSI  |  EACSOF  |  SANGONet  |  TechSoup  |  EPIC Africa  |  Pledge for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 Are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8872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Active Users on kuja.org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18872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Local Organizations Onboarded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153/153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Smoke Tests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Browser UAT Specs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97180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Languages Live (EN/FR/AR/SW/SO/ES)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71800"/>
            <a:ext cx="32004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1E40A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Prod Regressions Reported by Users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72000"/>
            <a:ext cx="283464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Sustained AI chat threads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4572000"/>
            <a:ext cx="420624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Reviewer auto-assignment + nightly backfill cron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572000"/>
            <a:ext cx="402336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Real-user metrics + NPS micro-survey live in prod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Let's Transform Grant Management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WHAT WE'RE LOOKING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Strategic Partners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Organizations who share our localization vision and can co-create solutions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Pilot Donors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Foundations willing to pilot the end-to-end grant management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CSO Networks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Networks ready to onboard their member organizations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Technology Partners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Companies that can help us scale infrastructure and integrations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280160"/>
            <a:ext cx="4114800" cy="4114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76200" tIns="190500" bIns="50800"/>
          <a:lstStyle/>
          <a:p>
            <a:pPr algn="ctr">
              <a:spcAft>
                <a:spcPts val="20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CONTACT</a:t>
            </a:r>
          </a:p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Adeso</a:t>
            </a:r>
          </a:p>
          <a:p>
            <a:pPr>
              <a:spcAft>
                <a:spcPts val="600"/>
              </a:spcAft>
              <a:defRPr sz="1400" b="0">
                <a:solidFill>
                  <a:srgbClr val="A5B4FC"/>
                </a:solidFill>
                <a:latin typeface="Calibri"/>
              </a:defRPr>
            </a:pPr>
            <a:r>
              <a:t>African Development Solutions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kuja.org</a:t>
            </a:r>
          </a:p>
          <a:p>
            <a:pPr>
              <a:spcAft>
                <a:spcPts val="600"/>
              </a:spcAft>
              <a:defRPr sz="1600" b="0">
                <a:solidFill>
                  <a:srgbClr val="A5B4FC"/>
                </a:solidFill>
                <a:latin typeface="Calibri"/>
              </a:defRPr>
            </a:pPr>
            <a:r>
              <a:t>adesoafrica.org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info@adesoafrica.org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274320"/>
            <a:ext cx="2286000" cy="22860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30352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8346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Matching Local Brilliance with Global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A5B4FC"/>
                </a:solidFill>
                <a:latin typeface="Calibri"/>
              </a:defRPr>
            </a:pPr>
            <a:r>
              <a:t>The first AI-powered grant management platform</a:t>
            </a:r>
            <a:br/>
            <a:r>
              <a:t>built for the Global South, by the Global South.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kuja.org  |  adesoafrica.org  |  info@adesoafrica.org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