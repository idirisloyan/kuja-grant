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57200"/>
            <a:ext cx="1828800" cy="18288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0" y="4572000"/>
            <a:ext cx="1371600" cy="13716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0" y="5486400"/>
            <a:ext cx="914400" cy="9144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80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34640"/>
            <a:ext cx="22860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The First AI-Powered End-to-End</a:t>
            </a:r>
            <a:br/>
            <a:r>
              <a:t>Grant Management Platform for the Global South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A5B4FC"/>
                </a:solidFill>
                <a:latin typeface="Calibri"/>
              </a:defRPr>
            </a:pPr>
            <a:r>
              <a:t>Powered by Adeso — 30 Years of African-Led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93A3BF"/>
                </a:solidFill>
                <a:latin typeface="Calibri"/>
              </a:defRPr>
            </a:pPr>
            <a:r>
              <a:t>March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400" b="0">
                <a:solidFill>
                  <a:srgbClr val="93A3BF"/>
                </a:solidFill>
                <a:latin typeface="Calibri"/>
              </a:defRPr>
            </a:pPr>
            <a:r>
              <a:t>kuja.org  |  adesoafrica.org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Funding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2/16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280160"/>
            <a:ext cx="3291840" cy="34747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417320"/>
            <a:ext cx="30175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FOR CSOs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03120"/>
            <a:ext cx="2834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4–12 duplicate assessments per year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Below 5% direct funding to local orgs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English-first platforms exclude millions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Enterprise pricing excludes local orgs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280160"/>
            <a:ext cx="3291840" cy="34747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1417320"/>
            <a:ext cx="3017520" cy="5029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FOR DONORS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103120"/>
            <a:ext cx="2834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Cannot find vetted local partners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Risk perception barriers persist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Manual compliance monitoring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Lack of standardized assessments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280160"/>
            <a:ext cx="3291840" cy="347472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66760" y="1417320"/>
            <a:ext cx="301752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SYSTEMIC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103120"/>
            <a:ext cx="2834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$36B USAID cuts (2025)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Aid localization stalled at &lt;5%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No infrastructure for direct partnerships</a:t>
            </a:r>
          </a:p>
          <a:p>
            <a:pPr algn="l">
              <a:spcBef>
                <a:spcPts val="400"/>
              </a:spcBef>
              <a:spcAft>
                <a:spcPts val="80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•  Growing demand, shrinking supply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120640"/>
            <a:ext cx="941832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1F2A37"/>
                </a:solidFill>
                <a:latin typeface="Calibri"/>
              </a:defRPr>
            </a:pPr>
            <a:r>
              <a:t>Local organizations closest to communities have the most effective solutions — but the least resources.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One Platform. Complete Grant Lifecycle.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3/16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Oval 7"/>
          <p:cNvSpPr/>
          <p:nvPr/>
        </p:nvSpPr>
        <p:spPr>
          <a:xfrm>
            <a:off x="891540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DISCOVER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Marketplace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37360" y="18745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583180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15544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ASSESS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Capacity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429000" y="18745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74820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15544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VERIFY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Due Diligence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120640" y="18745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6460" y="1143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5544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MATCH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AI Matching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217920" y="2606040"/>
            <a:ext cx="274320" cy="457200"/>
          </a:xfrm>
          <a:prstGeom prst="down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54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832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APPLY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AI-Guided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37033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58318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48840" y="33832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REVIEW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Dual Score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429000" y="37033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27482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33832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REPORT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AI Compliance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120640" y="3703320"/>
            <a:ext cx="320040" cy="27432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966460" y="29718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383280"/>
            <a:ext cx="12344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MANAGE</a:t>
            </a:r>
          </a:p>
          <a:p>
            <a:pPr algn="ctr">
              <a:defRPr sz="1100">
                <a:solidFill>
                  <a:srgbClr val="A5B4FC"/>
                </a:solidFill>
                <a:latin typeface="Calibri"/>
              </a:defRPr>
            </a:pPr>
            <a:r>
              <a:t>ERP</a:t>
            </a:r>
          </a:p>
        </p:txBody>
      </p:sp>
      <p:sp>
        <p:nvSpPr>
          <p:cNvPr id="31" name="Curved Left Arrow 30"/>
          <p:cNvSpPr/>
          <p:nvPr/>
        </p:nvSpPr>
        <p:spPr>
          <a:xfrm>
            <a:off x="6903720" y="3474720"/>
            <a:ext cx="548640" cy="640080"/>
          </a:xfrm>
          <a:prstGeom prst="curvedLef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0" y="3337560"/>
            <a:ext cx="4114800" cy="10972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383280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WITHOUT OUR ERP?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F2A37"/>
                </a:solidFill>
                <a:latin typeface="Calibri"/>
              </a:defRPr>
            </a:pPr>
            <a:r>
              <a:t>Stages 1–7 work standalone. NGOs not using the ERP use our built-in reporting module to seamlessly submit compliance reports per grant agreement requirements.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029200"/>
            <a:ext cx="667512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800" b="1">
                <a:solidFill>
                  <a:srgbClr val="1F2A37"/>
                </a:solidFill>
                <a:latin typeface="Calibri"/>
              </a:defRPr>
            </a:pPr>
            <a:r>
              <a:t>No other platform covers all 8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Built by Those Who Know 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4/16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188720"/>
            <a:ext cx="5029200" cy="5029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ADESO CREDENTIALS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Founded 1991 in Somalia — 30+ years humanitarian experience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Led the NEAR network for aid localization advocacy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Operations across Kenya, Somalia, and the Horn of Africa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501(c)(3) through Myriad USA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Deep relationships: Oxfam, IRC, Save the Children,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   Gates Foundation, Hilton Foundation, Porticus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02920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Understands compliance from BOTH sides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   — as an NGO AND as a grantor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Built by Global South, for Global South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Multi-language: Arabic, French, Spanish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   live today — no competitor offers this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•  Not a Silicon Valley startup guessing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A37"/>
                </a:solidFill>
                <a:latin typeface="Calibri"/>
              </a:defRPr>
            </a:pPr>
            <a:r>
              <a:t>   — lived experience solving these problems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5303520"/>
            <a:ext cx="9418320" cy="5943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1E40AF"/>
                </a:solidFill>
                <a:latin typeface="Calibri"/>
              </a:defRPr>
            </a:pPr>
            <a:r>
              <a:t>"We didn't build Kuja because we read about the problem. We built it because we lived it."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AI-Powered Capacity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5/16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560320"/>
            <a:ext cx="2194560" cy="109728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  <a:br/>
            <a:r>
              <a:t>Assessment</a:t>
            </a:r>
            <a:br/>
            <a:r>
              <a:t>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137160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  <a:br/>
            <a:r>
              <a:t>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1828800"/>
            <a:ext cx="36576" cy="12801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0" y="137160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STEP</a:t>
            </a:r>
            <a:br/>
            <a:r>
              <a:t>(TechSoup)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828800"/>
            <a:ext cx="36576" cy="12801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0" y="320040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UN-HACT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3108960"/>
            <a:ext cx="36576" cy="5486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0" y="475488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CHS</a:t>
            </a:r>
            <a:br/>
            <a:r>
              <a:t>Alliance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3108960"/>
            <a:ext cx="36576" cy="210312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71600" y="4114800"/>
            <a:ext cx="1463040" cy="9144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NUPAS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03120" y="3108960"/>
            <a:ext cx="36576" cy="14630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743200"/>
            <a:ext cx="1463040" cy="914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+ Donor</a:t>
            </a:r>
            <a:br/>
            <a:r>
              <a:t>Specific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108960"/>
            <a:ext cx="36576" cy="9144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1188720"/>
            <a:ext cx="347472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KEY BENEFITS</a:t>
            </a:r>
          </a:p>
        </p:txBody>
      </p:sp>
      <p:sp>
        <p:nvSpPr>
          <p:cNvPr id="22" name="Oval 21"/>
          <p:cNvSpPr/>
          <p:nvPr/>
        </p:nvSpPr>
        <p:spPr>
          <a:xfrm>
            <a:off x="8229600" y="18288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7830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Self-service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Complete online, no expensive consultants</a:t>
            </a:r>
          </a:p>
        </p:txBody>
      </p:sp>
      <p:sp>
        <p:nvSpPr>
          <p:cNvPr id="24" name="Oval 23"/>
          <p:cNvSpPr/>
          <p:nvPr/>
        </p:nvSpPr>
        <p:spPr>
          <a:xfrm>
            <a:off x="8229600" y="27432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26974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Passportable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Assess once, share with multiple donors</a:t>
            </a:r>
          </a:p>
        </p:txBody>
      </p:sp>
      <p:sp>
        <p:nvSpPr>
          <p:cNvPr id="26" name="Oval 25"/>
          <p:cNvSpPr/>
          <p:nvPr/>
        </p:nvSpPr>
        <p:spPr>
          <a:xfrm>
            <a:off x="8229600" y="36576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36118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AI-analyzed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Upload policies, AI identifies gaps and scores</a:t>
            </a:r>
          </a:p>
        </p:txBody>
      </p:sp>
      <p:sp>
        <p:nvSpPr>
          <p:cNvPr id="28" name="Oval 27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45262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Extensible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Add donor-specific or any new framework on demand</a:t>
            </a:r>
          </a:p>
        </p:txBody>
      </p:sp>
      <p:sp>
        <p:nvSpPr>
          <p:cNvPr id="30" name="Oval 29"/>
          <p:cNvSpPr/>
          <p:nvPr/>
        </p:nvSpPr>
        <p:spPr>
          <a:xfrm>
            <a:off x="8229600" y="548640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544068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1E40AF"/>
                </a:solidFill>
                <a:latin typeface="Calibri"/>
              </a:defRPr>
            </a:pPr>
            <a:r>
              <a:t>Configurable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t>Donors set their own criteria and weightings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That Works Across the Entire Lifecycle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6/16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37160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55448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Sustained Chat Threads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0116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Per-entity scoped with memory + reset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37160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1371600"/>
            <a:ext cx="32004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554480"/>
            <a:ext cx="411480" cy="411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Document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0116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Score 0–100 with detailed findings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137160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137160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83880" y="155448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1508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Grant Agreement Parsing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0116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Extract requirements automatically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29184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29184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347472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34290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Report Evaluation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9319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Per-requirement compliance scoring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29184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3291840"/>
            <a:ext cx="32004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26280" y="3474720"/>
            <a:ext cx="411480" cy="41148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34290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Capacity Assessment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39319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AI reviews policies, identifies gaps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3291840"/>
            <a:ext cx="3200400" cy="14630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329184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3880" y="3474720"/>
            <a:ext cx="411480" cy="4114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34290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Reviewer Match + Auto-Assign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9319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Fires on submit, cron backfill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71600" y="5212080"/>
            <a:ext cx="94183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Powered by Anthropic Claude  |  6 languages live (EN, FR, AR, ES, SW, SO)  —  every AI output cited + measured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Real-Time Compliance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7/16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303520" cy="5029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GOVERNMENT REGISTRY VERIFICATION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1168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Kenya — NGO Board / BRS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1460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Nigeria — Corporate Affairs Commission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04495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South Africa — DSD NPO Directorate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2044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54787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Uganda — NGO Bureau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201168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203911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Tanzania — NiS Registry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251460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54203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Somalia — MOIFAR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0" y="3017520"/>
            <a:ext cx="2286000" cy="384048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044952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1F2A37"/>
                </a:solidFill>
                <a:latin typeface="Calibri"/>
              </a:defRPr>
            </a:pPr>
            <a:r>
              <a:t>Ethiopia — ACSO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60520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0D9488"/>
                </a:solidFill>
                <a:latin typeface="Calibri"/>
              </a:defRPr>
            </a:pPr>
            <a:r>
              <a:t>7 countries live today. Designed to expand to any Global South country</a:t>
            </a:r>
            <a:br/>
            <a:r>
              <a:t>with a government verification portal.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280160"/>
            <a:ext cx="5303520" cy="5029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SANCTIONS SCREENING  —  4+ Databases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01168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02996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UN Security Council</a:t>
            </a:r>
            <a:r>
              <a:rPr sz="1200">
                <a:solidFill>
                  <a:srgbClr val="1F2A37"/>
                </a:solidFill>
                <a:latin typeface="Calibri"/>
              </a:rPr>
              <a:t>  —  Global sanctions list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60604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62432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US OFAC SDN</a:t>
            </a:r>
            <a:r>
              <a:rPr sz="1200">
                <a:solidFill>
                  <a:srgbClr val="1F2A37"/>
                </a:solidFill>
                <a:latin typeface="Calibri"/>
              </a:rPr>
              <a:t>  —  US Treasury sanctions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20040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21868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EU Financial Sanctions</a:t>
            </a:r>
            <a:r>
              <a:rPr sz="1200">
                <a:solidFill>
                  <a:srgbClr val="1F2A37"/>
                </a:solidFill>
                <a:latin typeface="Calibri"/>
              </a:rPr>
              <a:t>  —  European Union list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379476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381304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World Bank Debarment</a:t>
            </a:r>
            <a:r>
              <a:rPr sz="1200">
                <a:solidFill>
                  <a:srgbClr val="1F2A37"/>
                </a:solidFill>
                <a:latin typeface="Calibri"/>
              </a:rPr>
              <a:t>  —  Procurement exclusions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389120"/>
            <a:ext cx="4754880" cy="45720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4407408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A37"/>
                </a:solidFill>
                <a:latin typeface="Calibri"/>
              </a:defRPr>
            </a:pPr>
            <a:r>
              <a:rPr b="1" sz="1300">
                <a:solidFill>
                  <a:srgbClr val="1E40AF"/>
                </a:solidFill>
                <a:latin typeface="Calibri"/>
              </a:rPr>
              <a:t>OpenSanctions API</a:t>
            </a:r>
            <a:r>
              <a:rPr sz="1200">
                <a:solidFill>
                  <a:srgbClr val="1F2A37"/>
                </a:solidFill>
                <a:latin typeface="Calibri"/>
              </a:rPr>
              <a:t>  —  Unified global database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86000" y="5212080"/>
            <a:ext cx="7589520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800" b="1">
                <a:solidFill>
                  <a:srgbClr val="1F2A37"/>
                </a:solidFill>
                <a:latin typeface="Calibri"/>
              </a:defRPr>
            </a:pPr>
            <a:r>
              <a:t>Live, automated, continuous — not a one-time check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Invisible to Investment-Ready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8/16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THE NGO JOURNEY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JOIN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Free profile on kuja.org marketplace</a:t>
            </a:r>
          </a:p>
        </p:txBody>
      </p:sp>
      <p:sp>
        <p:nvSpPr>
          <p:cNvPr id="13" name="Chevron 12"/>
          <p:cNvSpPr/>
          <p:nvPr/>
        </p:nvSpPr>
        <p:spPr>
          <a:xfrm>
            <a:off x="2395728" y="2788920"/>
            <a:ext cx="365760" cy="36576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34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ASSESS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AI capacity assessment, get readiness score</a:t>
            </a:r>
          </a:p>
        </p:txBody>
      </p:sp>
      <p:sp>
        <p:nvSpPr>
          <p:cNvPr id="18" name="Chevron 17"/>
          <p:cNvSpPr/>
          <p:nvPr/>
        </p:nvSpPr>
        <p:spPr>
          <a:xfrm>
            <a:off x="4681728" y="2788920"/>
            <a:ext cx="365760" cy="36576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IMPROVE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30/60/90-day roadmap, learning resources</a:t>
            </a:r>
          </a:p>
        </p:txBody>
      </p:sp>
      <p:sp>
        <p:nvSpPr>
          <p:cNvPr id="23" name="Chevron 22"/>
          <p:cNvSpPr/>
          <p:nvPr/>
        </p:nvSpPr>
        <p:spPr>
          <a:xfrm>
            <a:off x="6967728" y="2788920"/>
            <a:ext cx="365760" cy="36576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06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46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APPLY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AI-guided applications, document coaching</a:t>
            </a:r>
          </a:p>
        </p:txBody>
      </p:sp>
      <p:sp>
        <p:nvSpPr>
          <p:cNvPr id="28" name="Chevron 27"/>
          <p:cNvSpPr/>
          <p:nvPr/>
        </p:nvSpPr>
        <p:spPr>
          <a:xfrm>
            <a:off x="9253728" y="2788920"/>
            <a:ext cx="365760" cy="365760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92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2720" y="1965960"/>
            <a:ext cx="548640" cy="5486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Seamless compliance reporting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572000"/>
            <a:ext cx="10515600" cy="7315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572000"/>
            <a:ext cx="2103120" cy="73152"/>
          </a:xfrm>
          <a:prstGeom prst="rect">
            <a:avLst/>
          </a:prstGeom>
          <a:solidFill>
            <a:srgbClr val="DCED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51760" y="4572000"/>
            <a:ext cx="2103120" cy="73152"/>
          </a:xfrm>
          <a:prstGeom prst="rect">
            <a:avLst/>
          </a:prstGeom>
          <a:solidFill>
            <a:srgbClr val="BAD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0" y="4572000"/>
            <a:ext cx="2103120" cy="73152"/>
          </a:xfrm>
          <a:prstGeom prst="rect">
            <a:avLst/>
          </a:prstGeom>
          <a:solidFill>
            <a:srgbClr val="7CB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0" y="4572000"/>
            <a:ext cx="210312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61120" y="4572000"/>
            <a:ext cx="2103120" cy="7315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9CA3AF"/>
                </a:solidFill>
                <a:latin typeface="Calibri"/>
              </a:defRPr>
            </a:pPr>
            <a:r>
              <a:t>Invisible  →  Visible  →  Assessed  →  Ready  →  Funded  →  Compliant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Searching to Certainty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9/16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THE DONOR JOURNEY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8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Browse verified, assessed organizations</a:t>
            </a:r>
          </a:p>
        </p:txBody>
      </p:sp>
      <p:sp>
        <p:nvSpPr>
          <p:cNvPr id="13" name="Chevron 12"/>
          <p:cNvSpPr/>
          <p:nvPr/>
        </p:nvSpPr>
        <p:spPr>
          <a:xfrm>
            <a:off x="2395728" y="2788920"/>
            <a:ext cx="365760" cy="365760"/>
          </a:xfrm>
          <a:prstGeom prst="chevron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34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74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CONFIGURE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Set your criteria, thresholds, weightings</a:t>
            </a:r>
          </a:p>
        </p:txBody>
      </p:sp>
      <p:sp>
        <p:nvSpPr>
          <p:cNvPr id="18" name="Chevron 17"/>
          <p:cNvSpPr/>
          <p:nvPr/>
        </p:nvSpPr>
        <p:spPr>
          <a:xfrm>
            <a:off x="4681728" y="2788920"/>
            <a:ext cx="365760" cy="365760"/>
          </a:xfrm>
          <a:prstGeom prst="chevron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20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AI-ranked shortlists, dual scoring</a:t>
            </a:r>
          </a:p>
        </p:txBody>
      </p:sp>
      <p:sp>
        <p:nvSpPr>
          <p:cNvPr id="23" name="Chevron 22"/>
          <p:cNvSpPr/>
          <p:nvPr/>
        </p:nvSpPr>
        <p:spPr>
          <a:xfrm>
            <a:off x="6967728" y="2788920"/>
            <a:ext cx="365760" cy="365760"/>
          </a:xfrm>
          <a:prstGeom prst="chevron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06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046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AWARD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Grant wizard with AI agreement parsing</a:t>
            </a:r>
          </a:p>
        </p:txBody>
      </p:sp>
      <p:sp>
        <p:nvSpPr>
          <p:cNvPr id="28" name="Chevron 27"/>
          <p:cNvSpPr/>
          <p:nvPr/>
        </p:nvSpPr>
        <p:spPr>
          <a:xfrm>
            <a:off x="9253728" y="2788920"/>
            <a:ext cx="365760" cy="365760"/>
          </a:xfrm>
          <a:prstGeom prst="chevron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92640" y="1828800"/>
            <a:ext cx="1828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32720" y="1965960"/>
            <a:ext cx="548640" cy="5486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6517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0D9488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31089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Real-time reporting, AI compliance scores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371600" y="4937760"/>
            <a:ext cx="9418320" cy="5943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500" b="1">
                <a:solidFill>
                  <a:srgbClr val="1E40AF"/>
                </a:solidFill>
                <a:latin typeface="Calibri"/>
              </a:defRPr>
            </a:pPr>
            <a:r>
              <a:t>For donors using our ERP: multi-tenant real-time financial visibility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$4.79B Market. Zero Solutions for the Global South.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10/16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7160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37160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5544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1E40AF"/>
                </a:solidFill>
                <a:latin typeface="Calibri"/>
              </a:defRPr>
            </a:pPr>
            <a:r>
              <a:t>$2.75B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Current Market (2024)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26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Grand View Research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37160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371600"/>
            <a:ext cx="32004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5544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0D9488"/>
                </a:solidFill>
                <a:latin typeface="Calibri"/>
              </a:defRPr>
            </a:pPr>
            <a:r>
              <a:t>$4.79B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Projected (2030)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926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10.3% CAGR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37160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371600"/>
            <a:ext cx="32004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5544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F59E0B"/>
                </a:solidFill>
                <a:latin typeface="Calibri"/>
              </a:defRPr>
            </a:pPr>
            <a:r>
              <a:t>58.2%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146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NGO Segment Share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926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Largest segment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70332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3703320"/>
            <a:ext cx="320040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886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1E40AF"/>
                </a:solidFill>
                <a:latin typeface="Calibri"/>
              </a:defRPr>
            </a:pPr>
            <a: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8463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Nonprofits Wanting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257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CEP 2025 Report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80560" y="370332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3703320"/>
            <a:ext cx="32004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886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0D9488"/>
                </a:solidFill>
                <a:latin typeface="Calibri"/>
              </a:defRPr>
            </a:pPr>
            <a:r>
              <a:t>100K+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8463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African CSOs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5257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Registered organizations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703320"/>
            <a:ext cx="3200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703320"/>
            <a:ext cx="3200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38862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800" b="1">
                <a:solidFill>
                  <a:srgbClr val="DC2626"/>
                </a:solidFill>
                <a:latin typeface="Calibri"/>
              </a:defRPr>
            </a:pPr>
            <a:r>
              <a:t>&lt;5%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8463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F2A37"/>
                </a:solidFill>
                <a:latin typeface="Calibri"/>
              </a:defRPr>
            </a:pPr>
            <a:r>
              <a:t>Direct Funding to Local Actors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5257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vs 25% Grand Bargain target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 One Else Does What We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11/16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234440"/>
            <a:ext cx="118872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234440"/>
            <a:ext cx="118872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Fluxx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234440"/>
            <a:ext cx="118872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Submittable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234440"/>
            <a:ext cx="118872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SmartSimple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1234440"/>
            <a:ext cx="118872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UNPP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234440"/>
            <a:ext cx="118872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GlobalGiving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1234440"/>
            <a:ext cx="118872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Instrumentl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07040" y="1234440"/>
            <a:ext cx="118872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Xapien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73736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End-to-End Lifecycle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17373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17373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17373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17373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17373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7373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17373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07040" y="173736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240280"/>
            <a:ext cx="201168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AI-Powered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224028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0" y="224028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224028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0" y="224028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224028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24028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224028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07040" y="224028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74320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Capacity Assessment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27432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0" y="27432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63440" y="27432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27432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40880" y="27432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27432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27432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07040" y="274320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246120"/>
            <a:ext cx="201168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Multi-Language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0" y="324612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324612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63440" y="324612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52160" y="324612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40880" y="324612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24612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18320" y="324612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07040" y="324612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374904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Global South Design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0" y="37490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0" y="37490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663440" y="37490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52160" y="37490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40880" y="37490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29600" y="37490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8320" y="37490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607040" y="374904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4251960"/>
            <a:ext cx="201168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Marketplace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286000" y="425196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74720" y="425196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63440" y="425196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852160" y="425196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425196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0" y="425196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18320" y="425196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07040" y="425196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475488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Affordable for CSOs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286000" y="47548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74720" y="47548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63440" y="47548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852160" y="47548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040880" y="47548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29600" y="47548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18320" y="47548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07040" y="475488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5257800"/>
            <a:ext cx="201168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Due Diligence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0" y="525780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74720" y="525780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663440" y="525780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852160" y="525780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40880" y="525780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0" y="525780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418320" y="525780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607040" y="5257800"/>
            <a:ext cx="1188720" cy="5029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5760720"/>
            <a:ext cx="2011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50800" bIns="50800"/>
          <a:lstStyle/>
          <a:p>
            <a:pPr algn="l">
              <a:defRPr sz="1200" b="1">
                <a:solidFill>
                  <a:srgbClr val="1F2A37"/>
                </a:solidFill>
                <a:latin typeface="Calibri"/>
              </a:defRPr>
            </a:pPr>
            <a:r>
              <a:t>Reporting Module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286000" y="57607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474720" y="57607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63440" y="57607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52160" y="57607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16A34A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040880" y="57607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29600" y="57607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F59E0B"/>
                </a:solidFill>
                <a:latin typeface="Calibri"/>
              </a:defRPr>
            </a:pPr>
            <a:r>
              <a:t>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418320" y="57607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607040" y="5760720"/>
            <a:ext cx="11887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2000" b="1">
                <a:solidFill>
                  <a:srgbClr val="DC2626"/>
                </a:solidFill>
                <a:latin typeface="Calibri"/>
              </a:defRPr>
            </a:pPr>
            <a:r>
              <a:t>✗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286000" y="1234440"/>
            <a:ext cx="1188720" cy="5029200"/>
          </a:xfrm>
          <a:prstGeom prst="rect">
            <a:avLst/>
          </a:prstGeom>
          <a:noFill/>
          <a:ln w="381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Sustainable Revenue, Subsidized Access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12/16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280160"/>
            <a:ext cx="3200400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9CA3AF"/>
                </a:solidFill>
                <a:latin typeface="Calibri"/>
              </a:defRPr>
            </a:pPr>
            <a:r>
              <a:t>TIER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F2A37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1E40AF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004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✓  Marketplace profile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✓  Basic capacity assessment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A37"/>
                </a:solidFill>
                <a:latin typeface="Calibri"/>
              </a:defRPr>
            </a:pPr>
            <a:r>
              <a:t>✓  Grant discovery feed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280160"/>
            <a:ext cx="3200400" cy="34747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TIER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APPLICATION</a:t>
            </a:r>
            <a:br/>
            <a:r>
              <a:t>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$10K–$20K/yr</a:t>
            </a:r>
            <a:br/>
            <a:r>
              <a:t>per donor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004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AI matching + assessment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Donor-configured criteria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Shortlist generation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280160"/>
            <a:ext cx="3200400" cy="347472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417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TIER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173736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END-TO-END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46888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Custom</a:t>
            </a:r>
            <a:br/>
            <a:r>
              <a:t>Pricing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200400"/>
            <a:ext cx="2651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Full fund management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ERP integration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E0F2FE"/>
                </a:solidFill>
                <a:latin typeface="Calibri"/>
              </a:defRPr>
            </a:pPr>
            <a:r>
              <a:t>✓  Custom AI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029200"/>
            <a:ext cx="685800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1F2A37"/>
                </a:solidFill>
                <a:latin typeface="Calibri"/>
              </a:defRPr>
            </a:pPr>
            <a:r>
              <a:t>Free marketplace + basic assessment for CSOs  |  Paid tiers for donors drive sustainability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5029200"/>
            <a:ext cx="3383280" cy="59436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2026 Target: $1M revenue + $1M fundraised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Kenya to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13/16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1069848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38528" y="2606040"/>
            <a:ext cx="320040" cy="32004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1E40AF"/>
                </a:solidFill>
                <a:latin typeface="Calibri"/>
              </a:defRPr>
            </a:pPr>
            <a:r>
              <a:t>Q1–Q2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08960"/>
            <a:ext cx="2377440" cy="18288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KENYA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8 pipeline partners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3 CSO Network MoUs</a:t>
            </a:r>
          </a:p>
        </p:txBody>
      </p:sp>
      <p:sp>
        <p:nvSpPr>
          <p:cNvPr id="12" name="Oval 11"/>
          <p:cNvSpPr/>
          <p:nvPr/>
        </p:nvSpPr>
        <p:spPr>
          <a:xfrm>
            <a:off x="4636008" y="2606040"/>
            <a:ext cx="320040" cy="32004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Q2–Q4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1880" y="3108960"/>
            <a:ext cx="2377440" cy="18288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GLOBAL NETWORKS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NEAR, WACSI, EACSOF,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SANGONet + Oxfam/IRC/Save</a:t>
            </a:r>
          </a:p>
        </p:txBody>
      </p:sp>
      <p:sp>
        <p:nvSpPr>
          <p:cNvPr id="15" name="Oval 14"/>
          <p:cNvSpPr/>
          <p:nvPr/>
        </p:nvSpPr>
        <p:spPr>
          <a:xfrm>
            <a:off x="7333488" y="2606040"/>
            <a:ext cx="320040" cy="32004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7C3AED"/>
                </a:solidFill>
                <a:latin typeface="Calibri"/>
              </a:defRPr>
            </a:pPr>
            <a:r>
              <a:t>Q3 2026–</a:t>
            </a:r>
            <a:br/>
            <a:r>
              <a:t>Q2 2027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108960"/>
            <a:ext cx="2377440" cy="18288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SUB-SAHARAN</a:t>
            </a:r>
            <a:br/>
            <a:r>
              <a:t>AFRICA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24 countries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Continental expansion</a:t>
            </a:r>
          </a:p>
        </p:txBody>
      </p:sp>
      <p:sp>
        <p:nvSpPr>
          <p:cNvPr id="18" name="Oval 17"/>
          <p:cNvSpPr/>
          <p:nvPr/>
        </p:nvSpPr>
        <p:spPr>
          <a:xfrm>
            <a:off x="10030968" y="2606040"/>
            <a:ext cx="320040" cy="3200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300" b="1">
                <a:solidFill>
                  <a:srgbClr val="F59E0B"/>
                </a:solidFill>
                <a:latin typeface="Calibri"/>
              </a:defRPr>
            </a:pPr>
            <a:r>
              <a:t>Q3–Q4 2027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108960"/>
            <a:ext cx="2377440" cy="1828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spcAft>
                <a:spcPts val="1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LATIN AMERICA</a:t>
            </a:r>
            <a:br/>
            <a:r>
              <a:t>&amp; CARIBBEAN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15 countries</a:t>
            </a:r>
          </a:p>
          <a:p>
            <a:pPr algn="ctr">
              <a:spcAft>
                <a:spcPts val="4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Regional partnerships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03520"/>
            <a:ext cx="10698480" cy="54864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1F2A37"/>
                </a:solidFill>
                <a:latin typeface="Calibri"/>
              </a:defRPr>
            </a:pPr>
            <a:r>
              <a:t>Partners: NEAR  |  WACSI  |  EACSOF  |  SANGONet  |  TechSoup  |  EPIC Africa  |  Pledge for 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Where We Are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14/16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18872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80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600+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57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Active Users on kuja.org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18872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1280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200+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57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Local Organizations Onboarded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2801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153/153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Smoke Tests Passing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97180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100+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404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Browser UAT Specs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60" y="297180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38404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Languages Live (EN/FR/AR/SW/SO/ES)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2971800"/>
            <a:ext cx="3200400" cy="15544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063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4200" b="1">
                <a:solidFill>
                  <a:srgbClr val="1E40AF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84048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F2A37"/>
                </a:solidFill>
                <a:latin typeface="Calibri"/>
              </a:defRPr>
            </a:pPr>
            <a:r>
              <a:t>Prod Regressions Reported by Users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572000"/>
            <a:ext cx="283464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✓  Sustained AI chat threads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9040" y="4572000"/>
            <a:ext cx="420624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✓  Reviewer auto-assignment + nightly backfill cron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4572000"/>
            <a:ext cx="4023360" cy="4572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✓  Real-user metrics + NPS micro-survey live in prod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Let's Transform Grant Management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15/16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FFFFFF"/>
                </a:solidFill>
                <a:latin typeface="Calibri"/>
              </a:defRPr>
            </a:pPr>
            <a:r>
              <a:t>KUJA  |  Powered by Adeso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1E40AF"/>
                </a:solidFill>
                <a:latin typeface="Calibri"/>
              </a:defRPr>
            </a:pPr>
            <a:r>
              <a:t>WHAT WE'RE LOOKING 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5943600" cy="8229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1E40AF"/>
                </a:solidFill>
                <a:latin typeface="Calibri"/>
              </a:defRPr>
            </a:pPr>
            <a:r>
              <a:t>➔  Strategic Partners</a:t>
            </a:r>
          </a:p>
          <a:p>
            <a:pPr>
              <a:spcBef>
                <a:spcPts val="400"/>
              </a:spcBef>
              <a:defRPr sz="1300">
                <a:solidFill>
                  <a:srgbClr val="1F2A37"/>
                </a:solidFill>
                <a:latin typeface="Calibri"/>
              </a:defRPr>
            </a:pPr>
            <a:r>
              <a:t>Organizations who share our localization vision and can co-create solutions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34640"/>
            <a:ext cx="5943600" cy="8229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1E40AF"/>
                </a:solidFill>
                <a:latin typeface="Calibri"/>
              </a:defRPr>
            </a:pPr>
            <a:r>
              <a:t>➔  Pilot Donors</a:t>
            </a:r>
          </a:p>
          <a:p>
            <a:pPr>
              <a:spcBef>
                <a:spcPts val="400"/>
              </a:spcBef>
              <a:defRPr sz="1300">
                <a:solidFill>
                  <a:srgbClr val="1F2A37"/>
                </a:solidFill>
                <a:latin typeface="Calibri"/>
              </a:defRPr>
            </a:pPr>
            <a:r>
              <a:t>Foundations willing to pilot the end-to-end grant management solution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943600" cy="8229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1E40AF"/>
                </a:solidFill>
                <a:latin typeface="Calibri"/>
              </a:defRPr>
            </a:pPr>
            <a:r>
              <a:t>➔  CSO Networks</a:t>
            </a:r>
          </a:p>
          <a:p>
            <a:pPr>
              <a:spcBef>
                <a:spcPts val="400"/>
              </a:spcBef>
              <a:defRPr sz="1300">
                <a:solidFill>
                  <a:srgbClr val="1F2A37"/>
                </a:solidFill>
                <a:latin typeface="Calibri"/>
              </a:defRPr>
            </a:pPr>
            <a:r>
              <a:t>Networks ready to onboard their member organizations at scale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46320"/>
            <a:ext cx="5943600" cy="82296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1E40AF"/>
                </a:solidFill>
                <a:latin typeface="Calibri"/>
              </a:defRPr>
            </a:pPr>
            <a:r>
              <a:t>➔  Technology Partners</a:t>
            </a:r>
          </a:p>
          <a:p>
            <a:pPr>
              <a:spcBef>
                <a:spcPts val="400"/>
              </a:spcBef>
              <a:defRPr sz="1300">
                <a:solidFill>
                  <a:srgbClr val="1F2A37"/>
                </a:solidFill>
                <a:latin typeface="Calibri"/>
              </a:defRPr>
            </a:pPr>
            <a:r>
              <a:t>Companies that can help us scale infrastructure and integrations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280160"/>
            <a:ext cx="4114800" cy="4114800"/>
          </a:xfrm>
          <a:prstGeom prst="round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76200" tIns="190500" bIns="50800"/>
          <a:lstStyle/>
          <a:p>
            <a:pPr algn="ctr">
              <a:spcAft>
                <a:spcPts val="2000"/>
              </a:spcAft>
              <a:defRPr sz="1400" b="1">
                <a:solidFill>
                  <a:srgbClr val="F59E0B"/>
                </a:solidFill>
                <a:latin typeface="Calibri"/>
              </a:defRPr>
            </a:pPr>
            <a:r>
              <a:t>CONTACT</a:t>
            </a:r>
          </a:p>
          <a:p>
            <a:pPr>
              <a:spcAft>
                <a:spcPts val="600"/>
              </a:spcAft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Adeso</a:t>
            </a:r>
          </a:p>
          <a:p>
            <a:pPr>
              <a:spcAft>
                <a:spcPts val="600"/>
              </a:spcAft>
              <a:defRPr sz="1400" b="0">
                <a:solidFill>
                  <a:srgbClr val="A5B4FC"/>
                </a:solidFill>
                <a:latin typeface="Calibri"/>
              </a:defRPr>
            </a:pPr>
            <a:r>
              <a:t>African Development Solutions</a:t>
            </a:r>
          </a:p>
          <a:p>
            <a:pPr>
              <a:spcAft>
                <a:spcPts val="6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kuja.org</a:t>
            </a:r>
          </a:p>
          <a:p>
            <a:pPr>
              <a:spcAft>
                <a:spcPts val="600"/>
              </a:spcAft>
              <a:defRPr sz="1600" b="0">
                <a:solidFill>
                  <a:srgbClr val="A5B4FC"/>
                </a:solidFill>
                <a:latin typeface="Calibri"/>
              </a:defRPr>
            </a:pPr>
            <a:r>
              <a:t>adesoafrica.org</a:t>
            </a:r>
          </a:p>
          <a:p>
            <a:pPr>
              <a:spcAft>
                <a:spcPts val="60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info@adesoafrica.org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274320"/>
            <a:ext cx="2286000" cy="22860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0" y="5029200"/>
            <a:ext cx="1371600" cy="13716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5303520"/>
            <a:ext cx="914400" cy="914400"/>
          </a:xfrm>
          <a:prstGeom prst="ellipse">
            <a:avLst/>
          </a:prstGeom>
          <a:solidFill>
            <a:srgbClr val="3B5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8000" b="1">
                <a:solidFill>
                  <a:srgbClr val="FFFFFF"/>
                </a:solidFill>
                <a:latin typeface="Calibri"/>
              </a:defRPr>
            </a:pPr>
            <a:r>
              <a:t>KUJA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2834640"/>
            <a:ext cx="27432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20040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3000" b="1">
                <a:solidFill>
                  <a:srgbClr val="FFFFFF"/>
                </a:solidFill>
                <a:latin typeface="Calibri"/>
              </a:defRPr>
            </a:pPr>
            <a:r>
              <a:t>Matching Local Brilliance with Global Funding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2000" b="0">
                <a:solidFill>
                  <a:srgbClr val="A5B4FC"/>
                </a:solidFill>
                <a:latin typeface="Calibri"/>
              </a:defRPr>
            </a:pPr>
            <a:r>
              <a:t>The first AI-powered grant management platform</a:t>
            </a:r>
            <a:br/>
            <a:r>
              <a:t>built for the Global South, by the Global South.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6692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93A3BF"/>
                </a:solidFill>
                <a:latin typeface="Calibri"/>
              </a:defRPr>
            </a:pPr>
            <a:r>
              <a:t>kuja.org  |  adesoafrica.org  |  info@adesoafrica.org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16/16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