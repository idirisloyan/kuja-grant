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A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943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ADESO  ·  NAIROBI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1691640"/>
            <a:ext cx="10911535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KUJA</a:t>
            </a:r>
            <a:endParaRPr lang="en-US" sz="22000" dirty="0"/>
          </a:p>
        </p:txBody>
      </p:sp>
      <p:sp>
        <p:nvSpPr>
          <p:cNvPr id="4" name="Shape 2"/>
          <p:cNvSpPr/>
          <p:nvPr/>
        </p:nvSpPr>
        <p:spPr>
          <a:xfrm>
            <a:off x="640080" y="3749040"/>
            <a:ext cx="1097280" cy="411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3931920"/>
            <a:ext cx="10911535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i="1" dirty="0">
                <a:solidFill>
                  <a:srgbClr val="F4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Locally-led funding, at network speed.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457200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platform. Three products. Four live tenants. Built for the Global South, by the Global South.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V11  ·  July 2026  ·  Confidential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894015" y="6355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kuja@adeso.org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MOMENT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aid system has been rebuilt in real time.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40080" y="214884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numbers that define the next decade of locally-led funding.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40080" y="2834640"/>
            <a:ext cx="10911535" cy="10973"/>
          </a:xfrm>
          <a:prstGeom prst="rect">
            <a:avLst/>
          </a:prstGeom>
          <a:solidFill>
            <a:srgbClr val="E8E0D8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154680"/>
            <a:ext cx="3515258" cy="1554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C241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−23.1%</a:t>
            </a:r>
            <a:endParaRPr lang="en-US" sz="8000" dirty="0"/>
          </a:p>
        </p:txBody>
      </p:sp>
      <p:sp>
        <p:nvSpPr>
          <p:cNvPr id="9" name="Shape 7"/>
          <p:cNvSpPr/>
          <p:nvPr/>
        </p:nvSpPr>
        <p:spPr>
          <a:xfrm>
            <a:off x="640080" y="4754880"/>
            <a:ext cx="548640" cy="2286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4873752"/>
            <a:ext cx="351525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OECD ODA real-terms decline in 2025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5276088"/>
            <a:ext cx="351525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annual decline ever recorded. Germany overtook the US as the #1 donor.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338218" y="3154680"/>
            <a:ext cx="3515258" cy="1554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7C2D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86%</a:t>
            </a:r>
            <a:endParaRPr lang="en-US" sz="8000" dirty="0"/>
          </a:p>
        </p:txBody>
      </p:sp>
      <p:sp>
        <p:nvSpPr>
          <p:cNvPr id="13" name="Shape 11"/>
          <p:cNvSpPr/>
          <p:nvPr/>
        </p:nvSpPr>
        <p:spPr>
          <a:xfrm>
            <a:off x="4338218" y="4754880"/>
            <a:ext cx="548640" cy="22860"/>
          </a:xfrm>
          <a:prstGeom prst="rect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38218" y="4873752"/>
            <a:ext cx="351525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USAID programs terminated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338218" y="5276088"/>
            <a:ext cx="351525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5,341 contracts cancelled · $75.9B in program value · USAID closed July 2025.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036357" y="3154680"/>
            <a:ext cx="3515258" cy="1554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$32B</a:t>
            </a:r>
            <a:endParaRPr lang="en-US" sz="8000" dirty="0"/>
          </a:p>
        </p:txBody>
      </p:sp>
      <p:sp>
        <p:nvSpPr>
          <p:cNvPr id="17" name="Shape 15"/>
          <p:cNvSpPr/>
          <p:nvPr/>
        </p:nvSpPr>
        <p:spPr>
          <a:xfrm>
            <a:off x="8036357" y="4754880"/>
            <a:ext cx="548640" cy="228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36357" y="4873752"/>
            <a:ext cx="351525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US foreign aid 2025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036357" y="5276088"/>
            <a:ext cx="351525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from ~$68B in 2024. Bilateral cuts of 33–56% across UK, Sweden, Canada.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598932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OECD Apr 2026 · Donor Tracker · Reuters · House of Commons Library CBP-10243 · CBC News.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4008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011680" y="6400800"/>
            <a:ext cx="78025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V12  ·  Confidential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CRISIS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Localization has failed.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40080" y="214884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decade of pledges. The numbers have not moved.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40080" y="2788920"/>
            <a:ext cx="10911535" cy="10973"/>
          </a:xfrm>
          <a:prstGeom prst="rect">
            <a:avLst/>
          </a:prstGeom>
          <a:solidFill>
            <a:srgbClr val="E8E0D8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3108960"/>
            <a:ext cx="5272888" cy="2834640"/>
          </a:xfrm>
          <a:prstGeom prst="rect">
            <a:avLst/>
          </a:prstGeom>
          <a:solidFill>
            <a:srgbClr val="F4E8DC"/>
          </a:solidFill>
          <a:ln w="12700">
            <a:solidFill>
              <a:srgbClr val="F4E8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3375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PROMISE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05840" y="3703320"/>
            <a:ext cx="36576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4A7C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25%</a:t>
            </a:r>
            <a:endParaRPr lang="en-US" sz="13000" dirty="0"/>
          </a:p>
        </p:txBody>
      </p:sp>
      <p:sp>
        <p:nvSpPr>
          <p:cNvPr id="11" name="Text 9"/>
          <p:cNvSpPr/>
          <p:nvPr/>
        </p:nvSpPr>
        <p:spPr>
          <a:xfrm>
            <a:off x="1005840" y="53035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 Bargain target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05840" y="56235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funding to local &amp; national actors. Signed by 60+ donors in 2016.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78728" y="3108960"/>
            <a:ext cx="5272888" cy="283464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44488" y="33375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REALITY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644488" y="3703320"/>
            <a:ext cx="36576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C241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3.8%</a:t>
            </a:r>
            <a:endParaRPr lang="en-US" sz="13000" dirty="0"/>
          </a:p>
        </p:txBody>
      </p:sp>
      <p:sp>
        <p:nvSpPr>
          <p:cNvPr id="16" name="Text 14"/>
          <p:cNvSpPr/>
          <p:nvPr/>
        </p:nvSpPr>
        <p:spPr>
          <a:xfrm>
            <a:off x="6644488" y="53035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direct funding in 2024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644488" y="56235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Declined roughly one-third from 2023 as international actors deprioritized localization.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598932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Development Initiatives — Falling Short: Funding to LNAs (2025); ALNAP GHA Report 2025.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008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011680" y="6400800"/>
            <a:ext cx="78025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V12  ·  Confidential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ANSWER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11535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7C2D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Kuja is the operating system for locally-led funding.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640080" y="4114800"/>
            <a:ext cx="1371600" cy="36576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4343400"/>
            <a:ext cx="927480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AI-native platform. Three integrated products. Shared customer record, shared Trust Profile, shared AI memory, shared audit chain.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5166360"/>
            <a:ext cx="927480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7C2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the Global South, FOR the Global South. Adeso runs its own operations on it today.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011680" y="6400800"/>
            <a:ext cx="78025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V12  ·  Confidential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products. One flywheel.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product sells the next. The integration is the value — not the sum of the parts.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40080" y="2788920"/>
            <a:ext cx="10911535" cy="10973"/>
          </a:xfrm>
          <a:prstGeom prst="rect">
            <a:avLst/>
          </a:prstGeom>
          <a:solidFill>
            <a:srgbClr val="E8E0D8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017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3429000"/>
            <a:ext cx="457200" cy="36576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566160"/>
            <a:ext cx="345429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Marketplace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40080" y="4160520"/>
            <a:ext cx="336285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and trust. NGOs build a networked profile with a verified Trust Profile; donors find good-fit organizations with AI-grounded recommendations. Creates the supply of trusted orgs.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40080" y="5760720"/>
            <a:ext cx="345429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5961888"/>
            <a:ext cx="345429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Freemium · paid Trust Profile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368698" y="3017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68698" y="3429000"/>
            <a:ext cx="457200" cy="36576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68698" y="3566160"/>
            <a:ext cx="345429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Grant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4368698" y="4160520"/>
            <a:ext cx="336285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grant lifecycle. AI-grounded scoring, six-language reporting, hash-anchored audit trail. 35+ AI surfaces in production. Monetizes the funding relationship.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368698" y="5760720"/>
            <a:ext cx="345429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368698" y="5961888"/>
            <a:ext cx="345429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by org type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097317" y="3017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7C2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097317" y="3429000"/>
            <a:ext cx="457200" cy="36576"/>
          </a:xfrm>
          <a:prstGeom prst="rect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97317" y="3566160"/>
            <a:ext cx="345429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ERP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8097317" y="4160520"/>
            <a:ext cx="336285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and procurement backbone. The ledger feeds grant compliance reporting automatically and live operations data updates the Trust Profile — donors never have to adopt it.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097317" y="5760720"/>
            <a:ext cx="345429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097317" y="5961888"/>
            <a:ext cx="345429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Donor-sponsored primary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" y="5715000"/>
            <a:ext cx="10911535" cy="502920"/>
          </a:xfrm>
          <a:prstGeom prst="rect">
            <a:avLst/>
          </a:prstGeom>
          <a:solidFill>
            <a:srgbClr val="0F0A07"/>
          </a:solidFill>
          <a:ln w="12700">
            <a:solidFill>
              <a:srgbClr val="0F0A0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5779008"/>
            <a:ext cx="104543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Shared: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memory  ·  Trust Profile  ·  Audit chain  ·  Customer record  ·  Identity  ·  Six-language parity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008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011680" y="6400800"/>
            <a:ext cx="78025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V12  ·  Confidential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2  ·  KUJA GRANT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end-to-end grant lifecycle, AI-grounded.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4884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 designs. NGO applies. Reviewers score. Reports are evaluated. Every step grounded with citations.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40080" y="2880360"/>
            <a:ext cx="10911535" cy="10973"/>
          </a:xfrm>
          <a:prstGeom prst="rect">
            <a:avLst/>
          </a:prstGeom>
          <a:solidFill>
            <a:srgbClr val="E8E0D8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1546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WORKFLOW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520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241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051560" y="35204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377440" y="35204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 configures rubrics, criteria, eligibility — wizard-driven.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40233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241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051560" y="402336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377440" y="402336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 applies with AI co-author drafting from their own profile.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4526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241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051560" y="452628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377440" y="45262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panels score per criterion with evidence citations.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5029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241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051560" y="50292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377440" y="50292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Hard-gated rules enforced at submit. Audit-anchored decisions.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080" y="55321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241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051560" y="553212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377440" y="55321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AI-evaluated against agreement; per-requirement structured signals.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583680" y="3108960"/>
            <a:ext cx="4967935" cy="3291840"/>
          </a:xfrm>
          <a:prstGeom prst="rect">
            <a:avLst/>
          </a:prstGeom>
          <a:solidFill>
            <a:srgbClr val="0F0A07"/>
          </a:solidFill>
          <a:ln w="12700">
            <a:solidFill>
              <a:srgbClr val="0F0A0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49440" y="3383280"/>
            <a:ext cx="4419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TODAY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949440" y="3749040"/>
            <a:ext cx="441929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35+</a:t>
            </a:r>
            <a:endParaRPr lang="en-US" sz="9000" dirty="0"/>
          </a:p>
        </p:txBody>
      </p:sp>
      <p:sp>
        <p:nvSpPr>
          <p:cNvPr id="27" name="Text 25"/>
          <p:cNvSpPr/>
          <p:nvPr/>
        </p:nvSpPr>
        <p:spPr>
          <a:xfrm>
            <a:off x="6949440" y="4937760"/>
            <a:ext cx="44192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surfaces in production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949440" y="5394960"/>
            <a:ext cx="548640" cy="1828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49440" y="5532120"/>
            <a:ext cx="441929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Voice-to-report  ·  Photo-as-evidence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949440" y="5733288"/>
            <a:ext cx="441929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rubric scoring with citations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949440" y="5934456"/>
            <a:ext cx="441929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languages at platform parity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49440" y="6135624"/>
            <a:ext cx="441929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54/54 prod regression  ·  19/19 UAT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011680" y="6400800"/>
            <a:ext cx="78025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V12  ·  Confidential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GRANT  ·  TRUST SPECTRUM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engine. The full trust spectrum.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live tenants on the same codebase — the flavor changes how trust is established, never the engine.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0911535" cy="10973"/>
          </a:xfrm>
          <a:prstGeom prst="rect">
            <a:avLst/>
          </a:prstGeom>
          <a:solidFill>
            <a:srgbClr val="E8E0D8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3017520"/>
            <a:ext cx="2556434" cy="2331720"/>
          </a:xfrm>
          <a:prstGeom prst="rect">
            <a:avLst/>
          </a:prstGeom>
          <a:solidFill>
            <a:srgbClr val="FAF5F2"/>
          </a:solidFill>
          <a:ln w="9525">
            <a:solidFill>
              <a:srgbClr val="E8E0D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3017520"/>
            <a:ext cx="2556434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182112"/>
            <a:ext cx="21906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MARKETPLACE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3456432"/>
            <a:ext cx="219067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 ·  DOCUMENT TRUST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" y="3730752"/>
            <a:ext cx="219067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NGO registers. Trust Profile, AI rubric scoring and automated compliance screening do the vetting.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822960" y="4937760"/>
            <a:ext cx="219067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35+ AI surfaces, six languages.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425114" y="3017520"/>
            <a:ext cx="2556434" cy="2331720"/>
          </a:xfrm>
          <a:prstGeom prst="rect">
            <a:avLst/>
          </a:prstGeom>
          <a:solidFill>
            <a:srgbClr val="FAF5F2"/>
          </a:solidFill>
          <a:ln w="9525">
            <a:solidFill>
              <a:srgbClr val="E8E0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25114" y="3017520"/>
            <a:ext cx="2556434" cy="54864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07994" y="3182112"/>
            <a:ext cx="21906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NETWORK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607994" y="3456432"/>
            <a:ext cx="219067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 ·  FORMAL VETTING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607994" y="3730752"/>
            <a:ext cx="219067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vetted at the gate: capacity assessment, multi-sig emergency declarations, pooled funds and windows.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607994" y="4937760"/>
            <a:ext cx="219067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network funding.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210148" y="3017520"/>
            <a:ext cx="2556434" cy="2331720"/>
          </a:xfrm>
          <a:prstGeom prst="rect">
            <a:avLst/>
          </a:prstGeom>
          <a:solidFill>
            <a:srgbClr val="FAF5F2"/>
          </a:solidFill>
          <a:ln w="9525">
            <a:solidFill>
              <a:srgbClr val="E8E0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10148" y="3017520"/>
            <a:ext cx="2556434" cy="54864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93028" y="3182112"/>
            <a:ext cx="21906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PROXIMATE FUND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93028" y="3456432"/>
            <a:ext cx="219067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CRISIS  ·  RELATIONAL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393028" y="3730752"/>
            <a:ext cx="219067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Sudan, live. Community endorsers vouch where no registry exists. Arabic-first, zero-login voice reporting, hawala + mobile money.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393028" y="4937760"/>
            <a:ext cx="219067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paperwork-first systems fail.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995181" y="3017520"/>
            <a:ext cx="2556434" cy="2331720"/>
          </a:xfrm>
          <a:prstGeom prst="rect">
            <a:avLst/>
          </a:prstGeom>
          <a:solidFill>
            <a:srgbClr val="FAF5F2"/>
          </a:solidFill>
          <a:ln w="9525">
            <a:solidFill>
              <a:srgbClr val="E8E0D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995181" y="3017520"/>
            <a:ext cx="2556434" cy="54864"/>
          </a:xfrm>
          <a:prstGeom prst="rect">
            <a:avLst/>
          </a:prstGeom>
          <a:solidFill>
            <a:srgbClr val="84B59F"/>
          </a:solidFill>
          <a:ln w="12700">
            <a:solidFill>
              <a:srgbClr val="84B59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78061" y="3182112"/>
            <a:ext cx="21906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SAXANSAXO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178061" y="3456432"/>
            <a:ext cx="219067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4B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COMMUNITY-LED  ·  SCLR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9178061" y="3730752"/>
            <a:ext cx="219067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Somalia, live. Survivor and community-led micro-grants: groups write their own proposals in Somali on any phone; a visible 10-day clock to money in hand.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178061" y="4937760"/>
            <a:ext cx="219067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i="1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the community. Record the story.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40080" y="5577840"/>
            <a:ext cx="10911535" cy="685800"/>
          </a:xfrm>
          <a:prstGeom prst="rect">
            <a:avLst/>
          </a:prstGeom>
          <a:solidFill>
            <a:srgbClr val="0F0A07"/>
          </a:solidFill>
          <a:ln w="12700">
            <a:solidFill>
              <a:srgbClr val="0F0A0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566928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DONOR-COMPLIANCE LOOP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931920" y="5650992"/>
            <a:ext cx="734537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signed donor agreement → AI extracts obligations → restrictions enforced at disbursement → reports scored per requirement → one-click donor pack. Adeso complies with its own institutional funders on the engine it sells.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4008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011680" y="6400800"/>
            <a:ext cx="78025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V12  ·  Confidential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GRANT  ·  CLIENT PROOF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clients. Two opposite SOPs. One engine.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Proximate demanded MORE control than any incumbent offers. Saxansaxo demanded LESS. Kuja Grant runs both — configured, not forked.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0911535" cy="10973"/>
          </a:xfrm>
          <a:prstGeom prst="rect">
            <a:avLst/>
          </a:prstGeom>
          <a:solidFill>
            <a:srgbClr val="E8E0D8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971800"/>
            <a:ext cx="5295748" cy="2514600"/>
          </a:xfrm>
          <a:prstGeom prst="rect">
            <a:avLst/>
          </a:prstGeom>
          <a:solidFill>
            <a:srgbClr val="FAF5F2"/>
          </a:solidFill>
          <a:ln w="9525">
            <a:solidFill>
              <a:srgbClr val="E8E0D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971800"/>
            <a:ext cx="54864" cy="251460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108960"/>
            <a:ext cx="47471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PROXIMATE FUND — SUDAN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3392424"/>
            <a:ext cx="47471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5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COMPLIANCE-STRICT  ·  ACTIVE CONFLICT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914400" y="3685032"/>
            <a:ext cx="4747108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endorsement replaces registry paperwork — neighbors vouch, reputation is scored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Multi-signature co-sign ladder scales approvals with disbursement size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Hawala + mobile money as first-class payment rails, with Plan-B fallback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 report by phone: zero-login token link, voice notes in Arabic, photos as evidence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compiles donor reports in English AND Arabic; hash-chained audit trail on every decision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55868" y="2971800"/>
            <a:ext cx="5295748" cy="2514600"/>
          </a:xfrm>
          <a:prstGeom prst="rect">
            <a:avLst/>
          </a:prstGeom>
          <a:solidFill>
            <a:srgbClr val="FAF5F2"/>
          </a:solidFill>
          <a:ln w="9525">
            <a:solidFill>
              <a:srgbClr val="E8E0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55868" y="2971800"/>
            <a:ext cx="54864" cy="251460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30188" y="3108960"/>
            <a:ext cx="47471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SAXANSAXO — SOMALIA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30188" y="3392424"/>
            <a:ext cx="47471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50" kern="0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LIGHT  ·  SCLR DOCTRINE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6530188" y="3685032"/>
            <a:ext cx="4747108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Eight-step survivor and community-led cycle: permission from elders first, always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Communities write their OWN proposals in Somali — a shareable link, no login, any phone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visible 10-day clock from selection to money in hand — the one metric that matters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receipts, no spend policing by design — the system records decisions, not suspicion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Political-interference pause register: when officials push, withdrawal is principled and on the record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40080" y="5623560"/>
            <a:ext cx="10911535" cy="658368"/>
          </a:xfrm>
          <a:prstGeom prst="rect">
            <a:avLst/>
          </a:prstGeom>
          <a:solidFill>
            <a:srgbClr val="0F0A07"/>
          </a:solidFill>
          <a:ln w="12700">
            <a:solidFill>
              <a:srgbClr val="0F0A0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5705856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THE GLOBAL SOUTH, BY THE GLOBAL SOUTH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212080" y="5687568"/>
            <a:ext cx="60652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Sudan in active conflict. Somalia’s hardest-to-reach districts. Where connectivity, registries and banking cannot be assumed — the system still delivers. That is the barrier Kuja exists to remove.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011680" y="6400800"/>
            <a:ext cx="78025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V12  ·  Confidential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3  ·  KUJA ERP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Standalone backbone. Integrated upgrade.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 and NGO each choose. Both paths are AI-driven. ERP makes the financial data real-time.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40080" y="2788920"/>
            <a:ext cx="10911535" cy="10973"/>
          </a:xfrm>
          <a:prstGeom prst="rect">
            <a:avLst/>
          </a:prstGeom>
          <a:solidFill>
            <a:srgbClr val="E8E0D8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3017520"/>
            <a:ext cx="10911535" cy="502920"/>
          </a:xfrm>
          <a:prstGeom prst="rect">
            <a:avLst/>
          </a:prstGeom>
          <a:solidFill>
            <a:srgbClr val="0F0A07"/>
          </a:solidFill>
          <a:ln w="12700">
            <a:solidFill>
              <a:srgbClr val="0F0A0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34640" y="3063240"/>
            <a:ext cx="408416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Grant + AI  (no ERP)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284568" y="3063240"/>
            <a:ext cx="408416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Grant + Kuja ERP  (integrated)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520440"/>
            <a:ext cx="10911535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56616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reports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834640" y="3566160"/>
            <a:ext cx="40841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evaluates NGO submissions, per criterion, with citations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284568" y="3566160"/>
            <a:ext cx="40841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Auto-generated from the ledger — real-time burn rate &amp; variance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4114800"/>
            <a:ext cx="10911535" cy="594360"/>
          </a:xfrm>
          <a:prstGeom prst="rect">
            <a:avLst/>
          </a:prstGeom>
          <a:solidFill>
            <a:srgbClr val="FAF5F2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16052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cadence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834640" y="4160520"/>
            <a:ext cx="40841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/ monthly point-in-time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284568" y="4160520"/>
            <a:ext cx="40841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as spend events flow in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" y="4709160"/>
            <a:ext cx="10911535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75488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chain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834640" y="4754880"/>
            <a:ext cx="40841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Anchored at each submission event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284568" y="4754880"/>
            <a:ext cx="40841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Anchored at every spend event, at the moment of entry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5303520"/>
            <a:ext cx="10911535" cy="594360"/>
          </a:xfrm>
          <a:prstGeom prst="rect">
            <a:avLst/>
          </a:prstGeom>
          <a:solidFill>
            <a:srgbClr val="FAF5F2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534924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variance flags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834640" y="5349240"/>
            <a:ext cx="40841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Raised when reports come in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284568" y="5349240"/>
            <a:ext cx="40841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Raised the day a line crosses threshold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0080" y="589788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2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donor visibility — the wedge no competitor has. </a:t>
            </a:r>
            <a:pPr indent="0" marL="0">
              <a:buNone/>
            </a:pPr>
            <a:r>
              <a:rPr lang="en-US" sz="13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NGO owns its tenant; donors get a role-aware cross-tenant view of the grant-scoped spend across their funded grantees.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008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011680" y="6400800"/>
            <a:ext cx="78025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V12  ·  Confidential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IS THE PRODUCT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pillars. One tamper-evident chain.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funder asks the same question: how do I know? The answer is a URL.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40080" y="2788920"/>
            <a:ext cx="10911535" cy="10973"/>
          </a:xfrm>
          <a:prstGeom prst="rect">
            <a:avLst/>
          </a:prstGeom>
          <a:solidFill>
            <a:srgbClr val="E8E0D8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0175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3310128"/>
            <a:ext cx="365760" cy="2286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429000"/>
            <a:ext cx="3332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Identity &amp; Registration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3886200"/>
            <a:ext cx="333237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African registries pre-mapped. AI-confidence score on the verification.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338218" y="30175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38218" y="3310128"/>
            <a:ext cx="365760" cy="2286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38218" y="3429000"/>
            <a:ext cx="3332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Sanctions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338218" y="3886200"/>
            <a:ext cx="333237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OpenSanctions live, UN/OFAC/EU fallback. Re-screened on cadence.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036357" y="30175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036357" y="3310128"/>
            <a:ext cx="365760" cy="2286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36357" y="3429000"/>
            <a:ext cx="3332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Adverse Media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036357" y="3886200"/>
            <a:ext cx="333237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24-month lookback. Per-finding source citations.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45262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818888"/>
            <a:ext cx="365760" cy="2286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937760"/>
            <a:ext cx="3332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Bank Verification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0080" y="5394960"/>
            <a:ext cx="333237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Plaid + IBAN + microdeposit. Country-specific where the rail exists.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338218" y="45262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38218" y="4818888"/>
            <a:ext cx="365760" cy="2286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38218" y="4937760"/>
            <a:ext cx="3332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Conflict of Interest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338218" y="5394960"/>
            <a:ext cx="333237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per signature step. Audit-anchored. OB recusal flow.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036357" y="45262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036357" y="4818888"/>
            <a:ext cx="365760" cy="2286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36357" y="4937760"/>
            <a:ext cx="3332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Capacity Assessment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036357" y="5394960"/>
            <a:ext cx="333237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5-framework. Reusable. Publishable as a tamper-evident Trust Passport.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0080" y="5897880"/>
            <a:ext cx="10911535" cy="41148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5961888"/>
            <a:ext cx="104543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Hash-anchored audit chain.  </a:t>
            </a:r>
            <a:pPr indent="0" marL="0">
              <a:buNone/>
            </a:pPr>
            <a:r>
              <a:rPr lang="en-US" sz="12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governance action links to the previous one. Tamper an entry — every row after breaks.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4008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011680" y="6400800"/>
            <a:ext cx="78025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V12  ·  Confidential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0A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THE ARCHITECTURE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Adoption is universal. Impact is not. The window is open.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3332378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92%</a:t>
            </a:r>
            <a:endParaRPr lang="en-US" sz="11000" dirty="0"/>
          </a:p>
        </p:txBody>
      </p:sp>
      <p:sp>
        <p:nvSpPr>
          <p:cNvPr id="7" name="Shape 5"/>
          <p:cNvSpPr/>
          <p:nvPr/>
        </p:nvSpPr>
        <p:spPr>
          <a:xfrm>
            <a:off x="640080" y="4892040"/>
            <a:ext cx="365760" cy="228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5029200"/>
            <a:ext cx="314949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nonprofits use AI tools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429658" y="3200400"/>
            <a:ext cx="3332378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4A2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7%</a:t>
            </a:r>
            <a:endParaRPr lang="en-US" sz="11000" dirty="0"/>
          </a:p>
        </p:txBody>
      </p:sp>
      <p:sp>
        <p:nvSpPr>
          <p:cNvPr id="10" name="Shape 8"/>
          <p:cNvSpPr/>
          <p:nvPr/>
        </p:nvSpPr>
        <p:spPr>
          <a:xfrm>
            <a:off x="4429658" y="4892040"/>
            <a:ext cx="365760" cy="2286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29658" y="5029200"/>
            <a:ext cx="314949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major organizational impact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19237" y="3200400"/>
            <a:ext cx="3332378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84B59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97%</a:t>
            </a:r>
            <a:endParaRPr lang="en-US" sz="11000" dirty="0"/>
          </a:p>
        </p:txBody>
      </p:sp>
      <p:sp>
        <p:nvSpPr>
          <p:cNvPr id="13" name="Shape 11"/>
          <p:cNvSpPr/>
          <p:nvPr/>
        </p:nvSpPr>
        <p:spPr>
          <a:xfrm>
            <a:off x="8219237" y="4892040"/>
            <a:ext cx="365760" cy="22860"/>
          </a:xfrm>
          <a:prstGeom prst="rect">
            <a:avLst/>
          </a:prstGeom>
          <a:solidFill>
            <a:srgbClr val="84B59F"/>
          </a:solidFill>
          <a:ln w="12700">
            <a:solidFill>
              <a:srgbClr val="84B59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9237" y="5029200"/>
            <a:ext cx="314949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foundations NOT yet using AI to screen applications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598932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Incumbents are bolting AI onto rigid data models. Kuja was built AI-native from day one.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6400800"/>
            <a:ext cx="1091153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Virtuous + Fundraising.AI 2026 · Candid 2024 · Plinth 2025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OPPORTUNITY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$35–40B funding gap meets a 150,000-NGO market.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Global South mid-size NGO is the buyer. The funding shock is the demand signal.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0911535" cy="10973"/>
          </a:xfrm>
          <a:prstGeom prst="rect">
            <a:avLst/>
          </a:prstGeom>
          <a:solidFill>
            <a:srgbClr val="E8E0D8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3017520"/>
            <a:ext cx="3454298" cy="320040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291840"/>
            <a:ext cx="29056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 UNIVERSE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14400" y="3611880"/>
            <a:ext cx="290565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4A7C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478K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914400" y="4572000"/>
            <a:ext cx="29056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Form 990 filers (Candid)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4846320"/>
            <a:ext cx="29056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897K active CSOs in Brazil (IPEA 2024)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14400" y="5120640"/>
            <a:ext cx="29056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187K NGOs on Darpan India (2023)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5532120"/>
            <a:ext cx="290565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bands (country-level budgets): medium $2–10M and large $10–20M CSOs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68698" y="3017520"/>
            <a:ext cx="3454298" cy="3200400"/>
          </a:xfrm>
          <a:prstGeom prst="rect">
            <a:avLst/>
          </a:prstGeom>
          <a:solidFill>
            <a:srgbClr val="F4E8DC"/>
          </a:solidFill>
          <a:ln w="12700">
            <a:solidFill>
              <a:srgbClr val="F4E8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43018" y="3291840"/>
            <a:ext cx="29056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SERVICEABLE ADDRESSABLE MARKET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643018" y="3611880"/>
            <a:ext cx="290565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15K–35K</a:t>
            </a:r>
            <a:endParaRPr lang="en-US" sz="5000" dirty="0"/>
          </a:p>
        </p:txBody>
      </p:sp>
      <p:sp>
        <p:nvSpPr>
          <p:cNvPr id="18" name="Text 16"/>
          <p:cNvSpPr/>
          <p:nvPr/>
        </p:nvSpPr>
        <p:spPr>
          <a:xfrm>
            <a:off x="4643018" y="4572000"/>
            <a:ext cx="29056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mid-size Global South NGOs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643018" y="4892040"/>
            <a:ext cx="29056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applied: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43018" y="5120640"/>
            <a:ext cx="290565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(Africa, MENA, Asia-Pacific, LatAm)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643018" y="5349240"/>
            <a:ext cx="290565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Grant-making or grant-receiving at scale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643018" y="5577840"/>
            <a:ext cx="290565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Discretionary spend OR donor sponsorship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097317" y="3017520"/>
            <a:ext cx="3454298" cy="3200400"/>
          </a:xfrm>
          <a:prstGeom prst="rect">
            <a:avLst/>
          </a:prstGeom>
          <a:solidFill>
            <a:srgbClr val="0F0A07"/>
          </a:solidFill>
          <a:ln w="12700">
            <a:solidFill>
              <a:srgbClr val="0F0A0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371637" y="3291840"/>
            <a:ext cx="29056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SOFTWARE MARKET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371637" y="3611880"/>
            <a:ext cx="290565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$2.6B→$4.2B</a:t>
            </a:r>
            <a:endParaRPr lang="en-US" sz="3800" dirty="0"/>
          </a:p>
        </p:txBody>
      </p:sp>
      <p:sp>
        <p:nvSpPr>
          <p:cNvPr id="26" name="Text 24"/>
          <p:cNvSpPr/>
          <p:nvPr/>
        </p:nvSpPr>
        <p:spPr>
          <a:xfrm>
            <a:off x="8371637" y="4480560"/>
            <a:ext cx="29056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management software, 2025 → 2030 (Mordor Intelligence)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371637" y="4800600"/>
            <a:ext cx="548640" cy="1828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71637" y="4937760"/>
            <a:ext cx="29056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2030 target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71637" y="5212080"/>
            <a:ext cx="29056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$8.9M</a:t>
            </a:r>
            <a:endParaRPr lang="en-US" sz="2800" dirty="0"/>
          </a:p>
        </p:txBody>
      </p:sp>
      <p:sp>
        <p:nvSpPr>
          <p:cNvPr id="30" name="Text 28"/>
          <p:cNvSpPr/>
          <p:nvPr/>
        </p:nvSpPr>
        <p:spPr>
          <a:xfrm>
            <a:off x="8371637" y="5715000"/>
            <a:ext cx="29056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rate needed: &lt;0.5%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008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011680" y="6400800"/>
            <a:ext cx="78025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V12  ·  Confidential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WIN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structural advantages that compound.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competitor has all five — and the platform incumbents would need to rewrite their data models to match.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0911535" cy="10973"/>
          </a:xfrm>
          <a:prstGeom prst="rect">
            <a:avLst/>
          </a:prstGeom>
          <a:solidFill>
            <a:srgbClr val="E8E0D8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926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80160" y="2926080"/>
            <a:ext cx="45413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platform, one customer record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80160" y="3310128"/>
            <a:ext cx="454136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signed in module 4 auto-updates the obligation tracker in module 5, surfaces in module 9, rolls into module 10. Stitched stack does none of this without paid integrations.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187288" y="2926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27368" y="2926080"/>
            <a:ext cx="45413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AI-native, not AI-bolted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827368" y="3310128"/>
            <a:ext cx="454136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runs INSIDE every module — extraction, summarization, drafting, evaluation. Incumbents (Submittable, Salesforce Einstein, Bonterra) layer AI onto data models built before the AI era.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4069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80160" y="4069080"/>
            <a:ext cx="45413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 South-built, six languages parity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80160" y="4453128"/>
            <a:ext cx="454136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EN, FR, AR, SW, SO, ES at the workflow level. Seven African registries pre-mapped. Donor-compliance regimes encoded. Mobile-first.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87288" y="4069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27368" y="4069080"/>
            <a:ext cx="45413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Adeso runs on it today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827368" y="4453128"/>
            <a:ext cx="454136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in the user guide is something we operate — not a roadmap. The company building the platform depends on the platform.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5212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280160" y="5212080"/>
            <a:ext cx="45413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Platform + Advisory together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280160" y="5596128"/>
            <a:ext cx="454136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commercial offering that sells the SaaS plus the deployment-and-adoption service as one motion. Buyers don't coordinate six vendors plus a consultant.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011680" y="6400800"/>
            <a:ext cx="78025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V12  ·  Confidential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motions. One flywheel.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Freemium builds both sides of the marketplace. Grant monetizes. White-label tenants are live today. Trust licensing is exploratory.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0911535" cy="10973"/>
          </a:xfrm>
          <a:prstGeom prst="rect">
            <a:avLst/>
          </a:prstGeom>
          <a:solidFill>
            <a:srgbClr val="E8E0D8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926080"/>
            <a:ext cx="2036003" cy="338328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926080"/>
            <a:ext cx="2036003" cy="50292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999232"/>
            <a:ext cx="17159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 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" y="3182112"/>
            <a:ext cx="1715963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SIDE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3566160"/>
            <a:ext cx="1715963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Marketplace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NGOs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" y="4251960"/>
            <a:ext cx="365760" cy="18288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389120"/>
            <a:ext cx="171596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" y="4544568"/>
            <a:ext cx="1715963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+ large CSOs and networks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960" y="4992624"/>
            <a:ext cx="171596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" y="5148072"/>
            <a:ext cx="1715963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Freemium → paid Trust Profile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22960" y="5596128"/>
            <a:ext cx="171596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" y="5751576"/>
            <a:ext cx="1715963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Low-touch, near-passive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858963" y="2926080"/>
            <a:ext cx="2036003" cy="338328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58963" y="2926080"/>
            <a:ext cx="2036003" cy="50292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41843" y="2999232"/>
            <a:ext cx="17159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 B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1843" y="3182112"/>
            <a:ext cx="1715963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SIDE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041843" y="3566160"/>
            <a:ext cx="1715963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Marketplace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donors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041843" y="4251960"/>
            <a:ext cx="365760" cy="18288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041843" y="4389120"/>
            <a:ext cx="171596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3041843" y="4544568"/>
            <a:ext cx="1715963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Donors and intermediaries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041843" y="4992624"/>
            <a:ext cx="171596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BUYS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041843" y="5148072"/>
            <a:ext cx="1715963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portfolio discovery + full trust data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3041843" y="5596128"/>
            <a:ext cx="171596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041843" y="5751576"/>
            <a:ext cx="1715963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077846" y="2926080"/>
            <a:ext cx="2036003" cy="338328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77846" y="2926080"/>
            <a:ext cx="2036003" cy="50292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60726" y="2999232"/>
            <a:ext cx="17159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 C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260726" y="3182112"/>
            <a:ext cx="1715963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REVENUE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260726" y="3566160"/>
            <a:ext cx="1715963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Marketplace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 Grant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5260726" y="4251960"/>
            <a:ext cx="365760" cy="1828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60726" y="4389120"/>
            <a:ext cx="171596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260726" y="4544568"/>
            <a:ext cx="1715963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Donors and re-granting funds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260726" y="4992624"/>
            <a:ext cx="171596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BUYS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5260726" y="5148072"/>
            <a:ext cx="1715963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C1–C4 ladder: Grant, then ERP sponsorship or subscription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260726" y="5596128"/>
            <a:ext cx="171596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260726" y="5751576"/>
            <a:ext cx="1715963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$25K–$50K pilot entry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7296729" y="2926080"/>
            <a:ext cx="2036003" cy="338328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296729" y="2926080"/>
            <a:ext cx="2036003" cy="502920"/>
          </a:xfrm>
          <a:prstGeom prst="rect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479609" y="2999232"/>
            <a:ext cx="17159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 D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479609" y="3182112"/>
            <a:ext cx="1715963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— 4 TENANTS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479609" y="3566160"/>
            <a:ext cx="1715963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White-label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tenants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7479609" y="4251960"/>
            <a:ext cx="365760" cy="18288"/>
          </a:xfrm>
          <a:prstGeom prst="rect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79609" y="4389120"/>
            <a:ext cx="171596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7479609" y="4544568"/>
            <a:ext cx="1715963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Networks, INGOs, BPO and fiscal sponsors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7479609" y="4992624"/>
            <a:ext cx="171596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BUYS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7479609" y="5148072"/>
            <a:ext cx="1715963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D1–D3: closed tenant, + Grant, + ERP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7479609" y="5596128"/>
            <a:ext cx="171596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7479609" y="5751576"/>
            <a:ext cx="1715963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$200K+ Year 1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9515612" y="2926080"/>
            <a:ext cx="2036003" cy="338328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515612" y="2926080"/>
            <a:ext cx="2036003" cy="5029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698492" y="2999232"/>
            <a:ext cx="17159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 E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9698492" y="3182112"/>
            <a:ext cx="1715963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9698492" y="3566160"/>
            <a:ext cx="1715963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 Profile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licensing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9698492" y="4251960"/>
            <a:ext cx="365760" cy="1828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698492" y="4389120"/>
            <a:ext cx="171596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9698492" y="4544568"/>
            <a:ext cx="1715963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Due-diligence providers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9698492" y="4992624"/>
            <a:ext cx="171596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BUYS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9698492" y="5148072"/>
            <a:ext cx="1715963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access to the Trust Profile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9698492" y="5596128"/>
            <a:ext cx="171596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9698492" y="5751576"/>
            <a:ext cx="1715963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feasibility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64008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2011680" y="6400800"/>
            <a:ext cx="78025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V12  ·  Confidential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Land with a pilot. Expand along the ladder.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donor or re-granting intermediary is the paying customer. Price points are pilot-validation targets, not commitments.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0911535" cy="10973"/>
          </a:xfrm>
          <a:prstGeom prst="rect">
            <a:avLst/>
          </a:prstGeom>
          <a:solidFill>
            <a:srgbClr val="E8E0D8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3017520"/>
            <a:ext cx="3515258" cy="246888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3017520"/>
            <a:ext cx="3515258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246120"/>
            <a:ext cx="29666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3566160"/>
            <a:ext cx="296661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C241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$25K–$50K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914400" y="4709160"/>
            <a:ext cx="29666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contract value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14400" y="4983480"/>
            <a:ext cx="296661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 C entry: 90-day Grant pilot — one funding round live end-to-end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38218" y="3017520"/>
            <a:ext cx="3515258" cy="246888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38218" y="3017520"/>
            <a:ext cx="3515258" cy="6400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12538" y="3246120"/>
            <a:ext cx="29666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612538" y="3566160"/>
            <a:ext cx="296661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$50K–$150K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4612538" y="4709160"/>
            <a:ext cx="29666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contract value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612538" y="4983480"/>
            <a:ext cx="296661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annual subscription + ERP sponsorship for a first grantee cohort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36357" y="3017520"/>
            <a:ext cx="3515258" cy="246888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36357" y="3017520"/>
            <a:ext cx="3515258" cy="64008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10677" y="3246120"/>
            <a:ext cx="29666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310677" y="3566160"/>
            <a:ext cx="296661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4A7C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$100K–$250K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8310677" y="4709160"/>
            <a:ext cx="29666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contract value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310677" y="4983480"/>
            <a:ext cx="296661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C4 ladder: Grant + ERP for the customer + sponsored grantees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" y="5715000"/>
            <a:ext cx="10911535" cy="548640"/>
          </a:xfrm>
          <a:prstGeom prst="rect">
            <a:avLst/>
          </a:prstGeom>
          <a:solidFill>
            <a:srgbClr val="0F0A07"/>
          </a:solidFill>
          <a:ln w="12700">
            <a:solidFill>
              <a:srgbClr val="0F0A0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5760720"/>
            <a:ext cx="103628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3-year donor LTV target: $175K–$450K  ·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White-label tenants (Motion D): $200K+ Year 1  ·  </a:t>
            </a:r>
            <a:pPr indent="0" marL="0">
              <a:buNone/>
            </a:pPr>
            <a:r>
              <a:rPr lang="en-US" sz="1200" i="1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price points subject to willingness-to-pay validation during pilots.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64008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011680" y="6400800"/>
            <a:ext cx="78025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V12  ·  Confidential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PATH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Conservative: $5.6M by 2029. Break-even H2 2029.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 land-and-expand as the primary motion. White-label tenants and Marketplace freemium as compounding layers.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0911535" cy="10973"/>
          </a:xfrm>
          <a:prstGeom prst="rect">
            <a:avLst/>
          </a:prstGeom>
          <a:solidFill>
            <a:srgbClr val="E8E0D8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01752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554480" y="3063240"/>
            <a:ext cx="48903" cy="36576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40543" y="30175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$60K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639312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554480" y="3685032"/>
            <a:ext cx="660190" cy="36576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51830" y="363931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$810K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4261104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554480" y="4306824"/>
            <a:ext cx="2037622" cy="36576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29262" y="4261104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$2.5M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4882896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2029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554480" y="4928616"/>
            <a:ext cx="4564274" cy="36576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55914" y="4882896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$5.6M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5504688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554480" y="5550408"/>
            <a:ext cx="7253935" cy="36576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45575" y="550468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$8.9M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539935" y="3017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539935" y="33832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2028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539935" y="3657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(ambitious)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539935" y="40233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2029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539935" y="42976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(conservative)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539935" y="46634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539935" y="49377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Profitable on ~$9M ARR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0080" y="594360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C2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Ambitious: $1.6M in 2027, $9.5M in 2029, $14M in 2030. Re-based on the three-product focus; subject to pilot pricing validation.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4008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011680" y="6400800"/>
            <a:ext cx="78025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V12  ·  Confidential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ADESO / KUJA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Production-deployed today. Adeso runs on it.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reasons we ship at a pace incumbents cannot match.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0911535" cy="10973"/>
          </a:xfrm>
          <a:prstGeom prst="rect">
            <a:avLst/>
          </a:prstGeom>
          <a:solidFill>
            <a:srgbClr val="E8E0D8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926080"/>
            <a:ext cx="5029200" cy="3474720"/>
          </a:xfrm>
          <a:prstGeom prst="rect">
            <a:avLst/>
          </a:prstGeom>
          <a:solidFill>
            <a:srgbClr val="0F0A07"/>
          </a:solidFill>
          <a:ln w="12700">
            <a:solidFill>
              <a:srgbClr val="0F0A0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20040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TEST COVERAGE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05840" y="37033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54/54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005840" y="41148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E2E regression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91840" y="37033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19/19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291840" y="41148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UAT suite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05840" y="457200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67/67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005840" y="49834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 invariants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291840" y="457200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50/50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3291840" y="49834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health probes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05840" y="544068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50+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005840" y="58521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AI surfaces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91840" y="544068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130+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3291840" y="58521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Numbered phases shipped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989320" y="3090672"/>
            <a:ext cx="164592" cy="164592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09360" y="2926080"/>
            <a:ext cx="51508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Adeso runs its own operations, grants, and donor compliance on the Kuja engine. We are not selling theory.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989320" y="3657600"/>
            <a:ext cx="164592" cy="164592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0" y="3493008"/>
            <a:ext cx="51508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Adeso co-founded NEAR in 2016. NEAR is the reference architecture for the Networks motion.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89320" y="4224528"/>
            <a:ext cx="164592" cy="164592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09360" y="4059936"/>
            <a:ext cx="51508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languages at platform parity. Seven country registries pre-mapped. Mobile-first.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989320" y="4791456"/>
            <a:ext cx="164592" cy="164592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09360" y="4626864"/>
            <a:ext cx="51508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chain is integral — not bolted on. Competitors would rewrite their data model to match.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989320" y="5358384"/>
            <a:ext cx="164592" cy="164592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09360" y="5193792"/>
            <a:ext cx="51508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production deploys. 100+ commits in the last sprint.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989320" y="5925312"/>
            <a:ext cx="164592" cy="164592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09360" y="5760720"/>
            <a:ext cx="51508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tell the truth about risks. NEAR_BACKLOG.md is the open gap list.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4008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011680" y="6400800"/>
            <a:ext cx="78025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V12  ·  Confidential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MATRIX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competitor has the combination.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1091153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capabilities verified absent across seven leading grant management systems — Submittable, Foundant (now incl. SmartSimple), Fluxx, Salesforce Grantmaking, Blackbaud, GivingData. Detail in the Kuja Grant Market Analysis.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240280"/>
            <a:ext cx="10911535" cy="502920"/>
          </a:xfrm>
          <a:prstGeom prst="rect">
            <a:avLst/>
          </a:prstGeom>
          <a:solidFill>
            <a:srgbClr val="0F0A07"/>
          </a:solidFill>
          <a:ln w="12700">
            <a:solidFill>
              <a:srgbClr val="0F0A0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33172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749040" y="2286000"/>
            <a:ext cx="111465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863694" y="2286000"/>
            <a:ext cx="111465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Submitt-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spc="100" kern="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78347" y="2286000"/>
            <a:ext cx="111465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Foundant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spc="100" kern="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(+SmartS.)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093001" y="2286000"/>
            <a:ext cx="111465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Fluxx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07654" y="2286000"/>
            <a:ext cx="111465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spc="100" kern="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322308" y="2286000"/>
            <a:ext cx="111465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Black-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spc="100" kern="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baud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436962" y="2286000"/>
            <a:ext cx="111465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Giving-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spc="100" kern="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40080" y="2743200"/>
            <a:ext cx="10911535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278892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Closed-network governance + multi-sig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49040" y="2743200"/>
            <a:ext cx="1114654" cy="384048"/>
          </a:xfrm>
          <a:prstGeom prst="rect">
            <a:avLst/>
          </a:prstGeom>
          <a:solidFill>
            <a:srgbClr val="FFF7ED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49040" y="2743200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63694" y="2743200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78347" y="2743200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093001" y="2743200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07654" y="2743200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322308" y="2743200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0436962" y="2743200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3127248"/>
            <a:ext cx="10911535" cy="384048"/>
          </a:xfrm>
          <a:prstGeom prst="rect">
            <a:avLst/>
          </a:prstGeom>
          <a:solidFill>
            <a:srgbClr val="FAF5F2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3172968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per-requirement report evaluation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749040" y="3127248"/>
            <a:ext cx="1114654" cy="384048"/>
          </a:xfrm>
          <a:prstGeom prst="rect">
            <a:avLst/>
          </a:prstGeom>
          <a:solidFill>
            <a:srgbClr val="FFEEDD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749040" y="3127248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863694" y="3127248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78347" y="3127248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093001" y="3127248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207654" y="3127248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322308" y="3127248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0436962" y="3127248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40080" y="3511296"/>
            <a:ext cx="10911535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7240" y="3557016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compliance coach for NGOs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749040" y="3511296"/>
            <a:ext cx="1114654" cy="384048"/>
          </a:xfrm>
          <a:prstGeom prst="rect">
            <a:avLst/>
          </a:prstGeom>
          <a:solidFill>
            <a:srgbClr val="FFF7ED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749040" y="3511296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863694" y="3511296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978347" y="3511296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7093001" y="3511296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8207654" y="3511296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9322308" y="3511296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0436962" y="3511296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640080" y="3895344"/>
            <a:ext cx="10911535" cy="384048"/>
          </a:xfrm>
          <a:prstGeom prst="rect">
            <a:avLst/>
          </a:prstGeom>
          <a:solidFill>
            <a:srgbClr val="FAF5F2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77240" y="3941064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/ voice / photo accessibility stack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3749040" y="3895344"/>
            <a:ext cx="1114654" cy="384048"/>
          </a:xfrm>
          <a:prstGeom prst="rect">
            <a:avLst/>
          </a:prstGeom>
          <a:solidFill>
            <a:srgbClr val="FFEEDD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49040" y="3895344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4863694" y="3895344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5978347" y="3895344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7093001" y="3895344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8207654" y="3895344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9322308" y="3895344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10436962" y="3895344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640080" y="4279392"/>
            <a:ext cx="10911535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7240" y="4325112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Six-language workflow parity (incl. Somali)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3749040" y="4279392"/>
            <a:ext cx="1114654" cy="384048"/>
          </a:xfrm>
          <a:prstGeom prst="rect">
            <a:avLst/>
          </a:prstGeom>
          <a:solidFill>
            <a:srgbClr val="FFF7ED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749040" y="4279392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4863694" y="4279392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5978347" y="4279392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7093001" y="4279392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8207654" y="4279392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9322308" y="4279392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10436962" y="4279392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640080" y="4663440"/>
            <a:ext cx="10911535" cy="384048"/>
          </a:xfrm>
          <a:prstGeom prst="rect">
            <a:avLst/>
          </a:prstGeom>
          <a:solidFill>
            <a:srgbClr val="FAF5F2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77240" y="470916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Hash-anchored audit chain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3749040" y="4663440"/>
            <a:ext cx="1114654" cy="384048"/>
          </a:xfrm>
          <a:prstGeom prst="rect">
            <a:avLst/>
          </a:prstGeom>
          <a:solidFill>
            <a:srgbClr val="FFEEDD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749040" y="4663440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00" dirty="0"/>
          </a:p>
        </p:txBody>
      </p:sp>
      <p:sp>
        <p:nvSpPr>
          <p:cNvPr id="70" name="Text 68"/>
          <p:cNvSpPr/>
          <p:nvPr/>
        </p:nvSpPr>
        <p:spPr>
          <a:xfrm>
            <a:off x="4863694" y="4663440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300" dirty="0"/>
          </a:p>
        </p:txBody>
      </p:sp>
      <p:sp>
        <p:nvSpPr>
          <p:cNvPr id="71" name="Text 69"/>
          <p:cNvSpPr/>
          <p:nvPr/>
        </p:nvSpPr>
        <p:spPr>
          <a:xfrm>
            <a:off x="5978347" y="4663440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300" dirty="0"/>
          </a:p>
        </p:txBody>
      </p:sp>
      <p:sp>
        <p:nvSpPr>
          <p:cNvPr id="72" name="Text 70"/>
          <p:cNvSpPr/>
          <p:nvPr/>
        </p:nvSpPr>
        <p:spPr>
          <a:xfrm>
            <a:off x="7093001" y="4663440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300" dirty="0"/>
          </a:p>
        </p:txBody>
      </p:sp>
      <p:sp>
        <p:nvSpPr>
          <p:cNvPr id="73" name="Text 71"/>
          <p:cNvSpPr/>
          <p:nvPr/>
        </p:nvSpPr>
        <p:spPr>
          <a:xfrm>
            <a:off x="8207654" y="4663440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300" dirty="0"/>
          </a:p>
        </p:txBody>
      </p:sp>
      <p:sp>
        <p:nvSpPr>
          <p:cNvPr id="74" name="Text 72"/>
          <p:cNvSpPr/>
          <p:nvPr/>
        </p:nvSpPr>
        <p:spPr>
          <a:xfrm>
            <a:off x="9322308" y="4663440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300" dirty="0"/>
          </a:p>
        </p:txBody>
      </p:sp>
      <p:sp>
        <p:nvSpPr>
          <p:cNvPr id="75" name="Text 73"/>
          <p:cNvSpPr/>
          <p:nvPr/>
        </p:nvSpPr>
        <p:spPr>
          <a:xfrm>
            <a:off x="10436962" y="4663440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640080" y="5047488"/>
            <a:ext cx="10911535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777240" y="5093208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African registry verification (7 countries)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3749040" y="5047488"/>
            <a:ext cx="1114654" cy="384048"/>
          </a:xfrm>
          <a:prstGeom prst="rect">
            <a:avLst/>
          </a:prstGeom>
          <a:solidFill>
            <a:srgbClr val="FFF7ED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749040" y="5047488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00" dirty="0"/>
          </a:p>
        </p:txBody>
      </p:sp>
      <p:sp>
        <p:nvSpPr>
          <p:cNvPr id="80" name="Text 78"/>
          <p:cNvSpPr/>
          <p:nvPr/>
        </p:nvSpPr>
        <p:spPr>
          <a:xfrm>
            <a:off x="4863694" y="5047488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300" dirty="0"/>
          </a:p>
        </p:txBody>
      </p:sp>
      <p:sp>
        <p:nvSpPr>
          <p:cNvPr id="81" name="Text 79"/>
          <p:cNvSpPr/>
          <p:nvPr/>
        </p:nvSpPr>
        <p:spPr>
          <a:xfrm>
            <a:off x="5978347" y="5047488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300" dirty="0"/>
          </a:p>
        </p:txBody>
      </p:sp>
      <p:sp>
        <p:nvSpPr>
          <p:cNvPr id="82" name="Text 80"/>
          <p:cNvSpPr/>
          <p:nvPr/>
        </p:nvSpPr>
        <p:spPr>
          <a:xfrm>
            <a:off x="7093001" y="5047488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300" dirty="0"/>
          </a:p>
        </p:txBody>
      </p:sp>
      <p:sp>
        <p:nvSpPr>
          <p:cNvPr id="83" name="Text 81"/>
          <p:cNvSpPr/>
          <p:nvPr/>
        </p:nvSpPr>
        <p:spPr>
          <a:xfrm>
            <a:off x="8207654" y="5047488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300" dirty="0"/>
          </a:p>
        </p:txBody>
      </p:sp>
      <p:sp>
        <p:nvSpPr>
          <p:cNvPr id="84" name="Text 82"/>
          <p:cNvSpPr/>
          <p:nvPr/>
        </p:nvSpPr>
        <p:spPr>
          <a:xfrm>
            <a:off x="9322308" y="5047488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300" dirty="0"/>
          </a:p>
        </p:txBody>
      </p:sp>
      <p:sp>
        <p:nvSpPr>
          <p:cNvPr id="85" name="Text 83"/>
          <p:cNvSpPr/>
          <p:nvPr/>
        </p:nvSpPr>
        <p:spPr>
          <a:xfrm>
            <a:off x="10436962" y="5047488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640080" y="5431536"/>
            <a:ext cx="10911535" cy="384048"/>
          </a:xfrm>
          <a:prstGeom prst="rect">
            <a:avLst/>
          </a:prstGeom>
          <a:solidFill>
            <a:srgbClr val="FAF5F2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777240" y="5477256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Opt-in ERP for real-time donor visibility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3749040" y="5431536"/>
            <a:ext cx="1114654" cy="384048"/>
          </a:xfrm>
          <a:prstGeom prst="rect">
            <a:avLst/>
          </a:prstGeom>
          <a:solidFill>
            <a:srgbClr val="FFEEDD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749040" y="5431536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00" dirty="0"/>
          </a:p>
        </p:txBody>
      </p:sp>
      <p:sp>
        <p:nvSpPr>
          <p:cNvPr id="90" name="Text 88"/>
          <p:cNvSpPr/>
          <p:nvPr/>
        </p:nvSpPr>
        <p:spPr>
          <a:xfrm>
            <a:off x="4863694" y="5431536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300" dirty="0"/>
          </a:p>
        </p:txBody>
      </p:sp>
      <p:sp>
        <p:nvSpPr>
          <p:cNvPr id="91" name="Text 89"/>
          <p:cNvSpPr/>
          <p:nvPr/>
        </p:nvSpPr>
        <p:spPr>
          <a:xfrm>
            <a:off x="5978347" y="5431536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300" dirty="0"/>
          </a:p>
        </p:txBody>
      </p:sp>
      <p:sp>
        <p:nvSpPr>
          <p:cNvPr id="92" name="Text 90"/>
          <p:cNvSpPr/>
          <p:nvPr/>
        </p:nvSpPr>
        <p:spPr>
          <a:xfrm>
            <a:off x="7093001" y="5431536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300" dirty="0"/>
          </a:p>
        </p:txBody>
      </p:sp>
      <p:sp>
        <p:nvSpPr>
          <p:cNvPr id="93" name="Text 91"/>
          <p:cNvSpPr/>
          <p:nvPr/>
        </p:nvSpPr>
        <p:spPr>
          <a:xfrm>
            <a:off x="8207654" y="5431536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300" dirty="0"/>
          </a:p>
        </p:txBody>
      </p:sp>
      <p:sp>
        <p:nvSpPr>
          <p:cNvPr id="94" name="Text 92"/>
          <p:cNvSpPr/>
          <p:nvPr/>
        </p:nvSpPr>
        <p:spPr>
          <a:xfrm>
            <a:off x="9322308" y="5431536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300" dirty="0"/>
          </a:p>
        </p:txBody>
      </p:sp>
      <p:sp>
        <p:nvSpPr>
          <p:cNvPr id="95" name="Text 93"/>
          <p:cNvSpPr/>
          <p:nvPr/>
        </p:nvSpPr>
        <p:spPr>
          <a:xfrm>
            <a:off x="10436962" y="5431536"/>
            <a:ext cx="111465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300" dirty="0"/>
          </a:p>
        </p:txBody>
      </p:sp>
      <p:sp>
        <p:nvSpPr>
          <p:cNvPr id="96" name="Text 94"/>
          <p:cNvSpPr/>
          <p:nvPr/>
        </p:nvSpPr>
        <p:spPr>
          <a:xfrm>
            <a:off x="640080" y="5980176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7C59"/>
                </a:solidFill>
              </a:rPr>
              <a:t>●</a:t>
            </a:r>
            <a:endParaRPr lang="en-US" sz="1300" dirty="0"/>
          </a:p>
        </p:txBody>
      </p:sp>
      <p:sp>
        <p:nvSpPr>
          <p:cNvPr id="97" name="Text 95"/>
          <p:cNvSpPr/>
          <p:nvPr/>
        </p:nvSpPr>
        <p:spPr>
          <a:xfrm>
            <a:off x="868680" y="5980176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000" dirty="0"/>
          </a:p>
        </p:txBody>
      </p:sp>
      <p:sp>
        <p:nvSpPr>
          <p:cNvPr id="98" name="Text 96"/>
          <p:cNvSpPr/>
          <p:nvPr/>
        </p:nvSpPr>
        <p:spPr>
          <a:xfrm>
            <a:off x="1554480" y="5980176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7706"/>
                </a:solidFill>
              </a:rPr>
              <a:t>◐</a:t>
            </a:r>
            <a:endParaRPr lang="en-US" sz="1300" dirty="0"/>
          </a:p>
        </p:txBody>
      </p:sp>
      <p:sp>
        <p:nvSpPr>
          <p:cNvPr id="99" name="Text 97"/>
          <p:cNvSpPr/>
          <p:nvPr/>
        </p:nvSpPr>
        <p:spPr>
          <a:xfrm>
            <a:off x="1783080" y="5980176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/ limited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3246120" y="5980176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C4BE"/>
                </a:solidFill>
              </a:rPr>
              <a:t>○</a:t>
            </a:r>
            <a:endParaRPr lang="en-US" sz="1300" dirty="0"/>
          </a:p>
        </p:txBody>
      </p:sp>
      <p:sp>
        <p:nvSpPr>
          <p:cNvPr id="101" name="Text 99"/>
          <p:cNvSpPr/>
          <p:nvPr/>
        </p:nvSpPr>
        <p:spPr>
          <a:xfrm>
            <a:off x="3474720" y="5980176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4297680" y="5980176"/>
            <a:ext cx="725393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June 2026. Acknowledged precedents: Glific, Turn.io (WhatsApp middleware); Kobo + CLEAR Global (voice); CommCare (mobile). None do grant lifecycle.</a:t>
            </a:r>
            <a:endParaRPr lang="en-US" sz="900" dirty="0"/>
          </a:p>
        </p:txBody>
      </p:sp>
      <p:sp>
        <p:nvSpPr>
          <p:cNvPr id="103" name="Text 101"/>
          <p:cNvSpPr/>
          <p:nvPr/>
        </p:nvSpPr>
        <p:spPr>
          <a:xfrm>
            <a:off x="64008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</a:t>
            </a:r>
            <a:endParaRPr lang="en-US" sz="900" dirty="0"/>
          </a:p>
        </p:txBody>
      </p:sp>
      <p:sp>
        <p:nvSpPr>
          <p:cNvPr id="104" name="Text 102"/>
          <p:cNvSpPr/>
          <p:nvPr/>
        </p:nvSpPr>
        <p:spPr>
          <a:xfrm>
            <a:off x="2011680" y="6400800"/>
            <a:ext cx="78025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V12  ·  Confidential</a:t>
            </a:r>
            <a:endParaRPr lang="en-US" sz="900" dirty="0"/>
          </a:p>
        </p:txBody>
      </p:sp>
      <p:sp>
        <p:nvSpPr>
          <p:cNvPr id="105" name="Text 10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0A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ask depends on who you are.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40080" y="2468880"/>
            <a:ext cx="73152" cy="68580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4688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you run a network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2834640"/>
            <a:ext cx="1045433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minutes to walk you through our architecture. Then a 6-week tenant pilot.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337560"/>
            <a:ext cx="73152" cy="68580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3375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you fund the Global South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14400" y="3703320"/>
            <a:ext cx="1045433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the 90-day Grant Pilot ($25K–$50K). Expand to ERP sponsorship for your grantees.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206240"/>
            <a:ext cx="73152" cy="685800"/>
          </a:xfrm>
          <a:prstGeom prst="rect">
            <a:avLst/>
          </a:prstGeom>
          <a:solidFill>
            <a:srgbClr val="84B59F"/>
          </a:solidFill>
          <a:ln w="12700">
            <a:solidFill>
              <a:srgbClr val="84B59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2062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84B59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you are a Global South CSO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14400" y="4572000"/>
            <a:ext cx="1045433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the Marketplace free. Build your Trust Profile. Get discovered by good-fit donors.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5074920"/>
            <a:ext cx="73152" cy="68580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50749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4A2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you are a growth-stage funder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914400" y="5440680"/>
            <a:ext cx="1045433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$1.5M–$2.5M over 18 months. Break-even H2 2029; profitable 2030 on ~$9M ARR (Conservative).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5989320"/>
            <a:ext cx="10911535" cy="228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217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kuja@adeso.org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065215" y="6217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https://web-production-6f8a.up.railway.app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Adeso / Kuja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Kuja — Locally-led funding, at network speed</dc:title>
  <dc:subject>Professional Pitch Deck V12 — July 2026</dc:subject>
  <dc:creator>PptxGenJS</dc:creator>
  <cp:lastModifiedBy>PptxGenJS</cp:lastModifiedBy>
  <cp:revision>1</cp:revision>
  <dcterms:created xsi:type="dcterms:W3CDTF">2026-07-21T03:10:45Z</dcterms:created>
  <dcterms:modified xsi:type="dcterms:W3CDTF">2026-07-21T03:10:45Z</dcterms:modified>
</cp:coreProperties>
</file>