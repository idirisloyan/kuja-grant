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 ·  NAIROBI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931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Locally-led funding, at network speed.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Four products. Three live tenants. Built for the Global South.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July 2026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9401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aid system has been rebuilt in real time.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that define the next decade of locally-led funding.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−23.1%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54864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ODA real-terms decline in 2025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annual decline ever recorded. Germany overtook the US as the #1 donor.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8000" dirty="0"/>
          </a:p>
        </p:txBody>
      </p:sp>
      <p:sp>
        <p:nvSpPr>
          <p:cNvPr id="13" name="Shape 11"/>
          <p:cNvSpPr/>
          <p:nvPr/>
        </p:nvSpPr>
        <p:spPr>
          <a:xfrm>
            <a:off x="4338218" y="4754880"/>
            <a:ext cx="548640" cy="228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USAID programs terminated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38218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5,341 contracts cancelled · $75.9B in program value · USAID closed July 2025.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$32B</a:t>
            </a:r>
            <a:endParaRPr lang="en-US" sz="8000" dirty="0"/>
          </a:p>
        </p:txBody>
      </p:sp>
      <p:sp>
        <p:nvSpPr>
          <p:cNvPr id="17" name="Shape 15"/>
          <p:cNvSpPr/>
          <p:nvPr/>
        </p:nvSpPr>
        <p:spPr>
          <a:xfrm>
            <a:off x="8036357" y="4754880"/>
            <a:ext cx="54864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 foreign aid 2025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36357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~$68B in 2024. Bilateral cuts of 33–56% across UK, Sweden, Canada.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OECD Apr 2026 · Donor Tracker · Reuters · House of Commons Library CBP-10243 · CBC News.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Localization has failed.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pledges. The numbers have not moved.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5272888" cy="283464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100584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Bargain target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funding to local &amp; national actors. Signed by 60+ donors in 2016.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8728" y="3108960"/>
            <a:ext cx="5272888" cy="283464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4488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44488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13000" dirty="0"/>
          </a:p>
        </p:txBody>
      </p:sp>
      <p:sp>
        <p:nvSpPr>
          <p:cNvPr id="16" name="Text 14"/>
          <p:cNvSpPr/>
          <p:nvPr/>
        </p:nvSpPr>
        <p:spPr>
          <a:xfrm>
            <a:off x="6644488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direct funding in 2024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4488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roughly one-third from 2023 as international actors deprioritized localization.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Development Initiatives — Falling Short: Funding to LNAs (2025); ALNAP GHA Report 2025.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is the operating system for locally-led funding.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3716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43400"/>
            <a:ext cx="927480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AI-native platform. Four integrated products. Shared customer record, shared Trust Profile, shared AI memory, shared audit chain.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166360"/>
            <a:ext cx="927480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Global South, FOR the Global South. Adeso runs its own operations on it today.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integrated products on one codebase.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one. Adopt all. The data model is shared either way.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457200" cy="3657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ecosystem connectivity. NGOs publish their Trust Passport; donors discover with AI-grounded recommendations.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NGOs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6064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06064" y="3429000"/>
            <a:ext cx="4572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6064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06064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grant lifecycle. AI-grounded scoring, six-language reporting, hash-anchored audit trail. 35+ AI surfaces in production.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06064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06064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by org type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048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048" y="3429000"/>
            <a:ext cx="457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048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Elevate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72048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mid-size NGOs. Eleven modules replacing 6–10 SaaS tools. Adeso runs on it today.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72048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048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NGO + sponsored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38031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38031" y="3429000"/>
            <a:ext cx="457200" cy="36576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38031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938031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17 finance backbone. Standalone product with opt-in real-time donor visibility via Grant integration.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938031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38031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Donor-sponsored primary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71500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77900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memory  ·  Trust Profile  ·  Audit chain  ·  Customer record  ·  Identity  ·  Six-language parity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1  ·  KUJA GRANT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end-to-end grant lifecycle, AI-grounded.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designs. NGO applies. Reviewers score. Reports are evaluated. Every step grounded with citations.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520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configures rubrics, criteria, eligibility — wizard-driven.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applies with AI co-author drafting from their own profile.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4526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4526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panels score per criterion with evidence citations.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5029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5029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Hard-gated rules enforced at submit. Audit-anchored decisions.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5532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77440" y="5532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AI-evaluated against agreement; per-requirement structured signals.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108960"/>
            <a:ext cx="4967935" cy="32918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383280"/>
            <a:ext cx="4419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TODAY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3749040"/>
            <a:ext cx="44192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9000" dirty="0"/>
          </a:p>
        </p:txBody>
      </p:sp>
      <p:sp>
        <p:nvSpPr>
          <p:cNvPr id="27" name="Text 25"/>
          <p:cNvSpPr/>
          <p:nvPr/>
        </p:nvSpPr>
        <p:spPr>
          <a:xfrm>
            <a:off x="6949440" y="4937760"/>
            <a:ext cx="4419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in production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539496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5532120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Voice-to-report  ·  Photo-as-evidence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5733288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rubric scoring with citations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5934456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6135624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54/54 prod regression  ·  19/19 UAT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·  TRUST SPECTRUM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engine. The full trust spectrum.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live tenants on the same codebase — the flavor changes how trust is established, never the engine.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454298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3454298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0040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MARKETPLACE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493008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·  DOCUMENT-BASED TRUST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29970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NGO registers. Trust Profile, AI rubric scoring and automated compliance screening do the vetting — the open front door.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flagship: 35+ AI surfaces, six languages.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68698" y="3017520"/>
            <a:ext cx="3454298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8698" y="3017520"/>
            <a:ext cx="3454298" cy="548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7298" y="320040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NETWORK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7298" y="3493008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 ·  FORMAL VETTING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97298" y="3794760"/>
            <a:ext cx="29970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are vetted at the gate: capacity assessment, registration checks, multi-sig emergency declarations, pooled funds and windows.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97298" y="489204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network funding for member NGOs.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97317" y="3017520"/>
            <a:ext cx="3454298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7317" y="3017520"/>
            <a:ext cx="345429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5917" y="320040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FUND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5917" y="3493008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 ·  RELATIONAL VALIDATION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5917" y="3794760"/>
            <a:ext cx="29970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Sudan, live July 2026. Community endorsers vouch where no registry exists. Zero-login Arabic voice reporting, hawala + mobile money, SOPs enforced as software.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25917" y="489204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paperwork-first systems cannot operate.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577840"/>
            <a:ext cx="10911535" cy="6858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669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DONOR-COMPLIANCE LOOP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5650992"/>
            <a:ext cx="7345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signed donor agreement → AI extracts obligations → restrictions enforced at disbursement → reports scored per requirement → one-click donor pack. Adeso complies with its own institutional funders on the engine it sells.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2  ·  KUJA ELEVATE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 for mid-size NGOs.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module families. One platform. Replaces 6–10 stitched SaaS tools.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821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3529584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ClearPoint, Workboard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38218" y="3108960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8218" y="3108960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386" y="31821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39386" y="3529584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Asana, Monday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36357" y="3108960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6357" y="3108960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7525" y="31821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37525" y="3529584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Salesforce NPC, HubSpot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959352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59352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0325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(CLM)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4379976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DocuSign CLM, Ironclad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38218" y="3959352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3959352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9386" y="40325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&amp; Policies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39386" y="4379976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ConvergePoint, PowerDMS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36357" y="3959352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6357" y="3959352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7525" y="40325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37525" y="4379976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BoardEffect, Diligent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4809744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809744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8828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" y="5230368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Foundant, Submittable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38218" y="4809744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38218" y="4809744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39386" y="48828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39386" y="5230368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PowerBI / custom dashboards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36357" y="4809744"/>
            <a:ext cx="3515258" cy="713232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36357" y="4809744"/>
            <a:ext cx="6400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37525" y="48828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37525" y="5230368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Not in incumbent stacks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87044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runs on it today.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reported. Every contract signed. Every board pack generated. Every policy versioned.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ELEVATE WINS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stitched stack costs three times as much.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none of it talks to each other.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5943600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546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THE STITCHED STACK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347472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$184K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60120" y="4754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 cost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5120640"/>
            <a:ext cx="45720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25780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NPC + LinkSquares + BoardEffect + ClearPoint + Onspring + Asana ($129K subscription + $55K implementation). Zero integration. No AI. Six logins.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2926080"/>
            <a:ext cx="4693615" cy="32004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3154680"/>
            <a:ext cx="4144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 STANDARD TIER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78040" y="3474720"/>
            <a:ext cx="41449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$30K–$60K</a:t>
            </a:r>
            <a:endParaRPr lang="en-US" sz="7000" dirty="0"/>
          </a:p>
        </p:txBody>
      </p:sp>
      <p:sp>
        <p:nvSpPr>
          <p:cNvPr id="17" name="Text 15"/>
          <p:cNvSpPr/>
          <p:nvPr/>
        </p:nvSpPr>
        <p:spPr>
          <a:xfrm>
            <a:off x="7178040" y="4754880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NGO per year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78040" y="5120640"/>
            <a:ext cx="45720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5257800"/>
            <a:ext cx="414497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AI integrated across every module. Single login. Six-language parity. Adeso runs on it today.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One-third to one-quarter the TCO. </a:t>
            </a:r>
            <a:pPr indent="0" marL="0">
              <a:buNone/>
            </a:pPr>
            <a:r>
              <a:rPr lang="en-US" sz="14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AI included. Plus integration. Plus Adeso reference.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621792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Bind 2026 · Vendr Marketplace · imBoard · SaaSWorthy · SmartSuite · G2 · Salesforce / Zeffy. Stitched-stack profile: $10–25M revenue, 100 staff, 15 board.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3  ·  KUJA ERP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Standalone backbone. Integrated upgrade.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NGO each choose. Both paths are AI-driven. ERP makes the financial data real-time.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AI  (no ERP)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84568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Kuja ERP  (integrated)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NGO submissions, per criterion, with citations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84568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ledger — real-time burn rate &amp; variance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cadence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34640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monthly point-in-time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84568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 spend events flow 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34640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each submission event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84568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every spend event, at the moment of 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30352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49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variance flags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34640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when reports come 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84568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the day a line crosses threshold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donor visibility — the wedge no competitor has. </a:t>
            </a:r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NGO owns its tenant; donors get a role-aware cross-tenant view of the grant-scoped spend across their funded grantees.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pillars. One tamper-evident chain.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funder asks the same question: how do I know? The answer is a URL.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Registration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African registries pre-mapped. AI-confidence score on the verification.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8218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38218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OpenSanctions live, UN/OFAC/EU fallback. Re-screened on cadence.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36357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Adverse Media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36357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24-month lookback. Per-finding source citations.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Verification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+ IBAN + microdeposit. Country-specific where the rail exists.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38218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38218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8218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 of Interest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38218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per signature step. Audit-anchored. OB recusal flow.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36357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36357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36357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Assessment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36357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5-framework. Reusable. Publishable as a tamper-evident Trust Passport.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96188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chain.  </a:t>
            </a:r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governance action links to the previous one. Tamper an entry — every row after breaks.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is universal. Impact is not. The window is open.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nonprofits use AI tools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29658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11000" dirty="0"/>
          </a:p>
        </p:txBody>
      </p:sp>
      <p:sp>
        <p:nvSpPr>
          <p:cNvPr id="10" name="Shape 8"/>
          <p:cNvSpPr/>
          <p:nvPr/>
        </p:nvSpPr>
        <p:spPr>
          <a:xfrm>
            <a:off x="4429658" y="4892040"/>
            <a:ext cx="36576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9658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major organizational impact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19237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11000" dirty="0"/>
          </a:p>
        </p:txBody>
      </p:sp>
      <p:sp>
        <p:nvSpPr>
          <p:cNvPr id="13" name="Shape 11"/>
          <p:cNvSpPr/>
          <p:nvPr/>
        </p:nvSpPr>
        <p:spPr>
          <a:xfrm>
            <a:off x="8219237" y="4892040"/>
            <a:ext cx="365760" cy="2286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9237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foundations NOT yet using AI to screen applications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are bolting AI onto rigid data models. Kuja was built AI-native from day 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Virtuous + Fundraising.AI 2026 · Candid 2024 · Plinth 2025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$35–40B funding gap meets a 150,000-NGO market.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South mid-size NGO is the buyer. The funding shock is the demand signal.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454298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UNIVERSE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478K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Form 990 filers (Candid)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897K active CSOs in Brazil (IPEA 2024)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187K NGOs on Darpan India (2023)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29056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band ($1–50M revenue): ~150K–300K globally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8698" y="3017520"/>
            <a:ext cx="3454298" cy="320040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3018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3018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15K–35K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4643018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3018" y="48920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applied: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3018" y="51206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(Africa, MENA, Asia-Pacific, LatAm)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43018" y="53492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maturity (stitched-stack pain)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43018" y="55778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spend OR donor sponsorship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97317" y="3017520"/>
            <a:ext cx="3454298" cy="32004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1637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CEILING (SAM × ACV)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71637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$400M–$2.6B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371637" y="44805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ceiling for Elevate alone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71637" y="480060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1637" y="49377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2030 target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71637" y="521208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$12.5M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371637" y="5715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 needed: &lt;0.5%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advantages that compound.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all five — and the platform incumbents would need to rewrite their data models to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one customer record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 in module 4 auto-updates the obligation tracker in module 5, surfaces in module 9, rolls into module 10. Stitched stack does none of this without paid integrations.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7288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27368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AI-native, not AI-bolted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27368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INSIDE every module — extraction, summarization, drafting, evaluation. Incumbents (Submittable, Salesforce Einstein, Bonterra) layer AI onto data models built before the AI era.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South-built, six languages parity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EN, FR, AR, SW, SO, ES at the workflow level. Seven African registries pre-mapped. Donor-compliance regimes encoded. Mobile-first.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7288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7368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Adeso runs on it today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27368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user guide is something we operate — not a roadmap. The company building the platform depends on the platform.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+ Advisory together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596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commercial offering that sells the SaaS plus the deployment-and-adoption service as one motion. Buyers don't coordinate six vendors plus a consultant.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motions. Three buyers. Three pricing tiers.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mid-size NGO sales is primary. Donor-sponsored cohorts are secondary. Networks are tertiary.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3515258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9923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182112"/>
            <a:ext cx="30580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30580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NGO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114800"/>
            <a:ext cx="45720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97680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462272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 ($5M–$25M)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901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Platform Standard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175504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534009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$30K–$60K / yr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614416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577900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4–9 months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38218" y="292608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2926080"/>
            <a:ext cx="351525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2538" y="299923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2538" y="3182112"/>
            <a:ext cx="30580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2538" y="3611880"/>
            <a:ext cx="30580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Donor-sponsored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612538" y="4114800"/>
            <a:ext cx="45720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2538" y="4297680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2538" y="4462272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funding grantee cohort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2538" y="473659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12538" y="4901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Cohort Bundle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2538" y="5175504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2538" y="534009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$50K–$80K / grantee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12538" y="5614416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12538" y="577900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4–9 months with foundation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36357" y="292608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36357" y="2926080"/>
            <a:ext cx="3515258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10677" y="299923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10677" y="3182112"/>
            <a:ext cx="30580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10677" y="3611880"/>
            <a:ext cx="30580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Networks + INGOs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8310677" y="4114800"/>
            <a:ext cx="45720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10677" y="4297680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10677" y="4462272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secretariat or INGO HQ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10677" y="473659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10677" y="4901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+ Custom Advisory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10677" y="5175504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10677" y="534009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$200K+ Year 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310677" y="5614416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10677" y="577900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direct mid-size NGO is the highest-margin customer.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pays everything. CAC is sales + customer success. 3-year LTV mid-point: $300K. LTV/CAC ≥ 4:1.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$130K–$210K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Platform + Full Transformation Advisory (one-time)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8218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3017520"/>
            <a:ext cx="351525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2538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2538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$40K–$80K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12538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2538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Platform + optional Kuja Grant module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36357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301752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0677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10677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$45K–$90K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310677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10677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Platform + Grant + optional ERP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715000"/>
            <a:ext cx="10911535" cy="5486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LTV: $215K–$380K  ·  Mid: $300K  ·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≥ 4:1  ·  </a:t>
            </a:r>
            <a:pPr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NGO pays everything; only acquisition cost is sales + CS.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Conservative: $7M by 2029. Profitable from H2 2028.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Direct-NGO sales as primary motion. Donor cohorts and networks as compounding layers.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3063240"/>
            <a:ext cx="46425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8065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54480" y="3685032"/>
            <a:ext cx="696378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88018" y="36393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2611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54480" y="4306824"/>
            <a:ext cx="197307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4710" y="42611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828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54480" y="4928616"/>
            <a:ext cx="4062204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53844" y="48828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$7.0M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046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54480" y="5550408"/>
            <a:ext cx="7253935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45575" y="5504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39935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39935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39935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39935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39935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on $7M ARR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39935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39935" y="4937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&gt;$12M ARR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Ambitious scenario: $2.4M in 2027, $12M+ in 2029, with $1.5M growth capital injected H2 2026.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ADESO / 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Production-deployed today. Adeso runs on it.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we ship at a pace incumbents cannot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5029200" cy="34747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00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TEST COVERAGE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54/54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19/19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UAT suite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67/67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invariants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50/50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health probes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05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surfaces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91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phases shipped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09067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92608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Adeso's own 9-month operational transformation became Kuja Elevate. We are not selling theory.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3657600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493008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co-founded NEAR in 2016. NEAR is the reference architecture for the Networks motion.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4224528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059936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parity. Seven country registries pre-mapped. Mobile-first.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4791456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626864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 is integral — not bolted on. Competitors would rewrite their data model to match.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89320" y="5358384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5193792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production deploys. 100+ commits in the last sprint.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592531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76072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tell the truth about risks. NEAR_BACKLOG.md is the open gap list.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MATRIX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has the combination.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capabilities verified absent across seven leading grant management systems — Submittable, Foundant (now incl. SmartSimple), Fluxx, Salesforce Grantmaking, Blackbaud, GivingData. Detail in the Kuja Grant Market Analysis.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63694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78347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(+SmartS.)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93001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07654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2308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36962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788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Closed-network governance + multi-sig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2743200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3694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78347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93001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07654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2308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36962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127248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1729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report evaluation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3127248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63694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78347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93001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07654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2308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436962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3511296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55701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coach for NGOs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3511296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63694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78347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93001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07654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322308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436962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0080" y="3895344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39410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voice / photo accessibility stack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3895344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63694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978347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93001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207654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322308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0436962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" y="4279392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4325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workflow parity (incl. Somali)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0" y="4279392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863694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978347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093001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207654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322308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0436962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40080" y="4663440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47091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749040" y="4663440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49040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863694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978347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093001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207654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9322308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0436962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40080" y="5047488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" y="50932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registry verification (7 countries)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749040" y="5047488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49040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4863694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978347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7093001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8207654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9322308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10436962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640080" y="5431536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54772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ERP for real-time donor visibility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749040" y="5431536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49040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4863694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5978347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7093001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207654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9322308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10436962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64008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C59"/>
                </a:solidFill>
              </a:rPr>
              <a:t>●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868680" y="598017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55448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</a:rPr>
              <a:t>◐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1783080" y="59801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limited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324612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4BE"/>
                </a:solidFill>
              </a:rPr>
              <a:t>○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3474720" y="598017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297680" y="5980176"/>
            <a:ext cx="72539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June 2026. Acknowledged precedents: Glific, Turn.io (WhatsApp middleware); Kobo + CLEAR Global (voice); CommCare (mobile). None do grant lifecycle.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ask depends on who you are.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73152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run a network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to walk you through our architecture. Then a 6-week tenant pilot.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73152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fund the Global South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90-day Grant Pilot ($25K–$50K). Expand to Elevate and ERP.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73152" cy="6858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mid-size NGO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purchase of Elevate Platform Standard. $30K–$60K/yr replaces six tools.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73152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74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growth-stage funder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44068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$1.5M–$2.5M over 18 months. Profitable from 2029 on $7M ARR (Conservative).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11535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kuja@adeso.org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65215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https://web-production-6f8a.up.railway.app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— Locally-led funding, at network speed</dc:title>
  <dc:subject>Professional Pitch Deck V10 — July 2026</dc:subject>
  <dc:creator>PptxGenJS</dc:creator>
  <cp:lastModifiedBy>PptxGenJS</cp:lastModifiedBy>
  <cp:revision>1</cp:revision>
  <dcterms:created xsi:type="dcterms:W3CDTF">2026-07-06T00:52:49Z</dcterms:created>
  <dcterms:modified xsi:type="dcterms:W3CDTF">2026-07-06T00:52:49Z</dcterms:modified>
</cp:coreProperties>
</file>