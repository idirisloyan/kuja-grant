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91056" cy="6858000"/>
          </a:xfrm>
          <a:prstGeom prst="rect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6400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C88C"/>
                </a:solidFill>
                <a:latin typeface="Calibri"/>
              </a:rPr>
              <a:t>ADESO  ×  KUJA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0584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800" b="1">
                <a:solidFill>
                  <a:srgbClr val="FFFFFF"/>
                </a:solidFill>
                <a:latin typeface="Calibri"/>
              </a:rPr>
              <a:t>The Proximate 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10896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8C88C"/>
                </a:solidFill>
                <a:latin typeface="Calibri"/>
              </a:rPr>
              <a:t>A Sudan-context humanitarian fund that disburses to community-endorsed informal groups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1188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8C88C"/>
                </a:solidFill>
                <a:latin typeface="Calibri"/>
              </a:rPr>
              <a:t>fast, Arabic-first, and auditable by design.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50292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C88C"/>
                </a:solidFill>
                <a:latin typeface="Calibri"/>
              </a:rPr>
              <a:t>DONOR BRIEFING  —  JUNE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5440680"/>
            <a:ext cx="182880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E8C88C"/>
                </a:solidFill>
                <a:latin typeface="Calibri"/>
              </a:rPr>
              <a:t>Operated by Adeso  ·  Built on the Kuja platform  ·  Live on prod since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Aid systems can't reach the people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closest to the crisis.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E7380"/>
                </a:solidFill>
                <a:latin typeface="Calibri"/>
              </a:rPr>
              <a:t>Three structural gaps: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4864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D48C3E"/>
                </a:solidFill>
                <a:latin typeface="Calibri"/>
              </a:rPr>
              <a:t>•  </a:t>
            </a:r>
            <a:r>
              <a:rPr sz="1400">
                <a:solidFill>
                  <a:srgbClr val="101018"/>
                </a:solidFill>
                <a:latin typeface="Calibri"/>
              </a:rPr>
              <a:t>Informal groups can't represent themselves to standard donor systems — no registration certificate, no upload, no application.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D48C3E"/>
                </a:solidFill>
                <a:latin typeface="Calibri"/>
              </a:rPr>
              <a:t>•  </a:t>
            </a:r>
            <a:r>
              <a:rPr sz="1400">
                <a:solidFill>
                  <a:srgbClr val="101018"/>
                </a:solidFill>
                <a:latin typeface="Calibri"/>
              </a:rPr>
              <a:t>Conflict zones break the assumptions: banks fail, mail doesn't move, documents can't be notarised.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400" b="1">
                <a:solidFill>
                  <a:srgbClr val="D48C3E"/>
                </a:solidFill>
                <a:latin typeface="Calibri"/>
              </a:rPr>
              <a:t>•  </a:t>
            </a:r>
            <a:r>
              <a:rPr sz="1400">
                <a:solidFill>
                  <a:srgbClr val="101018"/>
                </a:solidFill>
                <a:latin typeface="Calibri"/>
              </a:rPr>
              <a:t>Auditability and speed are treated as opposites — donors get either fast or compliant, never both.</a:t>
            </a:r>
          </a:p>
        </p:txBody>
      </p:sp>
      <p:sp>
        <p:nvSpPr>
          <p:cNvPr id="8" name="Rectangle 7"/>
          <p:cNvSpPr/>
          <p:nvPr/>
        </p:nvSpPr>
        <p:spPr>
          <a:xfrm>
            <a:off x="6675120" y="2194560"/>
            <a:ext cx="5029200" cy="365760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0" y="23774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E8C88C"/>
                </a:solidFill>
                <a:latin typeface="Calibri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2834640"/>
            <a:ext cx="4572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In Sudan today, the actors with the most ground truth and the fastest reach — village savings groups, neighbourhood councils, youth mutual-aid — are exactly the ones the standard funding system can't see.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5120640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E8C88C"/>
                </a:solidFill>
                <a:latin typeface="Calibri"/>
              </a:rPr>
              <a:t>The result: money moves through chains that don't know what's happening on the ground.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THE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Sudan needs a fund that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behaves differently.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194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688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D48C3E"/>
                </a:solidFill>
                <a:latin typeface="Calibri"/>
              </a:rPr>
              <a:t>25M+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862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people in need of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humanitarian assistance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0"/>
                </a:solidFill>
                <a:latin typeface="Calibri"/>
              </a:rPr>
              <a:t>UN OCHA, 2026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29000" y="2194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4688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D48C3E"/>
                </a:solidFill>
                <a:latin typeface="Calibri"/>
              </a:rPr>
              <a:t>18M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38862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facing acute food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insecurity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0"/>
                </a:solidFill>
                <a:latin typeface="Calibri"/>
              </a:rPr>
              <a:t>FEWS NET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2194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24688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D48C3E"/>
                </a:solidFill>
                <a:latin typeface="Calibri"/>
              </a:rPr>
              <a:t>70%+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8862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of aid moves through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non-Sudanese intermediaries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0"/>
                </a:solidFill>
                <a:latin typeface="Calibri"/>
              </a:rPr>
              <a:t>Sector analysis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89720" y="2194560"/>
            <a:ext cx="269748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246888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D48C3E"/>
                </a:solidFill>
                <a:latin typeface="Calibri"/>
              </a:rPr>
              <a:t>&lt;1%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3886200"/>
            <a:ext cx="23774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of international funding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reaches informal groups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516636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E7380"/>
                </a:solidFill>
                <a:latin typeface="Calibri"/>
              </a:rPr>
              <a:t>Localisation studies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E7380"/>
                </a:solidFill>
                <a:latin typeface="Calibri"/>
              </a:rPr>
              <a:t>Adeso has spent two decades operating in this context. Proximate is the fund that captures what was learned.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WHAT IT 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Three non-negotiables baked into the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platform itself.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194560"/>
            <a:ext cx="1280160" cy="12801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23160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D48C3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24027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Speed is a feature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01018"/>
                </a:solidFill>
                <a:latin typeface="Calibri"/>
              </a:rPr>
              <a:t>Emergency Fast-Track is the primary lane — not the override. Multi-route FSPs ensure money moves even when one route fails.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657600"/>
            <a:ext cx="1280160" cy="12801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886200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D48C3E"/>
                </a:solidFill>
                <a:latin typeface="Calibr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03320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Arabic and RTL first-class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4206240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01018"/>
                </a:solidFill>
                <a:latin typeface="Calibri"/>
              </a:rPr>
              <a:t>Every partner-facing surface defaults to Arabic. AI replies in conversational Sudanese dialect — not formal MSA — when the user writes in Arabic.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120640"/>
            <a:ext cx="1280160" cy="128016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5349240"/>
            <a:ext cx="109728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800" b="1">
                <a:solidFill>
                  <a:srgbClr val="D48C3E"/>
                </a:solidFill>
                <a:latin typeface="Calibr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5166359"/>
            <a:ext cx="9601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0F2A47"/>
                </a:solidFill>
                <a:latin typeface="Calibri"/>
              </a:rPr>
              <a:t>Auditability as a side effect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669279"/>
            <a:ext cx="96012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50" b="0">
                <a:solidFill>
                  <a:srgbClr val="101018"/>
                </a:solidFill>
                <a:latin typeface="Calibri"/>
              </a:rPr>
              <a:t>Every decision writes a hash-chained audit row automatically. No separate compliance form. Per-tenant scope so an external auditor walks only what's relevant.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THE PARTNER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Four things, ever. No login. No app.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548640" y="2148840"/>
            <a:ext cx="868680" cy="868680"/>
          </a:xfrm>
          <a:prstGeom prst="ellipse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868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1488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Get nominated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91640" y="2560320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Someone sends you a link, or you self-nominate via a token URL.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Two endorsers vouch for you. Bank account verified. Sanctions screen.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27832"/>
            <a:ext cx="868680" cy="868680"/>
          </a:xfrm>
          <a:prstGeom prst="ellipse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273552"/>
            <a:ext cx="868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3227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Receive money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639312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Tier-appropriate multi-sig signs off. Funds move via bank, mobile money, or hawala — whatever route works.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4306824"/>
            <a:ext cx="868680" cy="868680"/>
          </a:xfrm>
          <a:prstGeom prst="ellipse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352544"/>
            <a:ext cx="868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4306824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Click WhatsApp link → 5 questions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718304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14-day disbursement report. Voice instead of typing. Photo evidence. Done in five minutes.</a:t>
            </a:r>
          </a:p>
        </p:txBody>
      </p:sp>
      <p:sp>
        <p:nvSpPr>
          <p:cNvPr id="18" name="Oval 17"/>
          <p:cNvSpPr/>
          <p:nvPr/>
        </p:nvSpPr>
        <p:spPr>
          <a:xfrm>
            <a:off x="548640" y="5385816"/>
            <a:ext cx="868680" cy="868680"/>
          </a:xfrm>
          <a:prstGeom prst="ellipse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431536"/>
            <a:ext cx="86868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5385816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F2A47"/>
                </a:solidFill>
                <a:latin typeface="Calibri"/>
              </a:rPr>
              <a:t>Click WhatsApp link → 3 questions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797296"/>
            <a:ext cx="100584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90-day outcome attestation with counterfactual. Independent verifier confirms.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08076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48C3E"/>
                </a:solidFill>
                <a:latin typeface="Calibri"/>
              </a:rPr>
              <a:t>Zero login. Zero password reset. Zero training. The OB handles the complexity so the partner doesn't have to.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WHAT'S DIFFERENT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Five capabilities you won't find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in a stock grant system.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8640" y="219456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3657600" cy="109728"/>
          </a:xfrm>
          <a:prstGeom prst="rect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4688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Token-credentialed URLs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01018"/>
                </a:solidFill>
                <a:latin typeface="Calibri"/>
              </a:rPr>
              <a:t>Five surfaces accept a token instead of a login. The URL is the credential. Verifier votes are one-shot.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219456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2194560"/>
            <a:ext cx="3657600" cy="109728"/>
          </a:xfrm>
          <a:prstGeom prst="rect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24688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WhatsApp-native delivery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9718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01018"/>
                </a:solidFill>
                <a:latin typeface="Calibri"/>
              </a:rPr>
              <a:t>OB shares each token URL through WhatsApp deep-link. Partner clicks. No backend WhatsApp account required to start.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321040" y="219456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321040" y="2194560"/>
            <a:ext cx="3657600" cy="109728"/>
          </a:xfrm>
          <a:prstGeom prst="rect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49640" y="2468879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Voice transcription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49640" y="2971800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01018"/>
                </a:solidFill>
                <a:latin typeface="Calibri"/>
              </a:rPr>
              <a:t>Whisper handles Sudanese Arabic. Partner speaks; OB reads transcript and can replay original audio.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61772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3657600" cy="109728"/>
          </a:xfrm>
          <a:prstGeom prst="rect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892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Hash-chained audit log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39495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01018"/>
                </a:solidFill>
                <a:latin typeface="Calibri"/>
              </a:rPr>
              <a:t>Every action emits a row whose hash includes the previous row's hash. Tampering is detectable by walking the chain.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4617720"/>
            <a:ext cx="36576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34840" y="4617720"/>
            <a:ext cx="3657600" cy="109728"/>
          </a:xfrm>
          <a:prstGeom prst="rect">
            <a:avLst/>
          </a:prstGeom>
          <a:solidFill>
            <a:srgbClr val="D48C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63440" y="489204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Tenant-aware AI Q&amp;A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394959"/>
            <a:ext cx="32004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101018"/>
                </a:solidFill>
                <a:latin typeface="Calibri"/>
              </a:rPr>
              <a:t>Donor AI answers from the same metrics the dashboard shows. Replies in Sudanese dialect when asked in Arabic.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COMPLIANCE IS BUILT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Not bolted on after disbursement.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GATES THAT BLOCK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Sanctions screen at self-nomination — OpenSanctions + UN + OFAC + EU.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Weekly re-screen of cleared partners (the Sudan list shifts).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Conflict-of-interest gate on endorsers: no shared village, family, or employer.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Independence rule on verifiers — randomised from outside the endorser pool.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Restricted-budget engine: a disbursement exceeding a donor share returns 422 with a dollar-precise error.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RECORD THAT PROVES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Hash-chained audit log, per-tenant scope — an external Proximate auditor walks only Proximate rows.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Server-side PDFs include the audit anchor — a donor can verify the PDF is exactly what was generated at that moment.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Ed25519 verifiable credentials a cleared partner can present to other funders.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Intervention register with hard timers — hold 24-72h, investigation 5-10 working days.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250" b="1">
                <a:solidFill>
                  <a:srgbClr val="D48C3E"/>
                </a:solidFill>
                <a:latin typeface="Calibri"/>
              </a:rPr>
              <a:t>•  </a:t>
            </a:r>
            <a:r>
              <a:rPr sz="1250">
                <a:solidFill>
                  <a:srgbClr val="101018"/>
                </a:solidFill>
                <a:latin typeface="Calibri"/>
              </a:rPr>
              <a:t>Three-eyes verifier model: partner attests, OB attests, independent verifier votes confirmed or disputed.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SPEED WITHOUT SACRIFICE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Thresholds, not bottlenecks.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MULTI-SIG LADDER  —  signers scale with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6207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≤ $10K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86207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Single signer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862072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7380"/>
                </a:solidFill>
                <a:latin typeface="Calibri"/>
              </a:rPr>
              <a:t>Auto-clears within the same day.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84448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49039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$10K – $100K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749039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Dual sign-off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749039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7380"/>
                </a:solidFill>
                <a:latin typeface="Calibri"/>
              </a:rPr>
              <a:t>Sender cannot cosign. Plan-B FSP routing on failure.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471416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636007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$100K – $500K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4636007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Allocation Committee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636007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7380"/>
                </a:solidFill>
                <a:latin typeface="Calibri"/>
              </a:rPr>
              <a:t>Documented urgency override available with retroactive ratification.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358383"/>
            <a:ext cx="11091672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522975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&gt; $500K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5522975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Fiduciary 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5522975"/>
            <a:ext cx="5394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6E7380"/>
                </a:solidFill>
                <a:latin typeface="Calibri"/>
              </a:rPr>
              <a:t>Tranche-based release tied to milestones.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D48C3E"/>
                </a:solidFill>
                <a:latin typeface="Calibri"/>
              </a:rPr>
              <a:t>Emergency Fast-Track is the primary lane — the design assumption is crisis, not exception.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WHAT DONORS GET 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Real-time visibility, signed by the system.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ASK THE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7315200" cy="210312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685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"What's our 90-day attestation rate?"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337560"/>
            <a:ext cx="68580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E8C88C"/>
                </a:solidFill>
                <a:latin typeface="Calibri"/>
              </a:rPr>
              <a:t>→ 75.0%  —  derived from the same outcome_attested / outcome_total the dashboard tile shows.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E8C88C"/>
                </a:solidFill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00" b="0">
                <a:solidFill>
                  <a:srgbClr val="E8C88C"/>
                </a:solidFill>
                <a:latin typeface="Calibri"/>
              </a:rPr>
              <a:t>Replies in conversational Sudanese Arabic when the donor writes in Arabic. Every reply logged with a call_id for audit.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21945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DONOR PORTAL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2606040"/>
            <a:ext cx="36576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101018"/>
                </a:solidFill>
                <a:latin typeface="Calibri"/>
              </a:rPr>
              <a:t>Portfolio view across rounds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101018"/>
                </a:solidFill>
                <a:latin typeface="Calibri"/>
              </a:rPr>
              <a:t>Per-round operational rollup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101018"/>
                </a:solidFill>
                <a:latin typeface="Calibri"/>
              </a:rPr>
              <a:t>Closing-pack PDF downloads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101018"/>
                </a:solidFill>
                <a:latin typeface="Calibri"/>
              </a:rPr>
              <a:t>Audit anchor on every export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101018"/>
                </a:solidFill>
                <a:latin typeface="Calibri"/>
              </a:rPr>
              <a:t>Restricted-share visibility</a:t>
            </a:r>
          </a:p>
          <a:p>
            <a:pPr>
              <a:lnSpc>
                <a:spcPct val="140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101018"/>
                </a:solidFill>
                <a:latin typeface="Calibri"/>
              </a:rPr>
              <a:t>AI Q&amp;A grounded in your slice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937760"/>
            <a:ext cx="7315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250" b="0">
                <a:solidFill>
                  <a:srgbClr val="101018"/>
                </a:solidFill>
                <a:latin typeface="Calibri"/>
              </a:rPr>
              <a:t>Tile and AI answer share a single computation — they cannot disagree by construction. The audit chain proves the number is what the system actually saw.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BUILT ON KUJA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A proven multi-tenant grant platform.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WHAT YOU INHERIT FROM DAY ONE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51760"/>
            <a:ext cx="56052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834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Multi-tenant by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01018"/>
                </a:solidFill>
                <a:latin typeface="Calibri"/>
              </a:rPr>
              <a:t>Proximate runs alongside the open Kuja Marketplace and NEAR — no fork. Per-tenant scoping enforced from the data model up.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651760"/>
            <a:ext cx="56052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28346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PWA + offline outbox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33756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01018"/>
                </a:solidFill>
                <a:latin typeface="Calibri"/>
              </a:rPr>
              <a:t>OB decisions queue locally when the network drops. Audit chain reflects the real timestamp and the sync 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480560"/>
            <a:ext cx="56052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AI replay logging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6636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01018"/>
                </a:solidFill>
                <a:latin typeface="Calibri"/>
              </a:rPr>
              <a:t>Every Claude and Whisper call has a call_id and replay record. Telemetry surfaces accept/edit/dismiss for each AI suggestion.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4480560"/>
            <a:ext cx="5605272" cy="1691640"/>
          </a:xfrm>
          <a:prstGeom prst="rect">
            <a:avLst/>
          </a:prstGeom>
          <a:solidFill>
            <a:srgbClr val="FFFFFF"/>
          </a:solidFill>
          <a:ln w="6350">
            <a:solidFill>
              <a:srgbClr val="D4C8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4663440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2A47"/>
                </a:solidFill>
                <a:latin typeface="Calibri"/>
              </a:rPr>
              <a:t>6-locale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5166360"/>
            <a:ext cx="52120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50" b="0">
                <a:solidFill>
                  <a:srgbClr val="101018"/>
                </a:solidFill>
                <a:latin typeface="Calibri"/>
              </a:rPr>
              <a:t>EN, AR, FR, SW, SO, ES — 2700+ keys gated by CI parity check. Real EN + AR translations; others are placeholder pending review.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Live on prod against seeded fixtures.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LIVE URL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19456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web-production-6f8a.up.railway.app  ·  X-Network-Override: proximate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2560320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48640" y="2660904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TEST FIXTURES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660904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8 partners · 9 disbursements · 4 outcomes · 1 verifier attestation · 2 pending crisis signals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3026664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3127248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TOKEN URL SURFACES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127248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nominate · report · outcome · partner mini-portal · verifier — all verified live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48640" y="3493008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8640" y="3593591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MONITORING CRONS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593591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6 (disbursement-nudge, outcome-due, quarterly counterfactual, donor retro, sanctions re-screen, crisis monitoring)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959352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4059935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SYNTHETIC MONITOR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4059935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11 probes including DB-touching /api/ready and Proximate-tenant login canary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4425696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4526279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AUDIT 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526279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Hash-chained, per-tenant scope v0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4892040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4992623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AI REPLAY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40480" y="4992623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Logged with call_id on every surface · Tenant-aware system prompt (Sudanese-Arabic dialect)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5358383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48640" y="5458967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E7380"/>
                </a:solidFill>
                <a:latin typeface="Calibri"/>
              </a:rPr>
              <a:t>SMOKE / INVARIANTS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458967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01018"/>
                </a:solidFill>
                <a:latin typeface="Calibri"/>
              </a:rPr>
              <a:t>167 / 167 PASS  ·  67 / 67 PASS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824727"/>
            <a:ext cx="11091672" cy="0"/>
          </a:xfrm>
          <a:prstGeom prst="line">
            <a:avLst/>
          </a:prstGeom>
          <a:ln w="6350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548640" y="5989320"/>
            <a:ext cx="2468880" cy="384048"/>
          </a:xfrm>
          <a:prstGeom prst="roundRect">
            <a:avLst>
              <a:gd name="adj" fmla="val 50000"/>
            </a:avLst>
          </a:prstGeom>
          <a:solidFill>
            <a:srgbClr val="2F7D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VERIFIED  2026-06-28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HONEST ACCOUNTING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What we haven't shipped yet — and why.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OPERATIONAL — needs Adeso 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DNS for proximate.kuja.org — domain admin step.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SMTP env var on Railway (SendGrid or SMTP_*).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CRON_SECRET in GitHub repo secrets — without it, scheduled crons return 403.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WhatsApp Business API — needs Meta Cloud API account + template approval. ~2 days engineering once unblocked.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Sudanese-Arabic translator review of static UI strings (AI dialogue already handles dialect).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1945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SCOPE — needs Adeso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606040"/>
            <a:ext cx="54864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Crisis-Selector news-feed ingestor — pick sources (ReliefWeb / OCHA / ACLED / IFRC). Manual signal entry covers the gap today.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Voice-only flow for low-literacy partners — pick Sudanese-Arabic TTS model.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Hard capital ring-fence engine beyond classification.</a:t>
            </a:r>
          </a:p>
          <a:p>
            <a:pPr>
              <a:lnSpc>
                <a:spcPct val="130000"/>
              </a:lnSpc>
              <a:spcAft>
                <a:spcPts val="600"/>
              </a:spcAft>
            </a:pPr>
            <a:r>
              <a:rPr sz="1150" b="1">
                <a:solidFill>
                  <a:srgbClr val="D48C3E"/>
                </a:solidFill>
                <a:latin typeface="Calibri"/>
              </a:rPr>
              <a:t>•  </a:t>
            </a:r>
            <a:r>
              <a:rPr sz="1150">
                <a:solidFill>
                  <a:srgbClr val="101018"/>
                </a:solidFill>
                <a:latin typeface="Calibri"/>
              </a:rPr>
              <a:t>Quarterly Fiduciary Board pack template.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2A47"/>
                </a:solidFill>
                <a:latin typeface="Calibri"/>
              </a:rPr>
              <a:t>Everything above is unblocked work — none of it requires a rebuild. Engineering effort is small per item.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E8C88C"/>
                </a:solidFill>
                <a:latin typeface="Calibri"/>
              </a:rPr>
              <a:t>WHY THIS FUND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>
                <a:solidFill>
                  <a:srgbClr val="FFFFFF"/>
                </a:solidFill>
                <a:latin typeface="Calibri"/>
              </a:rPr>
              <a:t>Three claims, each demonstrable today.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194560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6974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48C3E"/>
                </a:solidFill>
                <a:latin typeface="Calibri"/>
              </a:rPr>
              <a:t>Community endorsement substitutes for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E8C88C"/>
                </a:solidFill>
                <a:latin typeface="Calibri"/>
              </a:rPr>
              <a:t>Two endorsers + bank check + reputation floor + sanctions screen + weekly re-screen = a defensible decision to disburse to an informal group.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9319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48C3E"/>
                </a:solidFill>
                <a:latin typeface="Calibri"/>
              </a:rPr>
              <a:t>Token URLs substitute for accounts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43484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E8C88C"/>
                </a:solidFill>
                <a:latin typeface="Calibri"/>
              </a:rPr>
              <a:t>A partner with a phone and intermittent connectivity can do everything they need to do without ever logging in to anything.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16636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D48C3E"/>
                </a:solidFill>
                <a:latin typeface="Calibri"/>
              </a:rPr>
              <a:t>Hash-anchored audit substitutes for paperwork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66928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300" b="0">
                <a:solidFill>
                  <a:srgbClr val="E8C88C"/>
                </a:solidFill>
                <a:latin typeface="Calibri"/>
              </a:rPr>
              <a:t>Every decision produces an auditable record as a side effect of the action — no separate compliance step, no separate form.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Two things would change what this fund</a:t>
            </a:r>
          </a:p>
          <a:p>
            <a:pPr algn="l">
              <a:spcAft>
                <a:spcPts val="0"/>
              </a:spcAft>
            </a:pPr>
            <a:r>
              <a:rPr sz="3400" b="1">
                <a:solidFill>
                  <a:srgbClr val="0F2A47"/>
                </a:solidFill>
                <a:latin typeface="Calibri"/>
              </a:rPr>
              <a:t>can reach.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1755648"/>
            <a:ext cx="2377440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THE 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59436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D48C3E"/>
                </a:solidFill>
                <a:latin typeface="Calibri"/>
              </a:rPr>
              <a:t>•  </a:t>
            </a:r>
            <a:r>
              <a:rPr sz="1300">
                <a:solidFill>
                  <a:srgbClr val="101018"/>
                </a:solidFill>
                <a:latin typeface="Calibri"/>
              </a:rPr>
              <a:t>Co-funder commitment to seed a first live round under Proximate.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D48C3E"/>
                </a:solidFill>
                <a:latin typeface="Calibri"/>
              </a:rPr>
              <a:t>•  </a:t>
            </a:r>
            <a:r>
              <a:rPr sz="1300">
                <a:solidFill>
                  <a:srgbClr val="101018"/>
                </a:solidFill>
                <a:latin typeface="Calibri"/>
              </a:rPr>
              <a:t>Unblocking decisions on DNS, SMTP, and CRON_SECRET — see Slide 12. None of these require engineering.</a:t>
            </a:r>
          </a:p>
          <a:p>
            <a:pPr>
              <a:lnSpc>
                <a:spcPct val="135000"/>
              </a:lnSpc>
              <a:spcAft>
                <a:spcPts val="600"/>
              </a:spcAft>
            </a:pPr>
            <a:r>
              <a:rPr sz="1300" b="1">
                <a:solidFill>
                  <a:srgbClr val="D48C3E"/>
                </a:solidFill>
                <a:latin typeface="Calibri"/>
              </a:rPr>
              <a:t>•  </a:t>
            </a:r>
            <a:r>
              <a:rPr sz="1300">
                <a:solidFill>
                  <a:srgbClr val="101018"/>
                </a:solidFill>
                <a:latin typeface="Calibri"/>
              </a:rPr>
              <a:t>A 30-minute live walkthrough of the prod tenant against the design checklist.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9456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D48C3E"/>
                </a:solidFill>
                <a:latin typeface="Calibri"/>
              </a:rPr>
              <a:t>WHAT YOU 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606040"/>
            <a:ext cx="4782312" cy="3200400"/>
          </a:xfrm>
          <a:prstGeom prst="rect">
            <a:avLst/>
          </a:prstGeom>
          <a:solidFill>
            <a:srgbClr val="0F2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788920"/>
            <a:ext cx="43891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Restricted donor shares tracked dollar-precise.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Audit chain export per disbursement.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Sudanese-dialect AI Q&amp;A on your slice.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Closing-pack PDF with audit anchor.</a:t>
            </a:r>
          </a:p>
          <a:p>
            <a:pPr>
              <a:lnSpc>
                <a:spcPct val="145000"/>
              </a:lnSpc>
              <a:spcAft>
                <a:spcPts val="600"/>
              </a:spcAft>
            </a:pPr>
            <a:r>
              <a:rPr sz="1200" b="1">
                <a:solidFill>
                  <a:srgbClr val="D48C3E"/>
                </a:solidFill>
                <a:latin typeface="Calibri"/>
              </a:rPr>
              <a:t>•  </a:t>
            </a:r>
            <a:r>
              <a:rPr sz="1200">
                <a:solidFill>
                  <a:srgbClr val="FFFFFF"/>
                </a:solidFill>
                <a:latin typeface="Calibri"/>
              </a:rPr>
              <a:t>Verifiable credentials your grantees can re-use.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5989320"/>
            <a:ext cx="11091672" cy="0"/>
          </a:xfrm>
          <a:prstGeom prst="line">
            <a:avLst/>
          </a:prstGeom>
          <a:ln w="31750">
            <a:solidFill>
              <a:srgbClr val="D48C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2A47"/>
                </a:solidFill>
                <a:latin typeface="Calibri"/>
              </a:rPr>
              <a:t>ADESO  ·  iloyan@adesoafrica.org  ·  https://web-production-6f8a.up.railway.app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4C8A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6E7380"/>
                </a:solidFill>
                <a:latin typeface="Calibri"/>
              </a:rPr>
              <a:t>PROXIMATE FUND  —  ADESO + KUJA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6510528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6E7380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