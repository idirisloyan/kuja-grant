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9436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KUJA PRODUCT  ·  BUILT BY ADESO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691640"/>
            <a:ext cx="10911535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 GRANT</a:t>
            </a:r>
            <a:endParaRPr lang="en-US" sz="15000" dirty="0"/>
          </a:p>
        </p:txBody>
      </p:sp>
      <p:sp>
        <p:nvSpPr>
          <p:cNvPr id="4" name="Shape 2"/>
          <p:cNvSpPr/>
          <p:nvPr/>
        </p:nvSpPr>
        <p:spPr>
          <a:xfrm>
            <a:off x="640080" y="3657600"/>
            <a:ext cx="1371600" cy="4572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384048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i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Lowering the floor on who gets funded.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45262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end-to-end grant system. Two flavors. AI-native. Built BY and FOR the Global South.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63550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pitch deck V3  ·  June 2026  ·  Confidential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894015" y="63550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kuja@adeso.org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7C2D1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MISSION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lower the floor on who gets funded.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640080" y="2743200"/>
            <a:ext cx="34847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4A2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3.8%</a:t>
            </a:r>
            <a:endParaRPr lang="en-US" sz="7000" dirty="0"/>
          </a:p>
        </p:txBody>
      </p:sp>
      <p:sp>
        <p:nvSpPr>
          <p:cNvPr id="7" name="Shape 5"/>
          <p:cNvSpPr/>
          <p:nvPr/>
        </p:nvSpPr>
        <p:spPr>
          <a:xfrm>
            <a:off x="640080" y="4069080"/>
            <a:ext cx="36576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420624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humanitarian funding reaches local NGOs directly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5488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a decade of pledges. The Grand Bargain target is 25%. The system has failed Global South CSOs by a factor of seven.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353458" y="2743200"/>
            <a:ext cx="34847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$35–40B</a:t>
            </a:r>
            <a:endParaRPr lang="en-US" sz="7000" dirty="0"/>
          </a:p>
        </p:txBody>
      </p:sp>
      <p:sp>
        <p:nvSpPr>
          <p:cNvPr id="11" name="Shape 9"/>
          <p:cNvSpPr/>
          <p:nvPr/>
        </p:nvSpPr>
        <p:spPr>
          <a:xfrm>
            <a:off x="4353458" y="4069080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3458" y="420624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funding gap to absorb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353458" y="475488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USAID dissolved. -23.1% OECD ODA in 2025. Yet local NGOs are best-placed to deliver — if barriers fall fast enough.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066837" y="2743200"/>
            <a:ext cx="348477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7000" b="1" dirty="0">
                <a:solidFill>
                  <a:srgbClr val="F4E8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 / 7%</a:t>
            </a:r>
            <a:endParaRPr lang="en-US" sz="7000" dirty="0"/>
          </a:p>
        </p:txBody>
      </p:sp>
      <p:sp>
        <p:nvSpPr>
          <p:cNvPr id="15" name="Shape 13"/>
          <p:cNvSpPr/>
          <p:nvPr/>
        </p:nvSpPr>
        <p:spPr>
          <a:xfrm>
            <a:off x="8066837" y="4069080"/>
            <a:ext cx="365760" cy="2286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66837" y="4206240"/>
            <a:ext cx="3393338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adoption vs impact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066837" y="4754880"/>
            <a:ext cx="3393338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Nonprofits use AI tools. Few see real organizational change. Generic tools, English-only, no understanding of local reality.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603504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exists because the floor needs to come down. Language. Literacy. Connectivity. Channel. Cost. Compliance burden. We lower all six.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AND FOR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were not "built for the Global South." We were built FROM it.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219456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a positioning statement. It is the only reason this product exists at all.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3464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5272888" cy="33375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527288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24612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ARE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60120" y="361188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2007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920240" y="361188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founded in Somalia by Degan Ali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93192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response, local accountability, local leadership.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60120" y="425196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2016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920240" y="425196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Co-founded NEAR with Global South CSOs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920240" y="457200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60+ member network of frontline humanitarian and development orgs.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60120" y="489204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920240" y="489204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Began building Kuja from our own pain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521208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Adeso ran on stitched-stack tools. We replaced them all with Kuja.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60120" y="5532120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2026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20240" y="553212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in production. Adeso runs on it daily.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920240" y="5852160"/>
            <a:ext cx="3626968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product claim is something we operate. Not theory.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278728" y="3063240"/>
            <a:ext cx="5272888" cy="333756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98768" y="324612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WE BUILD FOR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598768" y="3566160"/>
            <a:ext cx="47242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field officer with a Tecno phone.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98768" y="4114800"/>
            <a:ext cx="472424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i="1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the foundation officer with a MacBook in Manhattan.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598768" y="4572000"/>
            <a:ext cx="4572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598768" y="475488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Speaks Swahili at home, Somali at work, English under duress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598768" y="502920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Intermittent power and 3G connectivity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598768" y="530352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Half a day to write a report, not three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598768" y="557784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Whatsapps the donor before emailing them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598768" y="585216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Builds trust through evidence, not application essays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598768" y="6126480"/>
            <a:ext cx="481568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Will be the lead delivery partner in five years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HEART OF KUJA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 is the foundation. Everything else plugs in.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discovers. Elevate operates. ERP keeps the books. Grant is where money actually moves.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815688" y="3108960"/>
            <a:ext cx="2560320" cy="25603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15688" y="36118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400" kern="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815688" y="40233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GRANT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815688" y="484632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spine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23848" y="347472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3848" y="3474720"/>
            <a:ext cx="64008" cy="8229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06728" y="3593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706728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discovers grantees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290408" y="347472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290408" y="3474720"/>
            <a:ext cx="64008" cy="8229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73288" y="359359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473288" y="393192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operates the NGO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523848" y="493776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523848" y="4937760"/>
            <a:ext cx="64008" cy="82296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706728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(opt-in)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706728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financials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8290408" y="4937760"/>
            <a:ext cx="2377440" cy="8229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90408" y="4937760"/>
            <a:ext cx="64008" cy="8229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473288" y="5056632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PROFILE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473288" y="539496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portable identity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115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predates the others. Every Kuja module reads from or writes to the Grant data model. This is the heart.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LIFECYCLE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Design. Apply. Review. Award. Report.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grant — from either flavor — flows through these five stages. AI grounds every step.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2109155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Design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68680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/ NETWORK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868680" y="438912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Wizard-driven. AI suggests rubric weights, eligibility rules, evaluation criteria. Templates from prior funds.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840675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40675" y="3063240"/>
            <a:ext cx="2109155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069275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069275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Apply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069275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069275" y="438912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69275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co-author from Trust Profile. Six languages. Voice-to-text. Photo-as-evidence. WhatsApp prompts.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41270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41270" y="3063240"/>
            <a:ext cx="2109155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269870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269870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</a:t>
            </a:r>
            <a:endParaRPr lang="en-US" sz="2200" dirty="0"/>
          </a:p>
        </p:txBody>
      </p:sp>
      <p:sp>
        <p:nvSpPr>
          <p:cNvPr id="26" name="Text 24"/>
          <p:cNvSpPr/>
          <p:nvPr/>
        </p:nvSpPr>
        <p:spPr>
          <a:xfrm>
            <a:off x="5269870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PANEL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269870" y="4389120"/>
            <a:ext cx="365760" cy="1828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269870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scoring per criterion. AI grounds every score with citations. Hard gates at submit.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241865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41865" y="3063240"/>
            <a:ext cx="2109155" cy="64008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470465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84B5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470465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Award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7470465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/ OB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470465" y="4389120"/>
            <a:ext cx="365760" cy="18288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70465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signature with COI capture. Agreement upload triggers AI obligation extraction.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9442460" y="3063240"/>
            <a:ext cx="2109155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442460" y="3063240"/>
            <a:ext cx="2109155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671060" y="3246120"/>
            <a:ext cx="16519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9671060" y="3566160"/>
            <a:ext cx="16519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</a:t>
            </a:r>
            <a:endParaRPr lang="en-US" sz="2200" dirty="0"/>
          </a:p>
        </p:txBody>
      </p:sp>
      <p:sp>
        <p:nvSpPr>
          <p:cNvPr id="40" name="Text 38"/>
          <p:cNvSpPr/>
          <p:nvPr/>
        </p:nvSpPr>
        <p:spPr>
          <a:xfrm>
            <a:off x="9671060" y="4114800"/>
            <a:ext cx="1651955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+ DONOR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9671060" y="438912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671060" y="4526280"/>
            <a:ext cx="174339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against the agreement, per requirement, with risk flags and citations.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14400" y="587044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Spine running through all five stages: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grounding (35+ surfaces)  ·  Trust Profile  ·  Hash-anchored audit chain  ·  Six-language parity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FLAVORS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engine. Two operating modes.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the flavor that matches how you fund. Both share the lifecycle, the AI, the audit chain.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5272888" cy="3200400"/>
          </a:xfrm>
          <a:prstGeom prst="rect">
            <a:avLst/>
          </a:prstGeom>
          <a:solidFill>
            <a:srgbClr val="1A4F5C"/>
          </a:solidFill>
          <a:ln w="12700">
            <a:solidFill>
              <a:srgbClr val="1A4F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333756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05840" y="3657600"/>
            <a:ext cx="47242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Network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1005840" y="448056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4617720"/>
            <a:ext cx="46328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network secretariat (Adeso, NEAR, a foundation) hosts a private platform. Vetted member NGOs apply for fund windows. The network governs membership, trust, and emergency declarations together.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05840" y="5669280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NEAR — co-founded by Adeso in 2016. Lead pilot prospect.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8728" y="3063240"/>
            <a:ext cx="5272888" cy="32004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44488" y="3337560"/>
            <a:ext cx="472424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644488" y="3657600"/>
            <a:ext cx="472424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Compliance &amp; Reporting</a:t>
            </a:r>
            <a:endParaRPr lang="en-US" sz="3100" dirty="0"/>
          </a:p>
        </p:txBody>
      </p:sp>
      <p:sp>
        <p:nvSpPr>
          <p:cNvPr id="17" name="Shape 15"/>
          <p:cNvSpPr/>
          <p:nvPr/>
        </p:nvSpPr>
        <p:spPr>
          <a:xfrm>
            <a:off x="6644488" y="448056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644488" y="4617720"/>
            <a:ext cx="4632808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donor (foundation, bilateral, corporate) runs grant rounds. Any qualified NGO can apply. AI grades every report against the agreement. Donor sees compliance signals in real time.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44488" y="5669280"/>
            <a:ext cx="4632808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live production tenants on Kuja Marketplace.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Same five-stage lifecycle. Same AI. Same Trust Profile. </a:t>
            </a:r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flavor changes who governs membership and how grants are released.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  ·  CLOSED NETWORK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Network: how it works.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is the host. Members are vetted, governed, and trusted by their peers. Decisions are multi-sig.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97480" y="33832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applies to join. Mandatory capacity assessment. OB reviews and decides.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 + Windows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697480" y="38862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Secretariat creates a Fund. Windows (open rounds) with rubrics and budgets.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(members only)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438912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vetted members can apply. Trust Profile pre-fills. Hard-gated submit.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48920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releases to reviewers. Multi-sig signature flow. COI capture at every step.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+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697480" y="5394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Crisis Monitoring Report. Monitoring visits logged. Audit-anchored.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4510735" cy="3383280"/>
          </a:xfrm>
          <a:prstGeom prst="rect">
            <a:avLst/>
          </a:prstGeom>
          <a:solidFill>
            <a:srgbClr val="1A4F5C"/>
          </a:solidFill>
          <a:ln w="12700">
            <a:solidFill>
              <a:srgbClr val="1A4F5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108960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NETWORK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3383280"/>
            <a:ext cx="3962095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NEAR</a:t>
            </a:r>
            <a:endParaRPr lang="en-US" sz="5000" dirty="0"/>
          </a:p>
        </p:txBody>
      </p:sp>
      <p:sp>
        <p:nvSpPr>
          <p:cNvPr id="27" name="Text 25"/>
          <p:cNvSpPr/>
          <p:nvPr/>
        </p:nvSpPr>
        <p:spPr>
          <a:xfrm>
            <a:off x="7360920" y="4206240"/>
            <a:ext cx="39620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for Empowered Aid Response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360920" y="457200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60920" y="4754880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Co-founded by Adeso in 2016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7360920" y="5084064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60+ members across the Global South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360920" y="5413248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Reference architecture for Networks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60920" y="5742432"/>
            <a:ext cx="4053535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Lead pilot prospect — not a current client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GOVERNANCE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Multi-sig. COI. Emergency declarations. Audit chain.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governance is not a Slack thread. It is enforced at the data model.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64008" cy="137160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13639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Oversight Body (OB) role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41248" y="352044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from platform admin. Per-network. Cannot bypass approvals. All actions audited.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338218" y="297180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8218" y="2971800"/>
            <a:ext cx="64008" cy="137160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386" y="313639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Multi-sig signature flow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39386" y="352044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Configurable per fund: 2-of-3, 3-of-5. COI captured at each signature step.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036357" y="297180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36357" y="2971800"/>
            <a:ext cx="64008" cy="137160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37525" y="313639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Emergency declarations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237525" y="352044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+ mandatory COI. Reviewable wizard. Audit row at every state transition.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40080" y="448056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480560"/>
            <a:ext cx="64008" cy="137160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464515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Weekly Crisis Monitoring Report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" y="502920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cron. Top risks, signature pace, declared emergencies.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338218" y="448056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38218" y="4480560"/>
            <a:ext cx="64008" cy="137160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39386" y="464515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Monitoring visits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539386" y="502920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visit logs anchored to grants. Photos, notes, GPS. Visible in member dashboard.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036357" y="4480560"/>
            <a:ext cx="3515258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8036357" y="4480560"/>
            <a:ext cx="64008" cy="137160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37525" y="4645152"/>
            <a:ext cx="3195218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In-app messaging + feedback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237525" y="5029200"/>
            <a:ext cx="31952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Secretariat-to-member messaging. NGO feedback mechanism with audit trail.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2  ·  DIRECT COMPLIANCE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Compliance: how it works.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foundation or bilateral runs grant rounds directly. Any qualified NGO can apply. AI grades every step.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017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DONOR–NGO WORKFLOW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40080" y="3383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338328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designs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338328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configures the call: criteria, rubrics, eligibility. AI suggests starting weights.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388620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1097280" y="388620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discovers + applies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80360" y="38862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finds the call via Marketplace or invitation. Trust Profile pre-fills.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0080" y="438912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1097280" y="438912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Hard-gated submit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880360" y="43891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rules enforced. AI rubric pre-score. Reviewer panel notified.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0080" y="4892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097280" y="489204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scoring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880360" y="489204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Calibrated panels. Per-criterion AI-grounded citations. COI declared.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539496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1097280" y="53949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 + report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2880360" y="53949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uploads agreement → AI extracts obligations. NGO reports → AI evaluates.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926080"/>
            <a:ext cx="4510735" cy="338328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360920" y="3108960"/>
            <a:ext cx="396209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USES THIS FLAVOR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60920" y="3429000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Foundations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7360920" y="3931920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Bilaterals &amp; multilaterals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7360920" y="4434840"/>
            <a:ext cx="39620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Corporate giving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7360920" y="5029200"/>
            <a:ext cx="457200" cy="228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360920" y="5212080"/>
            <a:ext cx="396209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Anyone who funds NGOs and wants real compliance signals without a 9-month implementation.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COMPLIANCE  ·  THE HEADLINE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reporting is our core selling point.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uploads agreement once. AI extracts every requirement. Every NGO report is graded against it, per-requirement, with citations.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88036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108960"/>
            <a:ext cx="3515258" cy="27432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10896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3375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3611880"/>
            <a:ext cx="29666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Donor agreement → AI obligation extract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914400" y="461772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4400" y="4754880"/>
            <a:ext cx="30580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upload, AI parses the agreement, structures every reporting requirement, deadline, deliverable, and indicator. No data entry required.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338218" y="3108960"/>
            <a:ext cx="3515258" cy="27432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108960"/>
            <a:ext cx="3515258" cy="6400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12538" y="33375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12538" y="3611880"/>
            <a:ext cx="29666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NGO reports → per-requirement evaluation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612538" y="461772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12538" y="4754880"/>
            <a:ext cx="30580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NGO submits a report, AI grades each requirement individually — met, partial, missing — with citations back to the report and the agreement.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36357" y="3108960"/>
            <a:ext cx="3515258" cy="27432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10896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310677" y="333756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310677" y="3611880"/>
            <a:ext cx="2966618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score → reconciled across pillars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8310677" y="461772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10677" y="4754880"/>
            <a:ext cx="305805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Per-requirement grades roll into an overall compliance score. AI risk flags surface in donor dashboard, before quarterly reviews would catch them.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" y="5806440"/>
            <a:ext cx="10911535" cy="50292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5870448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is the headline: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grant management system on the market — Submittable, Foundant (incl. SmartSimple post-acquisition), Fluxx, Salesforce GM, Blackbaud, GivingData — evaluates NGO reports against the agreement, per requirement, with citations. We do this in production. Detail in the Kuja Grant Market Analysis Section 8.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THROUGHOUT THE LIFECYCLE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 AI surfaces. Grounded. Citable. Audited.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057400"/>
            <a:ext cx="10038612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not a chatbot bolted onto the side. It is woven into every stage of the grant lifecycle, with citations back to the source record.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Rubric weight suggester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Criteria templater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Eligibility validator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840675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840675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40675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co-author drafts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840675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Voice-to-text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2840675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Photo-as-evidence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840675" y="4718304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Six-language parity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041270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041270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41270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Per-criterion scoring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041270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Score-breakdown explainer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41270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Why-rejected feedback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41270" y="4718304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COI flagger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241865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AWARD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41865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41865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Agreement obligation extract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41865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Risk flag pre-flight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241865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Signature pace coach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9442460" y="3108960"/>
            <a:ext cx="20177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442460" y="3401568"/>
            <a:ext cx="36576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442460" y="3566160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Per-requirement grade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42460" y="3950208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AI compliance coach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442460" y="4334256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Audit-ready export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9442460" y="4718304"/>
            <a:ext cx="2017715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Translation parity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40080" y="62179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under the hood. Every surface telemetered: latency, cost, fallback usage, citation rate.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THEM WHERE THEY ARE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We meet NGOs where they are.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WhatsApp. Voice notes. Photos. Mobile-first. Six languages. The way Global South work actually happens.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8892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6324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3063240"/>
            <a:ext cx="73152" cy="1508760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246120"/>
            <a:ext cx="502920" cy="502920"/>
          </a:xfrm>
          <a:prstGeom prst="ellipse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68680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508760" y="329184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WhatsApp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384048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quick status. Get a deadline nudge. Reply to a clarification — all from WhatsApp. The way Global South CSOs already work.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338218" y="306324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38218" y="3063240"/>
            <a:ext cx="73152" cy="15087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66818" y="3246120"/>
            <a:ext cx="502920" cy="502920"/>
          </a:xfrm>
          <a:prstGeom prst="ellipse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66818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◉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206898" y="329184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Voice-to-report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566818" y="384048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officer speaks in Swahili. AI transcribes, structures, translates. Five minutes vs an hour of typing.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036357" y="306324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6357" y="3063240"/>
            <a:ext cx="73152" cy="15087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64957" y="3246120"/>
            <a:ext cx="502920" cy="502920"/>
          </a:xfrm>
          <a:prstGeom prst="ellipse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64957" y="32461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905037" y="329184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Photo-as-evidence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64957" y="384048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Snap the receipt, the borehole, the training. AI labels, geo-tags, attaches to the right report line. No data entry.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40080" y="470916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709160"/>
            <a:ext cx="73152" cy="150876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68680" y="4892040"/>
            <a:ext cx="502920" cy="502920"/>
          </a:xfrm>
          <a:prstGeom prst="ellipse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8680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1508760" y="493776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Six-language parity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68680" y="548640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 ·  FR  ·  AR  ·  SW  ·  SO  ·  ES at the workflow level. Not just translated strings — translated AI behavior.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338218" y="470916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338218" y="4709160"/>
            <a:ext cx="73152" cy="1508760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566818" y="4892040"/>
            <a:ext cx="502920" cy="502920"/>
          </a:xfrm>
          <a:prstGeom prst="ellipse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566818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206898" y="493776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Mobile-first, low-bandwidth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4566818" y="548640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a Tecno phone on 3G. Forms load progressively. Voice and photo work offline; sync on reconnect.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8036357" y="4709160"/>
            <a:ext cx="3515258" cy="150876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6357" y="4709160"/>
            <a:ext cx="73152" cy="150876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64957" y="4892040"/>
            <a:ext cx="502920" cy="502920"/>
          </a:xfrm>
          <a:prstGeom prst="ellipse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264957" y="489204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✱</a:t>
            </a:r>
            <a:endParaRPr lang="en-US" sz="1600" dirty="0"/>
          </a:p>
        </p:txBody>
      </p:sp>
      <p:sp>
        <p:nvSpPr>
          <p:cNvPr id="42" name="Text 40"/>
          <p:cNvSpPr/>
          <p:nvPr/>
        </p:nvSpPr>
        <p:spPr>
          <a:xfrm>
            <a:off x="8905037" y="4937760"/>
            <a:ext cx="250941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compliance coach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8264957" y="5486400"/>
            <a:ext cx="314949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Plain-language explanations of what is missing, why, and how to fix it. The expertise gap, addressed inline.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AUDIT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Trust Profile portable. Audit chain tamper-evident.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NGO assesses once. Every funder reads it. Every governance action links to the previous one.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718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PROFILE  ·  6 PILLARS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3447288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333756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Registration  ·  7 African registries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721608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Sanctions  ·  OpenSanctions + UN/OFAC/EU fallback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215384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105656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Media  ·  24-mo lookback with citations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4599432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489704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Verification  ·  Plaid + IBAN + microdeposit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983480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73752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of Interest  ·  Per-signature step capture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5367528"/>
            <a:ext cx="73152" cy="164592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25780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Capacity Assessment  ·  5-framework, reusable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400800" y="2926080"/>
            <a:ext cx="5150815" cy="33832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3108960"/>
            <a:ext cx="460217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720840" y="3383280"/>
            <a:ext cx="4602175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action linked. Every link verifiable.</a:t>
            </a:r>
            <a:endParaRPr lang="en-US" sz="1900" dirty="0"/>
          </a:p>
        </p:txBody>
      </p:sp>
      <p:sp>
        <p:nvSpPr>
          <p:cNvPr id="24" name="Shape 22"/>
          <p:cNvSpPr/>
          <p:nvPr/>
        </p:nvSpPr>
        <p:spPr>
          <a:xfrm>
            <a:off x="6720840" y="4160520"/>
            <a:ext cx="457200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20840" y="434340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submit  →  audit row + hash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720840" y="466344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 score  →  audit row + previous hash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20840" y="498348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 release  →  audit row + previous hash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720840" y="530352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upload  →  audit row + previous hash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720840" y="5623560"/>
            <a:ext cx="4693615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submit  →  audit row + previous hash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720840" y="5989320"/>
            <a:ext cx="46936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Tamper one row — every row after it breaks.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INTEGRATION  ·  OPT-IN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Want real-time financial visibility? Opt into Kuja ERP.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flavors get AI-evaluated reports out of the box. ERP makes the financials flow in real time.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26080"/>
            <a:ext cx="10911535" cy="45720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2971800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+ AI  (no ERP)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193128" y="2971800"/>
            <a:ext cx="41756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Grant + Kuja ERP  (opt-in)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383280"/>
            <a:ext cx="1091153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22960" y="34290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reports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651760" y="34290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evaluates submissions per criterion with citations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193128" y="342900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Auto-generated from the ledger — real-time burn rate &amp; variance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931920"/>
            <a:ext cx="10911535" cy="54864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39776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cadence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651760" y="397764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Quarterly / monthly point-in-time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193128" y="397764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as spend events flow in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0080" y="4480560"/>
            <a:ext cx="1091153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45262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chain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51760" y="452628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each submission event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93128" y="452628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at every spend event, at the moment of entry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029200"/>
            <a:ext cx="10911535" cy="548640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50749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variance flags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2651760" y="507492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when reports come in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193128" y="507492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the day a line crosses threshold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40080" y="5577840"/>
            <a:ext cx="10911535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2960" y="56235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 visibility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651760" y="562356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Per-report dashboard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7193128" y="5623560"/>
            <a:ext cx="4175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cross-grantee spend roll-up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5943600"/>
            <a:ext cx="1091153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donor visibility — the wedge no competitor has. </a:t>
            </a:r>
            <a:pPr indent="0" marL="0">
              <a:buNone/>
            </a:pPr>
            <a:r>
              <a:rPr lang="en-US" sz="12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NGO owns its tenant; donors get a role-aware view of grant-scoped spend across their funded grantees.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MATRIX VS COMPETITORS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system on the market does what we do.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1153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against the seven leading GMS incumbents — verified June 2026. Detail in the Kuja Grant Market Analysis Section 6.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194560"/>
            <a:ext cx="10911535" cy="4114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297680" y="2212848"/>
            <a:ext cx="9067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204422" y="2212848"/>
            <a:ext cx="9067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111164" y="2212848"/>
            <a:ext cx="9067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017906" y="2212848"/>
            <a:ext cx="9067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24648" y="2212848"/>
            <a:ext cx="9067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Fluxx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831390" y="2212848"/>
            <a:ext cx="9067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9738131" y="2212848"/>
            <a:ext cx="9067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Black-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baud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0644873" y="2212848"/>
            <a:ext cx="90674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Giving-</a:t>
            </a:r>
            <a:endParaRPr lang="en-US" sz="850" dirty="0"/>
          </a:p>
          <a:p>
            <a:pPr algn="ctr" indent="0" marL="0">
              <a:buNone/>
            </a:pPr>
            <a:r>
              <a:rPr lang="en-US" sz="850" b="1" spc="100" kern="0" dirty="0">
                <a:solidFill>
                  <a:srgbClr val="E8D5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640080" y="2606040"/>
            <a:ext cx="10911535" cy="201168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2624328"/>
            <a:ext cx="10637215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40080" y="2807208"/>
            <a:ext cx="10911535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82549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grant lifecycle (5 stages)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2807208"/>
            <a:ext cx="90674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280720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04422" y="280720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111164" y="280720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17906" y="280720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924648" y="280720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831390" y="280720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738131" y="280720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644873" y="280720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40080" y="3008376"/>
            <a:ext cx="10911535" cy="20116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" y="302666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Closed-network secretariat hosting vetted members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297680" y="3008376"/>
            <a:ext cx="906742" cy="20116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97680" y="300837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204422" y="300837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111164" y="300837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7017906" y="300837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7924648" y="300837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8831390" y="300837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9738131" y="300837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10644873" y="300837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40080" y="3209544"/>
            <a:ext cx="10911535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77240" y="322783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 signature flow + COI capture per signature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297680" y="3209544"/>
            <a:ext cx="90674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0" y="320954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5204422" y="320954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111164" y="320954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7017906" y="320954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7924648" y="320954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48" name="Text 46"/>
          <p:cNvSpPr/>
          <p:nvPr/>
        </p:nvSpPr>
        <p:spPr>
          <a:xfrm>
            <a:off x="8831390" y="320954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9738131" y="320954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10644873" y="320954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640080" y="3410712"/>
            <a:ext cx="10911535" cy="20116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342900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Emergency declaration workflow (multi-sig + audit)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4297680" y="3410712"/>
            <a:ext cx="906742" cy="20116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297680" y="341071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5204422" y="341071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6" name="Text 54"/>
          <p:cNvSpPr/>
          <p:nvPr/>
        </p:nvSpPr>
        <p:spPr>
          <a:xfrm>
            <a:off x="6111164" y="341071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7017906" y="341071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8" name="Text 56"/>
          <p:cNvSpPr/>
          <p:nvPr/>
        </p:nvSpPr>
        <p:spPr>
          <a:xfrm>
            <a:off x="7924648" y="341071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59" name="Text 57"/>
          <p:cNvSpPr/>
          <p:nvPr/>
        </p:nvSpPr>
        <p:spPr>
          <a:xfrm>
            <a:off x="8831390" y="341071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60" name="Text 58"/>
          <p:cNvSpPr/>
          <p:nvPr/>
        </p:nvSpPr>
        <p:spPr>
          <a:xfrm>
            <a:off x="9738131" y="341071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61" name="Text 59"/>
          <p:cNvSpPr/>
          <p:nvPr/>
        </p:nvSpPr>
        <p:spPr>
          <a:xfrm>
            <a:off x="10644873" y="341071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640080" y="3611880"/>
            <a:ext cx="10911535" cy="201168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77240" y="3630168"/>
            <a:ext cx="10637215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REPORTING &amp; COMPLIANCE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640080" y="3813048"/>
            <a:ext cx="10911535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77240" y="383133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rubric scoring with citations to source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297680" y="3813048"/>
            <a:ext cx="90674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297680" y="381304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68" name="Text 66"/>
          <p:cNvSpPr/>
          <p:nvPr/>
        </p:nvSpPr>
        <p:spPr>
          <a:xfrm>
            <a:off x="5204422" y="381304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69" name="Text 67"/>
          <p:cNvSpPr/>
          <p:nvPr/>
        </p:nvSpPr>
        <p:spPr>
          <a:xfrm>
            <a:off x="6111164" y="381304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0" name="Text 68"/>
          <p:cNvSpPr/>
          <p:nvPr/>
        </p:nvSpPr>
        <p:spPr>
          <a:xfrm>
            <a:off x="7017906" y="381304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1" name="Text 69"/>
          <p:cNvSpPr/>
          <p:nvPr/>
        </p:nvSpPr>
        <p:spPr>
          <a:xfrm>
            <a:off x="7924648" y="381304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2" name="Text 70"/>
          <p:cNvSpPr/>
          <p:nvPr/>
        </p:nvSpPr>
        <p:spPr>
          <a:xfrm>
            <a:off x="8831390" y="381304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3" name="Text 71"/>
          <p:cNvSpPr/>
          <p:nvPr/>
        </p:nvSpPr>
        <p:spPr>
          <a:xfrm>
            <a:off x="9738131" y="381304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74" name="Text 72"/>
          <p:cNvSpPr/>
          <p:nvPr/>
        </p:nvSpPr>
        <p:spPr>
          <a:xfrm>
            <a:off x="10644873" y="381304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75" name="Shape 73"/>
          <p:cNvSpPr/>
          <p:nvPr/>
        </p:nvSpPr>
        <p:spPr>
          <a:xfrm>
            <a:off x="640080" y="4014216"/>
            <a:ext cx="10911535" cy="20116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77240" y="403250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evaluation of reports vs agreement</a:t>
            </a:r>
            <a:endParaRPr lang="en-US" sz="1000" dirty="0"/>
          </a:p>
        </p:txBody>
      </p:sp>
      <p:sp>
        <p:nvSpPr>
          <p:cNvPr id="77" name="Shape 75"/>
          <p:cNvSpPr/>
          <p:nvPr/>
        </p:nvSpPr>
        <p:spPr>
          <a:xfrm>
            <a:off x="4297680" y="4014216"/>
            <a:ext cx="906742" cy="20116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4297680" y="401421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5204422" y="401421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0" name="Text 78"/>
          <p:cNvSpPr/>
          <p:nvPr/>
        </p:nvSpPr>
        <p:spPr>
          <a:xfrm>
            <a:off x="6111164" y="401421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1" name="Text 79"/>
          <p:cNvSpPr/>
          <p:nvPr/>
        </p:nvSpPr>
        <p:spPr>
          <a:xfrm>
            <a:off x="7017906" y="401421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7924648" y="401421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3" name="Text 81"/>
          <p:cNvSpPr/>
          <p:nvPr/>
        </p:nvSpPr>
        <p:spPr>
          <a:xfrm>
            <a:off x="8831390" y="401421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9738131" y="401421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10644873" y="401421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640080" y="4215384"/>
            <a:ext cx="10911535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7240" y="423367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obligation extraction from uploaded agreement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4297680" y="4215384"/>
            <a:ext cx="90674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297680" y="421538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5204422" y="421538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91" name="Text 89"/>
          <p:cNvSpPr/>
          <p:nvPr/>
        </p:nvSpPr>
        <p:spPr>
          <a:xfrm>
            <a:off x="6111164" y="421538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92" name="Text 90"/>
          <p:cNvSpPr/>
          <p:nvPr/>
        </p:nvSpPr>
        <p:spPr>
          <a:xfrm>
            <a:off x="7017906" y="421538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93" name="Text 91"/>
          <p:cNvSpPr/>
          <p:nvPr/>
        </p:nvSpPr>
        <p:spPr>
          <a:xfrm>
            <a:off x="7924648" y="421538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94" name="Text 92"/>
          <p:cNvSpPr/>
          <p:nvPr/>
        </p:nvSpPr>
        <p:spPr>
          <a:xfrm>
            <a:off x="8831390" y="421538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9738131" y="421538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96" name="Text 94"/>
          <p:cNvSpPr/>
          <p:nvPr/>
        </p:nvSpPr>
        <p:spPr>
          <a:xfrm>
            <a:off x="10644873" y="421538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97" name="Shape 95"/>
          <p:cNvSpPr/>
          <p:nvPr/>
        </p:nvSpPr>
        <p:spPr>
          <a:xfrm>
            <a:off x="640080" y="4416552"/>
            <a:ext cx="10911535" cy="20116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777240" y="443484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compliance coach for NGO grantee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4297680" y="4416552"/>
            <a:ext cx="906742" cy="20116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297680" y="441655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01" name="Text 99"/>
          <p:cNvSpPr/>
          <p:nvPr/>
        </p:nvSpPr>
        <p:spPr>
          <a:xfrm>
            <a:off x="5204422" y="441655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02" name="Text 100"/>
          <p:cNvSpPr/>
          <p:nvPr/>
        </p:nvSpPr>
        <p:spPr>
          <a:xfrm>
            <a:off x="6111164" y="441655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03" name="Text 101"/>
          <p:cNvSpPr/>
          <p:nvPr/>
        </p:nvSpPr>
        <p:spPr>
          <a:xfrm>
            <a:off x="7017906" y="441655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04" name="Text 102"/>
          <p:cNvSpPr/>
          <p:nvPr/>
        </p:nvSpPr>
        <p:spPr>
          <a:xfrm>
            <a:off x="7924648" y="441655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05" name="Text 103"/>
          <p:cNvSpPr/>
          <p:nvPr/>
        </p:nvSpPr>
        <p:spPr>
          <a:xfrm>
            <a:off x="8831390" y="441655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06" name="Text 104"/>
          <p:cNvSpPr/>
          <p:nvPr/>
        </p:nvSpPr>
        <p:spPr>
          <a:xfrm>
            <a:off x="9738131" y="441655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07" name="Text 105"/>
          <p:cNvSpPr/>
          <p:nvPr/>
        </p:nvSpPr>
        <p:spPr>
          <a:xfrm>
            <a:off x="10644873" y="441655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08" name="Shape 106"/>
          <p:cNvSpPr/>
          <p:nvPr/>
        </p:nvSpPr>
        <p:spPr>
          <a:xfrm>
            <a:off x="640080" y="4617720"/>
            <a:ext cx="10911535" cy="201168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777240" y="4636008"/>
            <a:ext cx="10637215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ACCESSIBILITY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640080" y="4818888"/>
            <a:ext cx="10911535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777240" y="4837176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interaction channel (native, not bolt-on)</a:t>
            </a:r>
            <a:endParaRPr lang="en-US" sz="1000" dirty="0"/>
          </a:p>
        </p:txBody>
      </p:sp>
      <p:sp>
        <p:nvSpPr>
          <p:cNvPr id="112" name="Shape 110"/>
          <p:cNvSpPr/>
          <p:nvPr/>
        </p:nvSpPr>
        <p:spPr>
          <a:xfrm>
            <a:off x="4297680" y="4818888"/>
            <a:ext cx="90674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4297680" y="481888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14" name="Text 112"/>
          <p:cNvSpPr/>
          <p:nvPr/>
        </p:nvSpPr>
        <p:spPr>
          <a:xfrm>
            <a:off x="5204422" y="481888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15" name="Text 113"/>
          <p:cNvSpPr/>
          <p:nvPr/>
        </p:nvSpPr>
        <p:spPr>
          <a:xfrm>
            <a:off x="6111164" y="481888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16" name="Text 114"/>
          <p:cNvSpPr/>
          <p:nvPr/>
        </p:nvSpPr>
        <p:spPr>
          <a:xfrm>
            <a:off x="7017906" y="481888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17" name="Text 115"/>
          <p:cNvSpPr/>
          <p:nvPr/>
        </p:nvSpPr>
        <p:spPr>
          <a:xfrm>
            <a:off x="7924648" y="481888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18" name="Text 116"/>
          <p:cNvSpPr/>
          <p:nvPr/>
        </p:nvSpPr>
        <p:spPr>
          <a:xfrm>
            <a:off x="8831390" y="481888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19" name="Text 117"/>
          <p:cNvSpPr/>
          <p:nvPr/>
        </p:nvSpPr>
        <p:spPr>
          <a:xfrm>
            <a:off x="9738131" y="481888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20" name="Text 118"/>
          <p:cNvSpPr/>
          <p:nvPr/>
        </p:nvSpPr>
        <p:spPr>
          <a:xfrm>
            <a:off x="10644873" y="4818888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21" name="Shape 119"/>
          <p:cNvSpPr/>
          <p:nvPr/>
        </p:nvSpPr>
        <p:spPr>
          <a:xfrm>
            <a:off x="640080" y="5020056"/>
            <a:ext cx="10911535" cy="20116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777240" y="503834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Voice-to-report (mobile, multilingual)</a:t>
            </a:r>
            <a:endParaRPr lang="en-US" sz="1000" dirty="0"/>
          </a:p>
        </p:txBody>
      </p:sp>
      <p:sp>
        <p:nvSpPr>
          <p:cNvPr id="123" name="Shape 121"/>
          <p:cNvSpPr/>
          <p:nvPr/>
        </p:nvSpPr>
        <p:spPr>
          <a:xfrm>
            <a:off x="4297680" y="5020056"/>
            <a:ext cx="906742" cy="20116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4297680" y="502005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25" name="Text 123"/>
          <p:cNvSpPr/>
          <p:nvPr/>
        </p:nvSpPr>
        <p:spPr>
          <a:xfrm>
            <a:off x="5204422" y="502005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26" name="Text 124"/>
          <p:cNvSpPr/>
          <p:nvPr/>
        </p:nvSpPr>
        <p:spPr>
          <a:xfrm>
            <a:off x="6111164" y="502005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27" name="Text 125"/>
          <p:cNvSpPr/>
          <p:nvPr/>
        </p:nvSpPr>
        <p:spPr>
          <a:xfrm>
            <a:off x="7017906" y="502005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28" name="Text 126"/>
          <p:cNvSpPr/>
          <p:nvPr/>
        </p:nvSpPr>
        <p:spPr>
          <a:xfrm>
            <a:off x="7924648" y="502005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29" name="Text 127"/>
          <p:cNvSpPr/>
          <p:nvPr/>
        </p:nvSpPr>
        <p:spPr>
          <a:xfrm>
            <a:off x="8831390" y="502005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30" name="Text 128"/>
          <p:cNvSpPr/>
          <p:nvPr/>
        </p:nvSpPr>
        <p:spPr>
          <a:xfrm>
            <a:off x="9738131" y="502005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31" name="Text 129"/>
          <p:cNvSpPr/>
          <p:nvPr/>
        </p:nvSpPr>
        <p:spPr>
          <a:xfrm>
            <a:off x="10644873" y="502005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32" name="Shape 130"/>
          <p:cNvSpPr/>
          <p:nvPr/>
        </p:nvSpPr>
        <p:spPr>
          <a:xfrm>
            <a:off x="640080" y="5221224"/>
            <a:ext cx="10911535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777240" y="523951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Photo-as-evidence with AI labeling</a:t>
            </a:r>
            <a:endParaRPr lang="en-US" sz="1000" dirty="0"/>
          </a:p>
        </p:txBody>
      </p:sp>
      <p:sp>
        <p:nvSpPr>
          <p:cNvPr id="134" name="Shape 132"/>
          <p:cNvSpPr/>
          <p:nvPr/>
        </p:nvSpPr>
        <p:spPr>
          <a:xfrm>
            <a:off x="4297680" y="5221224"/>
            <a:ext cx="90674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297680" y="522122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36" name="Text 134"/>
          <p:cNvSpPr/>
          <p:nvPr/>
        </p:nvSpPr>
        <p:spPr>
          <a:xfrm>
            <a:off x="5204422" y="522122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37" name="Text 135"/>
          <p:cNvSpPr/>
          <p:nvPr/>
        </p:nvSpPr>
        <p:spPr>
          <a:xfrm>
            <a:off x="6111164" y="522122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38" name="Text 136"/>
          <p:cNvSpPr/>
          <p:nvPr/>
        </p:nvSpPr>
        <p:spPr>
          <a:xfrm>
            <a:off x="7017906" y="522122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39" name="Text 137"/>
          <p:cNvSpPr/>
          <p:nvPr/>
        </p:nvSpPr>
        <p:spPr>
          <a:xfrm>
            <a:off x="7924648" y="522122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40" name="Text 138"/>
          <p:cNvSpPr/>
          <p:nvPr/>
        </p:nvSpPr>
        <p:spPr>
          <a:xfrm>
            <a:off x="8831390" y="522122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41" name="Text 139"/>
          <p:cNvSpPr/>
          <p:nvPr/>
        </p:nvSpPr>
        <p:spPr>
          <a:xfrm>
            <a:off x="9738131" y="522122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42" name="Text 140"/>
          <p:cNvSpPr/>
          <p:nvPr/>
        </p:nvSpPr>
        <p:spPr>
          <a:xfrm>
            <a:off x="10644873" y="522122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43" name="Shape 141"/>
          <p:cNvSpPr/>
          <p:nvPr/>
        </p:nvSpPr>
        <p:spPr>
          <a:xfrm>
            <a:off x="640080" y="5422392"/>
            <a:ext cx="10911535" cy="20116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777240" y="544068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Six-language workflow parity (incl. AR/SW/SO)</a:t>
            </a:r>
            <a:endParaRPr lang="en-US" sz="1000" dirty="0"/>
          </a:p>
        </p:txBody>
      </p:sp>
      <p:sp>
        <p:nvSpPr>
          <p:cNvPr id="145" name="Shape 143"/>
          <p:cNvSpPr/>
          <p:nvPr/>
        </p:nvSpPr>
        <p:spPr>
          <a:xfrm>
            <a:off x="4297680" y="5422392"/>
            <a:ext cx="906742" cy="20116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46" name="Text 144"/>
          <p:cNvSpPr/>
          <p:nvPr/>
        </p:nvSpPr>
        <p:spPr>
          <a:xfrm>
            <a:off x="4297680" y="542239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47" name="Text 145"/>
          <p:cNvSpPr/>
          <p:nvPr/>
        </p:nvSpPr>
        <p:spPr>
          <a:xfrm>
            <a:off x="5204422" y="542239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48" name="Text 146"/>
          <p:cNvSpPr/>
          <p:nvPr/>
        </p:nvSpPr>
        <p:spPr>
          <a:xfrm>
            <a:off x="6111164" y="542239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49" name="Text 147"/>
          <p:cNvSpPr/>
          <p:nvPr/>
        </p:nvSpPr>
        <p:spPr>
          <a:xfrm>
            <a:off x="7017906" y="542239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50" name="Text 148"/>
          <p:cNvSpPr/>
          <p:nvPr/>
        </p:nvSpPr>
        <p:spPr>
          <a:xfrm>
            <a:off x="7924648" y="542239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51" name="Text 149"/>
          <p:cNvSpPr/>
          <p:nvPr/>
        </p:nvSpPr>
        <p:spPr>
          <a:xfrm>
            <a:off x="8831390" y="542239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52" name="Text 150"/>
          <p:cNvSpPr/>
          <p:nvPr/>
        </p:nvSpPr>
        <p:spPr>
          <a:xfrm>
            <a:off x="9738131" y="542239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53" name="Text 151"/>
          <p:cNvSpPr/>
          <p:nvPr/>
        </p:nvSpPr>
        <p:spPr>
          <a:xfrm>
            <a:off x="10644873" y="542239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54" name="Shape 152"/>
          <p:cNvSpPr/>
          <p:nvPr/>
        </p:nvSpPr>
        <p:spPr>
          <a:xfrm>
            <a:off x="640080" y="5623560"/>
            <a:ext cx="10911535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55" name="Text 153"/>
          <p:cNvSpPr/>
          <p:nvPr/>
        </p:nvSpPr>
        <p:spPr>
          <a:xfrm>
            <a:off x="777240" y="5641848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/ low-bandwidth / offline-tolerant</a:t>
            </a:r>
            <a:endParaRPr lang="en-US" sz="1000" dirty="0"/>
          </a:p>
        </p:txBody>
      </p:sp>
      <p:sp>
        <p:nvSpPr>
          <p:cNvPr id="156" name="Shape 154"/>
          <p:cNvSpPr/>
          <p:nvPr/>
        </p:nvSpPr>
        <p:spPr>
          <a:xfrm>
            <a:off x="4297680" y="5623560"/>
            <a:ext cx="90674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57" name="Text 155"/>
          <p:cNvSpPr/>
          <p:nvPr/>
        </p:nvSpPr>
        <p:spPr>
          <a:xfrm>
            <a:off x="4297680" y="5623560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58" name="Text 156"/>
          <p:cNvSpPr/>
          <p:nvPr/>
        </p:nvSpPr>
        <p:spPr>
          <a:xfrm>
            <a:off x="5204422" y="5623560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59" name="Text 157"/>
          <p:cNvSpPr/>
          <p:nvPr/>
        </p:nvSpPr>
        <p:spPr>
          <a:xfrm>
            <a:off x="6111164" y="5623560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60" name="Text 158"/>
          <p:cNvSpPr/>
          <p:nvPr/>
        </p:nvSpPr>
        <p:spPr>
          <a:xfrm>
            <a:off x="7017906" y="5623560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61" name="Text 159"/>
          <p:cNvSpPr/>
          <p:nvPr/>
        </p:nvSpPr>
        <p:spPr>
          <a:xfrm>
            <a:off x="7924648" y="5623560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62" name="Text 160"/>
          <p:cNvSpPr/>
          <p:nvPr/>
        </p:nvSpPr>
        <p:spPr>
          <a:xfrm>
            <a:off x="8831390" y="5623560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63" name="Text 161"/>
          <p:cNvSpPr/>
          <p:nvPr/>
        </p:nvSpPr>
        <p:spPr>
          <a:xfrm>
            <a:off x="9738131" y="5623560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64" name="Text 162"/>
          <p:cNvSpPr/>
          <p:nvPr/>
        </p:nvSpPr>
        <p:spPr>
          <a:xfrm>
            <a:off x="10644873" y="5623560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65" name="Shape 163"/>
          <p:cNvSpPr/>
          <p:nvPr/>
        </p:nvSpPr>
        <p:spPr>
          <a:xfrm>
            <a:off x="640080" y="5824728"/>
            <a:ext cx="10911535" cy="201168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66" name="Text 164"/>
          <p:cNvSpPr/>
          <p:nvPr/>
        </p:nvSpPr>
        <p:spPr>
          <a:xfrm>
            <a:off x="777240" y="5843016"/>
            <a:ext cx="10637215" cy="1554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ARCHITECTURE</a:t>
            </a:r>
            <a:endParaRPr lang="en-US" sz="900" dirty="0"/>
          </a:p>
        </p:txBody>
      </p:sp>
      <p:sp>
        <p:nvSpPr>
          <p:cNvPr id="167" name="Shape 165"/>
          <p:cNvSpPr/>
          <p:nvPr/>
        </p:nvSpPr>
        <p:spPr>
          <a:xfrm>
            <a:off x="640080" y="6025896"/>
            <a:ext cx="10911535" cy="20116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68" name="Text 166"/>
          <p:cNvSpPr/>
          <p:nvPr/>
        </p:nvSpPr>
        <p:spPr>
          <a:xfrm>
            <a:off x="777240" y="6044184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Hash-anchored audit chain (cryptographically chained)</a:t>
            </a:r>
            <a:endParaRPr lang="en-US" sz="1000" dirty="0"/>
          </a:p>
        </p:txBody>
      </p:sp>
      <p:sp>
        <p:nvSpPr>
          <p:cNvPr id="169" name="Shape 167"/>
          <p:cNvSpPr/>
          <p:nvPr/>
        </p:nvSpPr>
        <p:spPr>
          <a:xfrm>
            <a:off x="4297680" y="6025896"/>
            <a:ext cx="906742" cy="20116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0" name="Text 168"/>
          <p:cNvSpPr/>
          <p:nvPr/>
        </p:nvSpPr>
        <p:spPr>
          <a:xfrm>
            <a:off x="4297680" y="602589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71" name="Text 169"/>
          <p:cNvSpPr/>
          <p:nvPr/>
        </p:nvSpPr>
        <p:spPr>
          <a:xfrm>
            <a:off x="5204422" y="602589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72" name="Text 170"/>
          <p:cNvSpPr/>
          <p:nvPr/>
        </p:nvSpPr>
        <p:spPr>
          <a:xfrm>
            <a:off x="6111164" y="602589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73" name="Text 171"/>
          <p:cNvSpPr/>
          <p:nvPr/>
        </p:nvSpPr>
        <p:spPr>
          <a:xfrm>
            <a:off x="7017906" y="602589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74" name="Text 172"/>
          <p:cNvSpPr/>
          <p:nvPr/>
        </p:nvSpPr>
        <p:spPr>
          <a:xfrm>
            <a:off x="7924648" y="602589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75" name="Text 173"/>
          <p:cNvSpPr/>
          <p:nvPr/>
        </p:nvSpPr>
        <p:spPr>
          <a:xfrm>
            <a:off x="8831390" y="602589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76" name="Text 174"/>
          <p:cNvSpPr/>
          <p:nvPr/>
        </p:nvSpPr>
        <p:spPr>
          <a:xfrm>
            <a:off x="9738131" y="602589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77" name="Text 175"/>
          <p:cNvSpPr/>
          <p:nvPr/>
        </p:nvSpPr>
        <p:spPr>
          <a:xfrm>
            <a:off x="10644873" y="6025896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78" name="Shape 176"/>
          <p:cNvSpPr/>
          <p:nvPr/>
        </p:nvSpPr>
        <p:spPr>
          <a:xfrm>
            <a:off x="640080" y="6227064"/>
            <a:ext cx="10911535" cy="201168"/>
          </a:xfrm>
          <a:prstGeom prst="rect">
            <a:avLst/>
          </a:prstGeom>
          <a:solidFill>
            <a:srgbClr val="FFFFFF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79" name="Text 177"/>
          <p:cNvSpPr/>
          <p:nvPr/>
        </p:nvSpPr>
        <p:spPr>
          <a:xfrm>
            <a:off x="777240" y="6245352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government registry verification (7 countries)</a:t>
            </a:r>
            <a:endParaRPr lang="en-US" sz="1000" dirty="0"/>
          </a:p>
        </p:txBody>
      </p:sp>
      <p:sp>
        <p:nvSpPr>
          <p:cNvPr id="180" name="Shape 178"/>
          <p:cNvSpPr/>
          <p:nvPr/>
        </p:nvSpPr>
        <p:spPr>
          <a:xfrm>
            <a:off x="4297680" y="6227064"/>
            <a:ext cx="906742" cy="201168"/>
          </a:xfrm>
          <a:prstGeom prst="rect">
            <a:avLst/>
          </a:prstGeom>
          <a:solidFill>
            <a:srgbClr val="FFF7E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81" name="Text 179"/>
          <p:cNvSpPr/>
          <p:nvPr/>
        </p:nvSpPr>
        <p:spPr>
          <a:xfrm>
            <a:off x="4297680" y="622706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82" name="Text 180"/>
          <p:cNvSpPr/>
          <p:nvPr/>
        </p:nvSpPr>
        <p:spPr>
          <a:xfrm>
            <a:off x="5204422" y="622706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83" name="Text 181"/>
          <p:cNvSpPr/>
          <p:nvPr/>
        </p:nvSpPr>
        <p:spPr>
          <a:xfrm>
            <a:off x="6111164" y="622706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84" name="Text 182"/>
          <p:cNvSpPr/>
          <p:nvPr/>
        </p:nvSpPr>
        <p:spPr>
          <a:xfrm>
            <a:off x="7017906" y="622706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85" name="Text 183"/>
          <p:cNvSpPr/>
          <p:nvPr/>
        </p:nvSpPr>
        <p:spPr>
          <a:xfrm>
            <a:off x="7924648" y="622706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86" name="Text 184"/>
          <p:cNvSpPr/>
          <p:nvPr/>
        </p:nvSpPr>
        <p:spPr>
          <a:xfrm>
            <a:off x="8831390" y="622706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87" name="Text 185"/>
          <p:cNvSpPr/>
          <p:nvPr/>
        </p:nvSpPr>
        <p:spPr>
          <a:xfrm>
            <a:off x="9738131" y="622706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88" name="Text 186"/>
          <p:cNvSpPr/>
          <p:nvPr/>
        </p:nvSpPr>
        <p:spPr>
          <a:xfrm>
            <a:off x="10644873" y="6227064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89" name="Shape 187"/>
          <p:cNvSpPr/>
          <p:nvPr/>
        </p:nvSpPr>
        <p:spPr>
          <a:xfrm>
            <a:off x="640080" y="6428232"/>
            <a:ext cx="10911535" cy="201168"/>
          </a:xfrm>
          <a:prstGeom prst="rect">
            <a:avLst/>
          </a:prstGeom>
          <a:solidFill>
            <a:srgbClr val="FAF5F2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0" name="Text 188"/>
          <p:cNvSpPr/>
          <p:nvPr/>
        </p:nvSpPr>
        <p:spPr>
          <a:xfrm>
            <a:off x="777240" y="6446520"/>
            <a:ext cx="34747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 ERP for real-time multi-tenant donor visibility</a:t>
            </a:r>
            <a:endParaRPr lang="en-US" sz="1000" dirty="0"/>
          </a:p>
        </p:txBody>
      </p:sp>
      <p:sp>
        <p:nvSpPr>
          <p:cNvPr id="191" name="Shape 189"/>
          <p:cNvSpPr/>
          <p:nvPr/>
        </p:nvSpPr>
        <p:spPr>
          <a:xfrm>
            <a:off x="4297680" y="6428232"/>
            <a:ext cx="906742" cy="201168"/>
          </a:xfrm>
          <a:prstGeom prst="rect">
            <a:avLst/>
          </a:prstGeom>
          <a:solidFill>
            <a:srgbClr val="FFEEDD"/>
          </a:solidFill>
          <a:ln w="6350">
            <a:solidFill>
              <a:srgbClr val="E8E0D8"/>
            </a:solidFill>
            <a:prstDash val="solid"/>
          </a:ln>
        </p:spPr>
      </p:sp>
      <p:sp>
        <p:nvSpPr>
          <p:cNvPr id="192" name="Text 190"/>
          <p:cNvSpPr/>
          <p:nvPr/>
        </p:nvSpPr>
        <p:spPr>
          <a:xfrm>
            <a:off x="4297680" y="642823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400" dirty="0"/>
          </a:p>
        </p:txBody>
      </p:sp>
      <p:sp>
        <p:nvSpPr>
          <p:cNvPr id="193" name="Text 191"/>
          <p:cNvSpPr/>
          <p:nvPr/>
        </p:nvSpPr>
        <p:spPr>
          <a:xfrm>
            <a:off x="5204422" y="642823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94" name="Text 192"/>
          <p:cNvSpPr/>
          <p:nvPr/>
        </p:nvSpPr>
        <p:spPr>
          <a:xfrm>
            <a:off x="6111164" y="642823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95" name="Text 193"/>
          <p:cNvSpPr/>
          <p:nvPr/>
        </p:nvSpPr>
        <p:spPr>
          <a:xfrm>
            <a:off x="7017906" y="642823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96" name="Text 194"/>
          <p:cNvSpPr/>
          <p:nvPr/>
        </p:nvSpPr>
        <p:spPr>
          <a:xfrm>
            <a:off x="7924648" y="642823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97" name="Text 195"/>
          <p:cNvSpPr/>
          <p:nvPr/>
        </p:nvSpPr>
        <p:spPr>
          <a:xfrm>
            <a:off x="8831390" y="642823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400" dirty="0"/>
          </a:p>
        </p:txBody>
      </p:sp>
      <p:sp>
        <p:nvSpPr>
          <p:cNvPr id="198" name="Text 196"/>
          <p:cNvSpPr/>
          <p:nvPr/>
        </p:nvSpPr>
        <p:spPr>
          <a:xfrm>
            <a:off x="9738131" y="642823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199" name="Text 197"/>
          <p:cNvSpPr/>
          <p:nvPr/>
        </p:nvSpPr>
        <p:spPr>
          <a:xfrm>
            <a:off x="10644873" y="6428232"/>
            <a:ext cx="90674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C4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400" dirty="0"/>
          </a:p>
        </p:txBody>
      </p:sp>
      <p:sp>
        <p:nvSpPr>
          <p:cNvPr id="200" name="Text 198"/>
          <p:cNvSpPr/>
          <p:nvPr/>
        </p:nvSpPr>
        <p:spPr>
          <a:xfrm>
            <a:off x="640080" y="67391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A7C59"/>
                </a:solidFill>
              </a:rPr>
              <a:t>●</a:t>
            </a:r>
            <a:endParaRPr lang="en-US" sz="1400" dirty="0"/>
          </a:p>
        </p:txBody>
      </p:sp>
      <p:sp>
        <p:nvSpPr>
          <p:cNvPr id="201" name="Text 199"/>
          <p:cNvSpPr/>
          <p:nvPr/>
        </p:nvSpPr>
        <p:spPr>
          <a:xfrm>
            <a:off x="868680" y="6739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</a:t>
            </a:r>
            <a:endParaRPr lang="en-US" sz="1000" dirty="0"/>
          </a:p>
        </p:txBody>
      </p:sp>
      <p:sp>
        <p:nvSpPr>
          <p:cNvPr id="202" name="Text 200"/>
          <p:cNvSpPr/>
          <p:nvPr/>
        </p:nvSpPr>
        <p:spPr>
          <a:xfrm>
            <a:off x="1737360" y="67391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97706"/>
                </a:solidFill>
              </a:rPr>
              <a:t>◐</a:t>
            </a:r>
            <a:endParaRPr lang="en-US" sz="1400" dirty="0"/>
          </a:p>
        </p:txBody>
      </p:sp>
      <p:sp>
        <p:nvSpPr>
          <p:cNvPr id="203" name="Text 201"/>
          <p:cNvSpPr/>
          <p:nvPr/>
        </p:nvSpPr>
        <p:spPr>
          <a:xfrm>
            <a:off x="1965960" y="6739128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/ limited</a:t>
            </a:r>
            <a:endParaRPr lang="en-US" sz="1000" dirty="0"/>
          </a:p>
        </p:txBody>
      </p:sp>
      <p:sp>
        <p:nvSpPr>
          <p:cNvPr id="204" name="Text 202"/>
          <p:cNvSpPr/>
          <p:nvPr/>
        </p:nvSpPr>
        <p:spPr>
          <a:xfrm>
            <a:off x="3657600" y="6739128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C4BE"/>
                </a:solidFill>
              </a:rPr>
              <a:t>○</a:t>
            </a:r>
            <a:endParaRPr lang="en-US" sz="1400" dirty="0"/>
          </a:p>
        </p:txBody>
      </p:sp>
      <p:sp>
        <p:nvSpPr>
          <p:cNvPr id="205" name="Text 203"/>
          <p:cNvSpPr/>
          <p:nvPr/>
        </p:nvSpPr>
        <p:spPr>
          <a:xfrm>
            <a:off x="3886200" y="6739128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</a:t>
            </a:r>
            <a:endParaRPr lang="en-US" sz="1000" dirty="0"/>
          </a:p>
        </p:txBody>
      </p:sp>
      <p:sp>
        <p:nvSpPr>
          <p:cNvPr id="206" name="Text 204"/>
          <p:cNvSpPr/>
          <p:nvPr/>
        </p:nvSpPr>
        <p:spPr>
          <a:xfrm>
            <a:off x="5212080" y="6739128"/>
            <a:ext cx="6339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against public product docs, G2 reviews, and direct buyer-conversation feedback (June 2026).</a:t>
            </a:r>
            <a:endParaRPr lang="en-US" sz="900" dirty="0"/>
          </a:p>
        </p:txBody>
      </p:sp>
      <p:sp>
        <p:nvSpPr>
          <p:cNvPr id="207" name="Text 205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08" name="Text 206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209" name="Text 207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$35–40B funding shock meets a 150K-NGO market.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South mid-size NGO is the buyer. The funding gap is the demand signal. AI adoption is the timing.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2590724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7C2D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SHOCK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7C2D1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$35–40B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868680" y="5029200"/>
            <a:ext cx="365760" cy="18288"/>
          </a:xfrm>
          <a:prstGeom prst="rect">
            <a:avLst/>
          </a:prstGeom>
          <a:solidFill>
            <a:srgbClr val="7C2D12"/>
          </a:solidFill>
          <a:ln w="12700">
            <a:solidFill>
              <a:srgbClr val="7C2D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gap from USAID/OECD cuts. -23.1% ODA 2025. 86% USAID programs terminated.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413684" y="3017520"/>
            <a:ext cx="2590724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42284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NGO UNIVERSE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42284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150K–300K</a:t>
            </a:r>
            <a:endParaRPr lang="en-US" sz="3800" dirty="0"/>
          </a:p>
        </p:txBody>
      </p:sp>
      <p:sp>
        <p:nvSpPr>
          <p:cNvPr id="16" name="Shape 14"/>
          <p:cNvSpPr/>
          <p:nvPr/>
        </p:nvSpPr>
        <p:spPr>
          <a:xfrm>
            <a:off x="3642284" y="502920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42284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Mid-size NGOs globally ($1–50M revenue). Operational complexity, SaaS budget, donor pressure.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87288" y="3017520"/>
            <a:ext cx="2590724" cy="320040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15888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FILTERED SAM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415888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15K–35K</a:t>
            </a:r>
            <a:endParaRPr lang="en-US" sz="3800" dirty="0"/>
          </a:p>
        </p:txBody>
      </p:sp>
      <p:sp>
        <p:nvSpPr>
          <p:cNvPr id="21" name="Shape 19"/>
          <p:cNvSpPr/>
          <p:nvPr/>
        </p:nvSpPr>
        <p:spPr>
          <a:xfrm>
            <a:off x="6415888" y="502920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15888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South mid-size NGO with grant-management or stitched-stack pain.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960891" y="3017520"/>
            <a:ext cx="2590724" cy="32004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89491" y="3291840"/>
            <a:ext cx="21335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CEILING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189491" y="3794760"/>
            <a:ext cx="222496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9731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$200M–$1.2B</a:t>
            </a:r>
            <a:endParaRPr lang="en-US" sz="3800" dirty="0"/>
          </a:p>
        </p:txBody>
      </p:sp>
      <p:sp>
        <p:nvSpPr>
          <p:cNvPr id="26" name="Shape 24"/>
          <p:cNvSpPr/>
          <p:nvPr/>
        </p:nvSpPr>
        <p:spPr>
          <a:xfrm>
            <a:off x="9189491" y="5029200"/>
            <a:ext cx="365760" cy="18288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89491" y="5166360"/>
            <a:ext cx="2224964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0F0A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 ACV × SAM. Direct compliance flavor alone. Network flavor adds to top.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0080" y="5989320"/>
            <a:ext cx="109115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OECD DAC Apr 2026; Reuters; House of Commons CBP-10243; Candid Form 990; Development Initiatives 2025; ALNAP GHA 2025.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PROOF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today. Built in production, not pitched on a whiteboard.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claim on this deck is verifiable against the running system.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35+</a:t>
            </a:r>
            <a:endParaRPr lang="en-US" sz="4000" dirty="0"/>
          </a:p>
        </p:txBody>
      </p:sp>
      <p:sp>
        <p:nvSpPr>
          <p:cNvPr id="10" name="Shape 8"/>
          <p:cNvSpPr/>
          <p:nvPr/>
        </p:nvSpPr>
        <p:spPr>
          <a:xfrm>
            <a:off x="822960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surfaces in production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02254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85134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54/54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3585134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85134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E2E regression passing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64428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47308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19/19</a:t>
            </a:r>
            <a:endParaRPr lang="en-US" sz="4000" dirty="0"/>
          </a:p>
        </p:txBody>
      </p:sp>
      <p:sp>
        <p:nvSpPr>
          <p:cNvPr id="18" name="Shape 16"/>
          <p:cNvSpPr/>
          <p:nvPr/>
        </p:nvSpPr>
        <p:spPr>
          <a:xfrm>
            <a:off x="6347308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47308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 UAT suite passing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926601" y="301752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09481" y="315468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67/67</a:t>
            </a:r>
            <a:endParaRPr lang="en-US" sz="4000" dirty="0"/>
          </a:p>
        </p:txBody>
      </p:sp>
      <p:sp>
        <p:nvSpPr>
          <p:cNvPr id="22" name="Shape 20"/>
          <p:cNvSpPr/>
          <p:nvPr/>
        </p:nvSpPr>
        <p:spPr>
          <a:xfrm>
            <a:off x="9109481" y="384048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09481" y="393192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invariants passing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22960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26" name="Shape 24"/>
          <p:cNvSpPr/>
          <p:nvPr/>
        </p:nvSpPr>
        <p:spPr>
          <a:xfrm>
            <a:off x="822960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22960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Languages at platform parity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02254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85134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30" name="Shape 28"/>
          <p:cNvSpPr/>
          <p:nvPr/>
        </p:nvSpPr>
        <p:spPr>
          <a:xfrm>
            <a:off x="3585134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85134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African registries pre-mapped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64428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47308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130+</a:t>
            </a:r>
            <a:endParaRPr lang="en-US" sz="4000" dirty="0"/>
          </a:p>
        </p:txBody>
      </p:sp>
      <p:sp>
        <p:nvSpPr>
          <p:cNvPr id="34" name="Shape 32"/>
          <p:cNvSpPr/>
          <p:nvPr/>
        </p:nvSpPr>
        <p:spPr>
          <a:xfrm>
            <a:off x="6347308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47308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phases shipped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8926601" y="4572000"/>
            <a:ext cx="2625014" cy="137160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09481" y="4709160"/>
            <a:ext cx="225925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50+</a:t>
            </a:r>
            <a:endParaRPr lang="en-US" sz="4000" dirty="0"/>
          </a:p>
        </p:txBody>
      </p:sp>
      <p:sp>
        <p:nvSpPr>
          <p:cNvPr id="38" name="Shape 36"/>
          <p:cNvSpPr/>
          <p:nvPr/>
        </p:nvSpPr>
        <p:spPr>
          <a:xfrm>
            <a:off x="9109481" y="5394960"/>
            <a:ext cx="365760" cy="2286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09481" y="5486400"/>
            <a:ext cx="2259254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health probes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40080" y="5897880"/>
            <a:ext cx="10911535" cy="411480"/>
          </a:xfrm>
          <a:prstGeom prst="rect">
            <a:avLst/>
          </a:prstGeom>
          <a:solidFill>
            <a:srgbClr val="0F0A07"/>
          </a:solidFill>
          <a:ln w="12700">
            <a:solidFill>
              <a:srgbClr val="0F0A0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914400" y="5971032"/>
            <a:ext cx="104543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URL:  </a:t>
            </a:r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  ·  </a:t>
            </a:r>
            <a:pPr indent="0" marL="0">
              <a:buNone/>
            </a:pPr>
            <a:r>
              <a:rPr lang="en-US" sz="1200" i="1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seeded test accounts  ·  Demo on request.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matches the flavor.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Network is a network-level deal. Direct Compliance scales by NGO count. ERP is a sponsor add-on.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297180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971800"/>
            <a:ext cx="3515258" cy="64008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2A6F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914400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Closed Network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14400" y="397764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$80K–$250K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914400" y="47548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 1 setup + per-member seat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5029200"/>
            <a:ext cx="365760" cy="18288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516636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Network host fee: $40K–$120K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914400" y="545896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Per-member seat: $1.5K–$3K/yr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14400" y="575157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OB governance modules included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914400" y="6044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Reference: NEAR-scale (40+ members)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338218" y="2971800"/>
            <a:ext cx="3515258" cy="3383280"/>
          </a:xfrm>
          <a:prstGeom prst="rect">
            <a:avLst/>
          </a:prstGeom>
          <a:solidFill>
            <a:srgbClr val="F4E8DC"/>
          </a:solidFill>
          <a:ln w="12700">
            <a:solidFill>
              <a:srgbClr val="F4E8D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338218" y="2971800"/>
            <a:ext cx="3515258" cy="6400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07557" y="3136392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MOTION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612538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FLAVOR 2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612538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 Compliance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612538" y="397764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$25K–$120K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4612538" y="47548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donor tenant per year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12538" y="5029200"/>
            <a:ext cx="365760" cy="18288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12538" y="516636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Foundation (1–25 grantees): $25K–$50K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612538" y="545896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Bilateral (25–100 grantees): $50K–$100K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612538" y="575157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Multilateral (100+): custom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612538" y="6044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NGO sponsorship: +$3K–$8K per NGO/yr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036357" y="2971800"/>
            <a:ext cx="3515258" cy="3383280"/>
          </a:xfrm>
          <a:prstGeom prst="rect">
            <a:avLst/>
          </a:prstGeom>
          <a:solidFill>
            <a:srgbClr val="FAF5F2"/>
          </a:solidFill>
          <a:ln w="12700">
            <a:solidFill>
              <a:srgbClr val="FAF5F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036357" y="2971800"/>
            <a:ext cx="3515258" cy="6400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10677" y="320040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4A7C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OPT-IN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8310677" y="3474720"/>
            <a:ext cx="296661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Layer (opt-in)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8310677" y="3977640"/>
            <a:ext cx="2966618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4A7C5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+$15K–$40K</a:t>
            </a:r>
            <a:endParaRPr lang="en-US" sz="3200" dirty="0"/>
          </a:p>
        </p:txBody>
      </p:sp>
      <p:sp>
        <p:nvSpPr>
          <p:cNvPr id="36" name="Text 34"/>
          <p:cNvSpPr/>
          <p:nvPr/>
        </p:nvSpPr>
        <p:spPr>
          <a:xfrm>
            <a:off x="8310677" y="4754880"/>
            <a:ext cx="296661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 per tenant or sponsor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8310677" y="5029200"/>
            <a:ext cx="365760" cy="18288"/>
          </a:xfrm>
          <a:prstGeom prst="rect">
            <a:avLst/>
          </a:prstGeom>
          <a:solidFill>
            <a:srgbClr val="4A7C59"/>
          </a:solidFill>
          <a:ln w="12700">
            <a:solidFill>
              <a:srgbClr val="4A7C5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10677" y="5166360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Donor sponsors NGO tenant (primary)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8310677" y="5458968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NGO direct subscription (secondary)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8310677" y="5751576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Multi-tenant donor view included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8310677" y="6044184"/>
            <a:ext cx="3058058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 Odoo 17 backbone, hosted by Kuja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WIN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914400"/>
            <a:ext cx="1091153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competitor combines what we combine.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640080" y="2103120"/>
            <a:ext cx="10911535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matrix proves it row-by-row. The architecture explains why incumbents cannot match.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2743200"/>
            <a:ext cx="10911535" cy="10973"/>
          </a:xfrm>
          <a:prstGeom prst="rect">
            <a:avLst/>
          </a:prstGeom>
          <a:solidFill>
            <a:srgbClr val="E8E0D8"/>
          </a:solidFill>
          <a:ln w="12700">
            <a:solidFill>
              <a:srgbClr val="E8E0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flavors on one codebase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Submittable, Foundant, Fluxx are direct-compliance only. None can host a closed network with multi-sig governance. We do both.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187288" y="292608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27368" y="292608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AI-native, grounded, citable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27368" y="331012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35+ AI surfaces grounded in the customer record with citations. Incumbents bolt LLMs onto data models built before the AI era.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40080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280160" y="402336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BY and FOR the Global South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80160" y="440740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WhatsApp, voice, photo, six languages, mobile-first. Not localized — designed for the Tecno phone on 3G from day one.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87288" y="402336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27368" y="402336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Hash-anchored audit chain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827368" y="440740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Integral to the data model, not exported on demand. Tamper one row, every row after breaks. Submittable &amp; Fluxx export logs — we anchor them.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5120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512064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reporting &amp; compliance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550468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per-requirement evaluation with citations is the core selling point. No competitor in our segment ships this in production.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187288" y="51206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27368" y="5120640"/>
            <a:ext cx="4541368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F0A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ERP layer ready (opt-in)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27368" y="5504688"/>
            <a:ext cx="454136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multi-tenant donor visibility via Kuja ERP. No competitor offers this in any tier.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KUJA GRANT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468880" y="6400800"/>
            <a:ext cx="725393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  ·  Confidential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00297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spc="400" kern="0" dirty="0">
                <a:solidFill>
                  <a:srgbClr val="8A84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F0A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1207008" y="548640"/>
            <a:ext cx="164592" cy="10973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417320" y="4114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973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05840"/>
            <a:ext cx="1091153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audiences. Three asks.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640080" y="2377440"/>
            <a:ext cx="73152" cy="1005840"/>
          </a:xfrm>
          <a:prstGeom prst="rect">
            <a:avLst/>
          </a:prstGeom>
          <a:solidFill>
            <a:srgbClr val="2A6F7C"/>
          </a:solidFill>
          <a:ln w="12700">
            <a:solidFill>
              <a:srgbClr val="2A6F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7744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NETWORK FLAVOR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6F7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run a network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6-week tenant pilot. Private instance with your branding, three test members, one fund window. You decide whether to roll out from there.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611880"/>
            <a:ext cx="73152" cy="1005840"/>
          </a:xfrm>
          <a:prstGeom prst="rect">
            <a:avLst/>
          </a:prstGeom>
          <a:solidFill>
            <a:srgbClr val="C2410C"/>
          </a:solidFill>
          <a:ln w="12700">
            <a:solidFill>
              <a:srgbClr val="C2410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36118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COMPLIANCE FLAVOR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14400" y="384048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2410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fund the Global South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25196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90-day Grant Pilot ($25K–$50K). Run one grant cycle end-to-end. AI evaluates reports, audit chain anchors every decision. Expand from there.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4846320"/>
            <a:ext cx="73152" cy="1005840"/>
          </a:xfrm>
          <a:prstGeom prst="rect">
            <a:avLst/>
          </a:prstGeom>
          <a:solidFill>
            <a:srgbClr val="84B59F"/>
          </a:solidFill>
          <a:ln w="12700">
            <a:solidFill>
              <a:srgbClr val="84B59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84632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300" kern="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ERP OPT-IN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914400" y="5074920"/>
            <a:ext cx="10454335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84B59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If you want real-time financials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5486400"/>
            <a:ext cx="10454335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 a 3-grantee ERP pilot ($60K–$120K). Multi-tenant donor view live in 12 weeks. Reference deployments available on request.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40080" y="5989320"/>
            <a:ext cx="10911535" cy="2286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62179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kuja@adeso.org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50815" y="62179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4E8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https://web-production-6f8a.up.railway.app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Adeso / Kuja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Kuja Grant — End-to-end grant management</dc:title>
  <dc:subject>Grant product pitch deck V3 — June 2026</dc:subject>
  <dc:creator>PptxGenJS</dc:creator>
  <cp:lastModifiedBy>PptxGenJS</cp:lastModifiedBy>
  <cp:revision>1</cp:revision>
  <dcterms:created xsi:type="dcterms:W3CDTF">2026-06-18T20:12:13Z</dcterms:created>
  <dcterms:modified xsi:type="dcterms:W3CDTF">2026-06-18T20:12:13Z</dcterms:modified>
</cp:coreProperties>
</file>