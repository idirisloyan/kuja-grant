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KUJA PRODUCT  ·  BUILT BY ADESO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GRANT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Lowering the floor on who gets funded.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grant system. Four flavors. AI-native. Built BY and FOR the Global South.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deck V5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lower the floor on who gets funded.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700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humanitarian funding reaches local NGOs directly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decade of pledges. The Grand Bargain target is 25%. The system has failed Global South CSOs by a factor of seven.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53458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$35–40B</a:t>
            </a:r>
            <a:endParaRPr lang="en-US" sz="7000" dirty="0"/>
          </a:p>
        </p:txBody>
      </p:sp>
      <p:sp>
        <p:nvSpPr>
          <p:cNvPr id="11" name="Shape 9"/>
          <p:cNvSpPr/>
          <p:nvPr/>
        </p:nvSpPr>
        <p:spPr>
          <a:xfrm>
            <a:off x="4353458" y="406908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3458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funding gap to absorb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53458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dissolved. -23.1% OECD ODA in 2025. Yet local NGOs are best-placed to deliver — if barriers fall fast enough.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66837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 / 7%</a:t>
            </a:r>
            <a:endParaRPr lang="en-US" sz="7000" dirty="0"/>
          </a:p>
        </p:txBody>
      </p:sp>
      <p:sp>
        <p:nvSpPr>
          <p:cNvPr id="15" name="Shape 13"/>
          <p:cNvSpPr/>
          <p:nvPr/>
        </p:nvSpPr>
        <p:spPr>
          <a:xfrm>
            <a:off x="8066837" y="4069080"/>
            <a:ext cx="365760" cy="2286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6837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vs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66837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Nonprofits use AI tools. Few see real organizational change. Generic tools, English-only, no understanding of local reality.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exists because the floor needs to come down. Language. Literacy. Connectivity. Channel. Cost. Compliance burden. We lower all six.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AND FOR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were not "built for the Global South." We were built FROM 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positioning statement. It is the only reason this product exists at all.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527288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527288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461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founded in Somalia by Degan Ali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93192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response, local accountability, local leadership.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NEAR with Global South CSOs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57200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60+ member network of frontline humanitarian and development orgs.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89204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building Kuja from our own pain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521208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ran on stitched-stack tools. We replaced them all with Kuja.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5532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0240" y="553212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production. Adeso runs on it daily.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85216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claim is something we operate. Not theory.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8728" y="3063240"/>
            <a:ext cx="5272888" cy="333756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8768" y="32461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8768" y="356616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officer with a Tecno phone.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98768" y="41148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foundation officer with a MacBook in Manhattan.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98768" y="457200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8768" y="475488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Speaks Swahili at home, Somali at work, English under duress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98768" y="502920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Intermittent power and 3G connectivity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98768" y="530352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Half a day to write a report, not three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98768" y="557784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Whatsapps the donor before emailing them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8768" y="585216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Builds trust through evidence, not application essays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98768" y="612648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Will be the lead delivery partner in five years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is the foundation. Everything else plugs 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discovers. ERP keeps the books. Grant is where money actually moves.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5688" y="3108960"/>
            <a:ext cx="2560320" cy="2560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5688" y="3611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15688" y="4023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15688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23848" y="347472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3848" y="3474720"/>
            <a:ext cx="64008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6728" y="3593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0672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grantees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90408" y="347472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408" y="3474720"/>
            <a:ext cx="64008" cy="8229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3288" y="3593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7328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identity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23848" y="493776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3848" y="4937760"/>
            <a:ext cx="64008" cy="82296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672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(opt-in)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672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90408" y="493776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0408" y="493776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328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7328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evidence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predates the others. Every Kuja module reads from or writes to the Grant data model. This is the heart.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Design. Apply. Review. Award. Report.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grant — from any flavor — flows through these five stages. AI grounds every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2109155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NETWORK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438912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Wizard-driven. AI suggests rubric weights, eligibility rules, evaluation criteria. Templates from prior funds.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40675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0675" y="3063240"/>
            <a:ext cx="2109155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275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9275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69275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9275" y="438912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9275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co-author from Trust Profile. Six languages. Voice-to-text. Photo-as-evidence. WhatsApp prompts.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127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1270" y="3063240"/>
            <a:ext cx="2109155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987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6987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6987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69870" y="4389120"/>
            <a:ext cx="36576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987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scoring per criterion. AI grounds every score with citations. Hard gates at submit.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1865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1865" y="3063240"/>
            <a:ext cx="2109155" cy="6400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0465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70465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0465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OB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70465" y="4389120"/>
            <a:ext cx="36576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0465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with COI capture. Agreement upload triggers AI obligation extraction.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4246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42460" y="3063240"/>
            <a:ext cx="2109155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106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7106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67106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+ DONOR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71060" y="438912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7106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against the agreement, per requirement, with risk flags and citations.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running through all five stages: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grounding (35+ surfaces)  ·  Trust Profile  ·  Hash-anchored audit chain  ·  Six-language parity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FLAVORS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engine. Four operating modes.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flavor that matches how you fund. All four share the lifecycle, the AI, the audit chain.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556434" cy="3200400"/>
          </a:xfrm>
          <a:prstGeom prst="rect">
            <a:avLst/>
          </a:prstGeom>
          <a:solidFill>
            <a:srgbClr val="1A4F5C"/>
          </a:solidFill>
          <a:ln w="12700">
            <a:solidFill>
              <a:srgbClr val="1A4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64408"/>
            <a:ext cx="21449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214495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07992"/>
            <a:ext cx="214495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secretariat hosts a private platform. Vetted member NGOs apply for fund windows. The network governs membership and trust together.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5824728"/>
            <a:ext cx="21449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NEAR — co-founded by Adeso in 2016.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5114" y="3063240"/>
            <a:ext cx="2556434" cy="3200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714" y="3264408"/>
            <a:ext cx="21449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3714" y="3520440"/>
            <a:ext cx="214495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653714" y="438912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3714" y="4507992"/>
            <a:ext cx="214495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runs grant rounds. Any qualified NGO can apply. AI grades every report against the agreement, in real time.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3714" y="5824728"/>
            <a:ext cx="21449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live production tenants on Kuja Marketplace.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0148" y="3063240"/>
            <a:ext cx="2556434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8748" y="3264408"/>
            <a:ext cx="21449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38748" y="3520440"/>
            <a:ext cx="214495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Crisis-Context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38748" y="438912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8748" y="4507992"/>
            <a:ext cx="214495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moves where institutions have collapsed. Community endorsers vouch instead of registries. Zero-login Arabic voice reporting. Hawala + mobile money rails.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38748" y="5824728"/>
            <a:ext cx="21449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the Proximate Fund (Adeso, Sudan) — live.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95181" y="3063240"/>
            <a:ext cx="2556434" cy="32004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3781" y="3264408"/>
            <a:ext cx="214495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23781" y="3520440"/>
            <a:ext cx="214495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Community-Led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223781" y="438912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23781" y="4507992"/>
            <a:ext cx="214495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and community-led response. Communities write their own proposals and reports; a visible 10-day clock to money in hand; deliberately no spend policing.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23781" y="5824728"/>
            <a:ext cx="21449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Saxansaxo (Adeso, Somalia) — live since July 2026.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five-stage lifecycle. Same AI. Same Trust Profile.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flavor changes how trust is established and how money moves — never the engine.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  ·  CLOSED NETWORK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Network: how it works.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the host. Members are vetted, governed, and trusted by their peers. Decisions are multi-sig.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to join. Mandatory capacity assessment. OB reviews and decides.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+ Windows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 creates a Fund. Windows (open rounds) with rubrics and budgets.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(members only)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vetted members can apply. Trust Profile pre-fills. Hard-gated submit.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releases to reviewers. Multi-sig signature flow. COI capture at every step.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Crisis Monitoring Report. Monitoring visits logged. Audit-anchored.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1A4F5C"/>
          </a:solidFill>
          <a:ln w="12700">
            <a:solidFill>
              <a:srgbClr val="1A4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383280"/>
            <a:ext cx="39620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 Empowered Aid Response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57200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754880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Co-founded by Adeso in 2016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5084064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60+ members across the Global South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5413248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Reference architecture for Networks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742432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Lead pilot prospect — not a current client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Multi-sig. COI. Emergency declarations. Audit chain.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governance is not a Slack thread. It is enforced at the data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64008" cy="137160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Oversight Body (OB) 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platform admin. Per-network. Cannot bypass approvals. All actions audited.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8218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2971800"/>
            <a:ext cx="64008" cy="13716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 signature 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9386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fund: 2-of-3, 3-of-5. COI captured at each signature step.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6357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2971800"/>
            <a:ext cx="64008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declarations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37525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+ mandatory COI. Reviewable wizard. Audit row at every state transition.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80560"/>
            <a:ext cx="64008" cy="13716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Crisis Monitoring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cron. Top risks, signature pace, declared emergencies.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8218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480560"/>
            <a:ext cx="64008" cy="1371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visits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39386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logs anchored to grants. Photos, notes, GPS. Visible in member dashboard.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36357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4480560"/>
            <a:ext cx="64008" cy="13716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messaging + feedback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37525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Secretariat-to-member messaging. NGO feedback mechanism with audit trail.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  ·  DIRECT 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Compliance: how it works.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or bilateral runs grant rounds directly. Any qualified NGO can apply. AI grades every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DONOR–NGO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the call: criteria, rubrics, eligibility. AI suggests starting weights.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discovers + applies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886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finds the call via Marketplace or invitation. Trust Profile pre-fills.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submit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enforced. AI rubric pre-score. Reviewer panel notified.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4892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panels. Per-criterion AI-grounded citations. COI declared.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+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5394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uploads agreement → AI extracts obligations. NGO reports → AI evaluates.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FLAVOR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42900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393192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Bilaterals &amp; multilaterals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60920" y="443484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giving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60920" y="502920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5212080"/>
            <a:ext cx="3962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funds NGOs and wants real compliance signals without a 9-month implementation.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COMPLIANCE  ·  THE HEADLINE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reporting is our core selling point.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uploads agreement once. AI extracts every requirement. Every NGO report is graded against it, per-requirement, with citations.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agreement → AI obligation extract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upload, AI parses the agreement, structures every reporting requirement, deadline, deliverable, and indicator. No data entry required.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10896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 reports → per-requirement evaluation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2538" y="461772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538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NGO submits a report, AI grades each requirement individually — met, partial, missing — with citations back to the report and the agreement.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10896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score → reconciled across pillars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0677" y="461772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0677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 grades roll into an overall compliance score. AI risk flags surface in donor dashboard, before quarterly reviews would catch them.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headline: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grant management system on the market — Submittable, Foundant (incl. SmartSimple post-acquisition), Fluxx, Salesforce GM, Blackbaud, GivingData — evaluates NGO reports against the agreement, per requirement, with citations. We do this in production. Detail in the Kuja Grant Market Analysis Section 8.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3  ·  CRISIS-CONTEXT FUND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Crisis-Context: funding where institutions have collapsed.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registry to vet against. Banks evacuated. Arabic-first, uneven literacy. The system carries the burden, not the partner.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 hybrid nomination. Sanctions screening fires automatically at every entry path.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endorsers vouch through structured questions — voice answers, COI checks, reputation weighting.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+ mobile money as first-class rails. Cosigner ladder by amount. Geography enforced per grant.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Zero-login token links over WhatsApp. Arabic voice notes transcribed. Photos as structured evidence.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run as software: intervention timers, 72h grievance SLA, monitoring cadence, hash-chained audit.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383280"/>
            <a:ext cx="39620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PROXIMATE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Proximate Fund — Adeso, Sudan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57200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75488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production since July 2026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60920" y="512064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Relational validation, not paperwork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548640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Donor-compliance loop runs upstream: AI extracts donor obligations, packs reports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585216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Proof the engine spans the full trust spectrum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4  ·  COMMUNITY-LED FUND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Community-led: when the methodology forbids heavy oversight.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SCLR doctrine: the community leads, the funder gets out of the way. Most grant systems cannot do LESS. Kuja can.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SCLR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or gatekeeper agreement recorded first — intake refuses a group without it.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writes its OWN proposal in Somali — a no-login link that works on any phone.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+ select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Criteria-scored, dated decision record — the shield when an office-holder asks why.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10-day clock from selection to money in hand. Envelope ceiling per fund. No cosign ladders.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learn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reports in its own words. Outcomes tagged delivered / partial / learning loss — never punished.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383280"/>
            <a:ext cx="39620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SAXANSAXO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 — Adeso, Somalia (SCLR)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572000"/>
            <a:ext cx="45720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75488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 production since July 2026 — design to live in 15 days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60920" y="512064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Records the story of decisions, never polices spending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548640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Political-interference pause register: principled withdrawal, on the record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585216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Quiet legal floor: sanctions screen + record of who was paid — invisible to the community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THROUGHOUT THE 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 AI surfaces. Grounded. Citable. Audited.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0386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chatbot bolted onto the side. It is woven into every stage of the grant lifecycle, with citations back to the source record.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Rubric weight suggester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Criteria templater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Eligibility validator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40675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40675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0675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co-author drafts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40675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Voice-to-text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40675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Photo-as-evidence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0675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Six-language parity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127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127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127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Per-criterion scoring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127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Score-breakdown explainer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127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Why-rejected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1270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COI flagger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41865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41865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1865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Agreement obligation extract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1865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Risk flag pre-flight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1865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Signature pace coach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4246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4246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246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Per-requirement grade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4246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compliance coach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4246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Audit-ready export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42460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Translation parity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under the hood. Every surface telemetered: latency, cost, fallback usage, citation rate.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THEM WHERE THEY 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meet NGOs where they are.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WhatsApp. Voice notes. Photos. Mobile-first. Six languages. The way Global South work actually happens.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73152" cy="1508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quick status. Get a deadline nudge. Reply to a clarification — all from WhatsApp. The way Global South CSOs already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63240"/>
            <a:ext cx="73152" cy="1508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818" y="324612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681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06898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6818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 speaks in Swahili. AI transcribes, structures, translates. Five minutes vs an hour of typing.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36357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63240"/>
            <a:ext cx="73152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4957" y="324612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4957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05037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Photo-as-evidence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64957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receipt, the borehole, the training. AI labels, geo-tags, attaches to the right report line. No data entry.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09160"/>
            <a:ext cx="73152" cy="150876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Six-language parity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·  FR  ·  AR  ·  SW  ·  SO  ·  ES at the workflow level. Not just translated strings — translated AI behavior.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38218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38218" y="4709160"/>
            <a:ext cx="73152" cy="15087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6818" y="4892040"/>
            <a:ext cx="502920" cy="50292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6818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06898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Mobile-first, low-bandwidth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66818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Tecno phone on 3G. Forms load progressively. Voice and photo work offline; sync on reconnect.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36357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4709160"/>
            <a:ext cx="73152" cy="15087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4957" y="4892040"/>
            <a:ext cx="502920" cy="50292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4957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05037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 coach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4957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of what is missing, why, and how to fix it. The expertise gap, addressed inline.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AUDIT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Profile portable. Audit chain tamper-evident.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NGO assesses once. Every funder reads it. Every governance action links to the previous 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  ·  6 PILLARS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37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Registration  ·  7 African registries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21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 ·  OpenSanctions + UN/OFAC/EU fallback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056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  ·  24-mo lookback with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897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Verification  ·  Plaid + IBAN + microdeposit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73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  ·  Per-signature step capture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67528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Assessment  ·  5-framework, reusable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515081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10896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383280"/>
            <a:ext cx="46021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action linked. Every link verifiable.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720840" y="416052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34340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submit  →  audit row + hash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466344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score  →  audit row + previous hash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498348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release  →  audit row + previous hash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530352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upload  →  audit row + previous hash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562356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  →  audit row + previous hash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5989320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one row — every row after it breaks.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 ·  OPT-IN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real-time financial visibility? Opt into Kuja ERP.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flavors get AI-evaluated reports out of the box. ERP makes the financials flow in real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971800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3128" y="2971800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Kuja ERP  (opt-in)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4290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submissions per criterion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93128" y="34290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11535" cy="54864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977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93128" y="3977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26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452628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93128" y="452628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11535" cy="54864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507492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3128" y="507492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562356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Per-report 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93128" y="562356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cross-grantee spend roll-up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view of grant-scoped spend across their funded grantees.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VS COMPETITORS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system on the market does what we do.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the seven leading GMS incumbents — verified June 2026. Detail in the Kuja Grant Market Analysis Section 6.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911535" cy="36576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04422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11164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17906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24648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31390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738131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44873" y="2121408"/>
            <a:ext cx="9067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487168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642616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60904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 (5 stages)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2642616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4422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1164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7906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24648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31390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131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44873" y="264261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281635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83464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secretariat hosting vetted members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97680" y="281635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04422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11164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17906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24648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31390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38131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44873" y="281635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299008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00837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flow + COI capture per signature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299008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04422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11164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17906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24648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831390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38131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44873" y="299008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316382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318211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declaration workflow (multi-sig + audit)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97680" y="316382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0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04422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11164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017906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924648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831390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738131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644873" y="316382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" y="3337560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3355848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REPORTING &amp; COMPLIANCE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3511296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3529584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 to source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97680" y="3511296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0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04422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111164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017906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924648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831390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738131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644873" y="351129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40080" y="368503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" y="370332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evaluation of reports vs agreement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297680" y="368503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97680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204422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111164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017906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924648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831390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9738131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0644873" y="368503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40080" y="385876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387705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obligation extraction from uploaded agreement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297680" y="385876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97680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5204422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111164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017906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7924648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831390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738131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0644873" y="385876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40080" y="403250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7240" y="405079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 grantee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297680" y="403250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97680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204422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111164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7017906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7924648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831390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738131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10644873" y="403250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40080" y="4206240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77240" y="4224528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ACCESSIBILITY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40080" y="4379976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7240" y="4398264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interaction channel (native, not bolt-on)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297680" y="4379976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97680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5204422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6111164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7017906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7924648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8831390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9738131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10644873" y="4379976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640080" y="455371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77240" y="457200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(mobile, multilingual)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297680" y="455371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97680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5204422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111164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7017906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7924648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831390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9738131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10644873" y="455371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640080" y="472744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77240" y="474573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Photo-as-evidence with AI labeling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4297680" y="472744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97680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5204422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6111164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7017906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7924648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0" name="Text 138"/>
          <p:cNvSpPr/>
          <p:nvPr/>
        </p:nvSpPr>
        <p:spPr>
          <a:xfrm>
            <a:off x="8831390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9738131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10644873" y="472744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640080" y="490118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7240" y="491947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AR/SW/SO)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4297680" y="490118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97680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5204422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48" name="Text 146"/>
          <p:cNvSpPr/>
          <p:nvPr/>
        </p:nvSpPr>
        <p:spPr>
          <a:xfrm>
            <a:off x="6111164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7017906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0" name="Text 148"/>
          <p:cNvSpPr/>
          <p:nvPr/>
        </p:nvSpPr>
        <p:spPr>
          <a:xfrm>
            <a:off x="7924648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8831390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9738131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53" name="Text 151"/>
          <p:cNvSpPr/>
          <p:nvPr/>
        </p:nvSpPr>
        <p:spPr>
          <a:xfrm>
            <a:off x="10644873" y="490118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640080" y="5074920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77240" y="5093208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/ low-bandwidth / offline-tolerant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4297680" y="5074920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297680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8" name="Text 156"/>
          <p:cNvSpPr/>
          <p:nvPr/>
        </p:nvSpPr>
        <p:spPr>
          <a:xfrm>
            <a:off x="5204422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59" name="Text 157"/>
          <p:cNvSpPr/>
          <p:nvPr/>
        </p:nvSpPr>
        <p:spPr>
          <a:xfrm>
            <a:off x="6111164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0" name="Text 158"/>
          <p:cNvSpPr/>
          <p:nvPr/>
        </p:nvSpPr>
        <p:spPr>
          <a:xfrm>
            <a:off x="7017906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7924648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8831390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3" name="Text 161"/>
          <p:cNvSpPr/>
          <p:nvPr/>
        </p:nvSpPr>
        <p:spPr>
          <a:xfrm>
            <a:off x="9738131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4" name="Text 162"/>
          <p:cNvSpPr/>
          <p:nvPr/>
        </p:nvSpPr>
        <p:spPr>
          <a:xfrm>
            <a:off x="10644873" y="5074920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40080" y="5248656"/>
            <a:ext cx="10911535" cy="173736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77240" y="5266944"/>
            <a:ext cx="1063721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ARCHITECTURE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40080" y="5422392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77240" y="544068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 (cryptographically chained)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4297680" y="5422392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297680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5204422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6111164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7017906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7924648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831390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9738131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10644873" y="5422392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640080" y="5596128"/>
            <a:ext cx="10911535" cy="1737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77240" y="5614416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government registry verification (7 countries)</a:t>
            </a:r>
            <a:endParaRPr lang="en-US" sz="950" dirty="0"/>
          </a:p>
        </p:txBody>
      </p:sp>
      <p:sp>
        <p:nvSpPr>
          <p:cNvPr id="180" name="Shape 178"/>
          <p:cNvSpPr/>
          <p:nvPr/>
        </p:nvSpPr>
        <p:spPr>
          <a:xfrm>
            <a:off x="4297680" y="5596128"/>
            <a:ext cx="906742" cy="173736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297680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82" name="Text 180"/>
          <p:cNvSpPr/>
          <p:nvPr/>
        </p:nvSpPr>
        <p:spPr>
          <a:xfrm>
            <a:off x="5204422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3" name="Text 181"/>
          <p:cNvSpPr/>
          <p:nvPr/>
        </p:nvSpPr>
        <p:spPr>
          <a:xfrm>
            <a:off x="6111164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4" name="Text 182"/>
          <p:cNvSpPr/>
          <p:nvPr/>
        </p:nvSpPr>
        <p:spPr>
          <a:xfrm>
            <a:off x="7017906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5" name="Text 183"/>
          <p:cNvSpPr/>
          <p:nvPr/>
        </p:nvSpPr>
        <p:spPr>
          <a:xfrm>
            <a:off x="7924648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6" name="Text 184"/>
          <p:cNvSpPr/>
          <p:nvPr/>
        </p:nvSpPr>
        <p:spPr>
          <a:xfrm>
            <a:off x="8831390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9738131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8" name="Text 186"/>
          <p:cNvSpPr/>
          <p:nvPr/>
        </p:nvSpPr>
        <p:spPr>
          <a:xfrm>
            <a:off x="10644873" y="5596128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640080" y="5769864"/>
            <a:ext cx="10911535" cy="173736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77240" y="5788152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multi-tenant donor visibility</a:t>
            </a:r>
            <a:endParaRPr lang="en-US" sz="950" dirty="0"/>
          </a:p>
        </p:txBody>
      </p:sp>
      <p:sp>
        <p:nvSpPr>
          <p:cNvPr id="191" name="Shape 189"/>
          <p:cNvSpPr/>
          <p:nvPr/>
        </p:nvSpPr>
        <p:spPr>
          <a:xfrm>
            <a:off x="4297680" y="5769864"/>
            <a:ext cx="906742" cy="173736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297680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5204422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4" name="Text 192"/>
          <p:cNvSpPr/>
          <p:nvPr/>
        </p:nvSpPr>
        <p:spPr>
          <a:xfrm>
            <a:off x="6111164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5" name="Text 193"/>
          <p:cNvSpPr/>
          <p:nvPr/>
        </p:nvSpPr>
        <p:spPr>
          <a:xfrm>
            <a:off x="7017906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6" name="Text 194"/>
          <p:cNvSpPr/>
          <p:nvPr/>
        </p:nvSpPr>
        <p:spPr>
          <a:xfrm>
            <a:off x="7924648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7" name="Text 195"/>
          <p:cNvSpPr/>
          <p:nvPr/>
        </p:nvSpPr>
        <p:spPr>
          <a:xfrm>
            <a:off x="8831390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98" name="Text 196"/>
          <p:cNvSpPr/>
          <p:nvPr/>
        </p:nvSpPr>
        <p:spPr>
          <a:xfrm>
            <a:off x="9738131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199" name="Text 197"/>
          <p:cNvSpPr/>
          <p:nvPr/>
        </p:nvSpPr>
        <p:spPr>
          <a:xfrm>
            <a:off x="10644873" y="5769864"/>
            <a:ext cx="90674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00" name="Text 198"/>
          <p:cNvSpPr/>
          <p:nvPr/>
        </p:nvSpPr>
        <p:spPr>
          <a:xfrm>
            <a:off x="640080" y="60533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59"/>
                </a:solidFill>
              </a:rPr>
              <a:t>●</a:t>
            </a:r>
            <a:endParaRPr lang="en-US" sz="1400" dirty="0"/>
          </a:p>
        </p:txBody>
      </p:sp>
      <p:sp>
        <p:nvSpPr>
          <p:cNvPr id="201" name="Text 199"/>
          <p:cNvSpPr/>
          <p:nvPr/>
        </p:nvSpPr>
        <p:spPr>
          <a:xfrm>
            <a:off x="868680" y="6053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202" name="Text 200"/>
          <p:cNvSpPr/>
          <p:nvPr/>
        </p:nvSpPr>
        <p:spPr>
          <a:xfrm>
            <a:off x="1737360" y="60533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◐</a:t>
            </a:r>
            <a:endParaRPr lang="en-US" sz="1400" dirty="0"/>
          </a:p>
        </p:txBody>
      </p:sp>
      <p:sp>
        <p:nvSpPr>
          <p:cNvPr id="203" name="Text 201"/>
          <p:cNvSpPr/>
          <p:nvPr/>
        </p:nvSpPr>
        <p:spPr>
          <a:xfrm>
            <a:off x="1965960" y="6053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204" name="Text 202"/>
          <p:cNvSpPr/>
          <p:nvPr/>
        </p:nvSpPr>
        <p:spPr>
          <a:xfrm>
            <a:off x="3657600" y="60533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C4BE"/>
                </a:solidFill>
              </a:rPr>
              <a:t>○</a:t>
            </a:r>
            <a:endParaRPr lang="en-US" sz="1400" dirty="0"/>
          </a:p>
        </p:txBody>
      </p:sp>
      <p:sp>
        <p:nvSpPr>
          <p:cNvPr id="205" name="Text 203"/>
          <p:cNvSpPr/>
          <p:nvPr/>
        </p:nvSpPr>
        <p:spPr>
          <a:xfrm>
            <a:off x="3886200" y="6053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06" name="Text 204"/>
          <p:cNvSpPr/>
          <p:nvPr/>
        </p:nvSpPr>
        <p:spPr>
          <a:xfrm>
            <a:off x="5212080" y="6053328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public product docs, G2 reviews, and direct buyer-conversation feedback (June 2026).</a:t>
            </a:r>
            <a:endParaRPr lang="en-US" sz="900" dirty="0"/>
          </a:p>
        </p:txBody>
      </p:sp>
      <p:sp>
        <p:nvSpPr>
          <p:cNvPr id="207" name="Text 20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209" name="Text 20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shock meets a 150K-NGO market.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gap is the demand signal. AI adoption is the timing.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590724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SHOCK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$35–40B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68680" y="502920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gap from USAID/OECD cuts. -23.1% ODA 2025. 86% USAID programs terminated.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3684" y="3017520"/>
            <a:ext cx="2590724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2284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42284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150K–300K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642284" y="50292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2284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NGOs globally ($1–50M revenue). Operational complexity, SaaS budget, donor pressure.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7288" y="3017520"/>
            <a:ext cx="2590724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5888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6415888" y="50292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mid-size NGO with grant-management or stitched-stack pain.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0891" y="3017520"/>
            <a:ext cx="2590724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491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491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$200M–$1.2B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9189491" y="502920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491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ACV × SAM. Direct compliance flavor alone. Network flavor adds to top.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DAC Apr 2026; Reuters; House of Commons CBP-10243; Candid Form 990; Development Initiatives 2025; ALNAP GHA 2025.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today. Built in production, not pitched on a whiteboard.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deck is verifiable against the running system.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2254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5134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585134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5134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 passing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4428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7308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6347308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7308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 passing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26601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9481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9109481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 passing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26" name="Shape 24"/>
          <p:cNvSpPr/>
          <p:nvPr/>
        </p:nvSpPr>
        <p:spPr>
          <a:xfrm>
            <a:off x="822960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at platform parity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2254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5134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3585134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5134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registries pre-mapped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4428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7308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4000" dirty="0"/>
          </a:p>
        </p:txBody>
      </p:sp>
      <p:sp>
        <p:nvSpPr>
          <p:cNvPr id="34" name="Shape 32"/>
          <p:cNvSpPr/>
          <p:nvPr/>
        </p:nvSpPr>
        <p:spPr>
          <a:xfrm>
            <a:off x="6347308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7308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26601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09481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9109481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09481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97103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seeded test accounts  ·  Demo on request.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matches the flavor.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is a network-level deal. Direct Compliance scales by NGO count. ERP is a sponsor add-on.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$80K–$250K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setup + per-member seat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365760" cy="18288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Network host fee: $40K–$120K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Per-member seat: $1.5K–$3K/yr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 governance modules included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Reference: NEAR-scale (40+ members)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38218" y="2971800"/>
            <a:ext cx="3515258" cy="33832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557" y="31363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2538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12538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$25K–$120K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12538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donor tenant per year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2538" y="50292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538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Foundation (1–25 grantees): $25K–$50K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2538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Bilateral (25–100 grantees): $50K–$100K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2538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Multilateral (100+): custom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2538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NGO sponsorship: +$3K–$8K per NGO/yr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36357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10677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Layer (opt-in)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10677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+$15K–$40K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10677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per tenant or sponsor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10677" y="50292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Donor sponsors NGO tenant (primary)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10677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NGO direct subscription (secondary)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10677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donor view included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10677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Odoo 17 backbone, hosted by Kuja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combines what we combine.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proves it row-by-row. The architecture explains why incumbents cannot match.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flavors on one codebase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Submittable, Foundant, Fluxx are direct-compliance only. None can host a closed network with multi-sig governance — let alone a crisis fund on relational validation or a community-led fund with no spend policing. We do all four.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grounded, citable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AI surfaces grounded in the customer record with citations. Incumbents bolt LLMs onto data models built before the AI era.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and FOR the Global South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voice, photo, six languages, mobile-first. Not localized — designed for the Tecno phone on 3G from day one.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7288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Hash-anchored audit 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27368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to the data model, not exported on demand. Tamper one row, every row after breaks. Submittable &amp; Fluxx export logs — we anchor them.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reporting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evaluation with citations is the core selling point. No competitor in our segment ships this in production.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7288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27368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layer ready (opt-in)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7368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multi-tenant donor visibility via Kuja ERP. No competitor offers this in any tier.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V5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audiences. Three asks.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73152" cy="100584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FLAVOR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tenant pilot. Private instance with your branding, three test members, one fund window. You decide whether to roll out from there.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73152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COMPLIANCE FLAVOR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Grant Pilot ($25K–$50K). Run one grant cycle end-to-end. AI evaluates reports, audit chain anchors every decision. Expand from there.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73152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OPT-IN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want real-time financials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3-grantee ERP pilot ($60K–$120K). Multi-tenant donor view live in 12 weeks. Reference deployments available on request.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0815" y="6217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Grant — End-to-end grant management</dc:title>
  <dc:subject>Grant product pitch deck V5 — July 2026</dc:subject>
  <dc:creator>PptxGenJS</dc:creator>
  <cp:lastModifiedBy>PptxGenJS</cp:lastModifiedBy>
  <cp:revision>1</cp:revision>
  <dcterms:created xsi:type="dcterms:W3CDTF">2026-07-26T19:10:06Z</dcterms:created>
  <dcterms:modified xsi:type="dcterms:W3CDTF">2026-07-26T19:10:06Z</dcterms:modified>
</cp:coreProperties>
</file>