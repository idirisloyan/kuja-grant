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KUJA PRODUCT  ·  BUILT BY ADESO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776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mid-size NGOs.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modules. One platform. Replaces six to ten stitched tools.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deck  ·  June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MID-SIZE NGO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Stuck between spreadsheets and Salesforce.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NGOs ($5M–$50M revenue) are too complex for free tools, too constrained for enterprise SaaS.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35152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6–10</a:t>
            </a:r>
            <a:endParaRPr lang="en-US" sz="70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45720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720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SaaS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3332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of an NGO's operation runs in a different system. Nothing talks to anything. Data is re-entered, reconciled, lost.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38218" y="3108960"/>
            <a:ext cx="35152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 / 7%</a:t>
            </a:r>
            <a:endParaRPr lang="en-US" sz="7000" dirty="0"/>
          </a:p>
        </p:txBody>
      </p:sp>
      <p:sp>
        <p:nvSpPr>
          <p:cNvPr id="13" name="Shape 11"/>
          <p:cNvSpPr/>
          <p:nvPr/>
        </p:nvSpPr>
        <p:spPr>
          <a:xfrm>
            <a:off x="4338218" y="4434840"/>
            <a:ext cx="45720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5720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vs 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4983480"/>
            <a:ext cx="3332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use AI tools. Few report organizational impact. Bolt-on AI on legacy data models cannot integrate the operation.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36357" y="3108960"/>
            <a:ext cx="35152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$184K</a:t>
            </a:r>
            <a:endParaRPr lang="en-US" sz="7000" dirty="0"/>
          </a:p>
        </p:txBody>
      </p:sp>
      <p:sp>
        <p:nvSpPr>
          <p:cNvPr id="17" name="Shape 15"/>
          <p:cNvSpPr/>
          <p:nvPr/>
        </p:nvSpPr>
        <p:spPr>
          <a:xfrm>
            <a:off x="8036357" y="443484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5720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stitched-stack cost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4983480"/>
            <a:ext cx="3332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implementation, integration hacks, plus full-time coordination overhead. Most mid-size NGOs cannot afford this.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Bind / Vendr / G2 vendor pricing for stitched-stack components; Virtuous + Fundraising.AI 2026 nonprofit AI survey.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STITCHED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mid-size NGO buys today.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$129,388 in annual subscriptions. $55,000 in Year-1 implementation. Zero integration.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297180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IMPL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911535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NPC (10 free + 40 seats)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Business Development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$28,800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429000"/>
            <a:ext cx="3322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911535" cy="41148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LinkSquares CLM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Obligations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3840480"/>
            <a:ext cx="3322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911535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51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BoardEffect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Governance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4251960"/>
            <a:ext cx="3322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10911535" cy="41148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ClearPoint Strategy Professional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Strategy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663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$9,588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4663440"/>
            <a:ext cx="3322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029200"/>
            <a:ext cx="10911535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Onspring (Policy module)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336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Policies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5074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5074920"/>
            <a:ext cx="3322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440680"/>
            <a:ext cx="10911535" cy="41148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Advanced (100 seats)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23360" y="5486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Initiatives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486400"/>
            <a:ext cx="3322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943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YEAR 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5943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$129,388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138160" y="5943600"/>
            <a:ext cx="3322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$55,000  =  $184,388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it talks to each other. Six logins. No shared customer record. No shared audit trail. No AI.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Eleven modules. Built AI-native, from day one.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526280"/>
            <a:ext cx="927480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is the operating system for mid-size NGOs ($5M–$50M revenue) that have outgrown spreadsheets but cannot justify enterprise SaaS.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record. One AI memory. One audit chain. One login. One implementation. One price.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Eleven module families. One codebase.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shares the same customer record, AI memory, audit chain, and identity layer.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20040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70332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2254" y="306324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2254" y="306324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3422" y="320040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03422" y="370332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4428" y="306324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4428" y="306324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5596" y="320040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5596" y="370332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26601" y="306324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26601" y="306324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7769" y="320040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27769" y="370332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Foundant (+ SmartS.)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29768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(CLM)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480060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LinkSquares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2254" y="416052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2254" y="416052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3422" y="429768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Policies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03422" y="480060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Onspring / PowerDMS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4428" y="416052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4428" y="416052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5596" y="429768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5596" y="480060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26601" y="416052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26601" y="416052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27769" y="429768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27769" y="480060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 / custom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525780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525780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39496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" y="589788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CFO dashboards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02254" y="5257800"/>
            <a:ext cx="2625014" cy="9601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2254" y="5257800"/>
            <a:ext cx="73152" cy="9601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03422" y="539496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03422" y="589788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IT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64428" y="5257800"/>
            <a:ext cx="2625014" cy="96012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4428" y="5257800"/>
            <a:ext cx="73152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5596" y="5394960"/>
            <a:ext cx="23049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65596" y="5897880"/>
            <a:ext cx="23049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Not in incumbents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SPOTLIGHT  ·  OPERATIONS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KPIs, Initiatives, Business Development.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COO runs the operation. How the BD lead grows the pipeline. All on one data layer.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&amp; Performance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 Strategy Professional ($9.6K/yr)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3434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Per-department KPIs with monthly cadence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auto-summarizes movement and red-flags drift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Roll up to board-pack scorecards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spreadsheet sync, no copy-paste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8218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2538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 &amp; Projects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12538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 Advanced ($30K/yr, 100 seats)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2538" y="434340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Workstreams linked to KPIs they should move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2538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Per-stage AI summaries and risk flags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Capacity view across initiatives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2538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more "what is Asana for again?"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36357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10677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 &amp; Partnerships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10677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 ($28.8K + $25K impl)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10677" y="43434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0677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Donor pipeline with stage-aware AI prompts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10677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Auto-extract proposal scope from RFPs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10677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forecast feeds revenue planning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10677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Integrated with Grant module at award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SPOTLIGHT  ·  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Contracts, SOPs, Policies.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backbone. AI-extracted obligations. Hash-anchored versioning. Approval gates everyone respects.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 (CLM)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LinkSquares CLM ($31K + $15K impl)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3434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extracts obligations on upload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Approval chains with COI capture per step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Legal review, executive sign-off, parallel peer 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Reminders before deadlines drift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8218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2538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 &amp; Policies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12538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Onspring policy module ($20K/yr)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2538" y="434340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Dedicated SOP record, not a contract type hack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2538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Version control with side-by-side diff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Pre-flight AI conflict check on new versions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2538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Acknowledgement tracking with audit trail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36357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10677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Workflows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10677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DocuSign + email + Slack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10677" y="43434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0677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Parallel peer review with banner status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10677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Executive approval gate for &gt;$100K contracts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10677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COI gate triggered by amount or party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10677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row written at every transition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SPOTLIGHT  · 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Board, Executive, Departments.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ED runs the meeting. How the COO sees the operation. How the board sees the truth.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&amp; Governance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 ($10K + $5K impl)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3434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Auto-generated monthly board pack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KPI scorecards roll up from departments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Decisions logged with audit trail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Meeting minutes with AI summarization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8218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2538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&amp; Departments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12538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 + custom dashboards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2538" y="434340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Per-department health score with breakdown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2538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"why this score?" explainer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Cross-functional initiative tracking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2538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exec roll-up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36357" y="2971800"/>
            <a:ext cx="351525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10677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Console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10677" y="397764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IT-managed stack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10677" y="43434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0677" y="452628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identity + roles across modules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10677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 of every privileged action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10677" y="5349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Tenant isolation for cohort deployments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10677" y="57607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Org-wide settings (locale, fiscal year, branding)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chatbot. An operating-system reflex.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0386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drafting, extracting, summarizing, scoring, flagging. Grounded in the shared customer record. Citable, audited, controllable.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(PER-PAGE)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58444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"What changed today?" digest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Per-contract obligation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Per-SOP conflict pre-flight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Per-KPI movement summary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53458" y="3291840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(Q&amp;A GROUNDED)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3458" y="3584448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3458" y="374904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Natural-language search across modules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53458" y="416052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Citations to source records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53458" y="457200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Tenant-scoped, role-aware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53458" y="498348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Six languages at parity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66837" y="3291840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(PROACTIVE)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6837" y="3584448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6837" y="374904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Risk flags before deadlines drift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6837" y="416052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Pipeline forecast confidence bands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66837" y="457200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Cross-module pattern detection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66837" y="4983480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Board-pack auto-narrative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Claude. Citations integral, not bolted-on. Cost ceiling is a tenant-level setting.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something we operate. Not a roadmap. Not a pitch hypothesis.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9-month operational transformation.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Adeso ran on the same stitched stack mid-size NGOs run on today.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159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built our own operating system. It became Kuja Elevate.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7000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Today, Adeso's board runs in Elevate. Every contract. Every SOP.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department KPI. Every initiative. Every grant.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926080"/>
            <a:ext cx="524225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108960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ADESO PROVES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11/11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75120" y="4069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families in daily 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4069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SOP acknowledgements tracked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709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75120" y="5212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flowing through approval gates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4709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0" y="5212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packs generated by the platform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15,000–35,000 NGO market. $400M–$2.6B revenue ceiling.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geography, operational maturity, and discretionary spend or sponsorship access.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590724" cy="310896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37560"/>
            <a:ext cx="21335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~1M+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868680" y="512064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257800"/>
            <a:ext cx="22249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990 filers (US), CSOs (Brazil, India), African civil society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3684" y="3063240"/>
            <a:ext cx="2590724" cy="3108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2284" y="3337560"/>
            <a:ext cx="21335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NGOS GLOBALLY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42284" y="393192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150K–300K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3642284" y="512064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2284" y="5257800"/>
            <a:ext cx="22249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$1M–$50M revenue. Operational complexity. SaaS budget.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7288" y="3063240"/>
            <a:ext cx="2590724" cy="310896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3337560"/>
            <a:ext cx="21335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5888" y="393192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6415888" y="512064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5257800"/>
            <a:ext cx="22249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mid-size NGO with stitched-stack pain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0891" y="3063240"/>
            <a:ext cx="2590724" cy="3108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491" y="3337560"/>
            <a:ext cx="21335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491" y="393192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$400M–$2.6B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9189491" y="512064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491" y="5257800"/>
            <a:ext cx="22249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× ACV at Standard tier ($30K–$60K)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to hit $12.5M ARR in 2030: less than 0.5% of the filtered SAM. Path to $100M+ ARR is structural, not aspirational.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personas. Two of them sign. One blocks.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motion designed around the COO champion, the ED signer, and the CFO objection.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141732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73152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31494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721608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buying decision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the stitched-stack pain daily. Wants one platform.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2971800"/>
            <a:ext cx="3515258" cy="141732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2971800"/>
            <a:ext cx="73152" cy="1417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6818" y="3108960"/>
            <a:ext cx="31494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/ CEO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66818" y="333756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66818" y="3721608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budget approval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66818" y="39776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the vision. Needs board cover for the spend.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36357" y="2971800"/>
            <a:ext cx="3515258" cy="141732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2971800"/>
            <a:ext cx="731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4957" y="3108960"/>
            <a:ext cx="31494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64957" y="333756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4957" y="3721608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 of consolidation risk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64957" y="39776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what if you go away? Path: TCO comparison + escrow.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3515258" cy="14173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26280"/>
            <a:ext cx="73152" cy="1417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663440"/>
            <a:ext cx="31494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CHAIR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89204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5276088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better governance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553212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BoardEffect alone costs $15K. Elevate replaces it + 5 more.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38218" y="4526280"/>
            <a:ext cx="3515258" cy="14173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38218" y="4526280"/>
            <a:ext cx="73152" cy="14173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6818" y="4663440"/>
            <a:ext cx="31494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66818" y="489204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66818" y="5276088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grants + KPIs daily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66818" y="553212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Adopts modules early. Sells internally to peers.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36357" y="4526280"/>
            <a:ext cx="3515258" cy="14173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452628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4957" y="4663440"/>
            <a:ext cx="31494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IT LEAD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64957" y="489204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Gatekeeper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64957" y="5276088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integration question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64957" y="553212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SSO, audit, tenant isolation. Path: dedicated answers.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five. Incumbents would need to rewrite their data models to match.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signed in module 4 updates the obligation tracker, surfaces in dept KPIs, and rolls into the board pack. Stitched stack does none of this.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from day one. Salesforce Einstein, BoardEffect AI, and ClearPoint AI bolt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Built for mobile, for low-bandwidth.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customer is the company building the platform. The platform must work — Adeso depends on it.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as one motion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commercial offering that sells SaaS plus deployment-and-adoption as one engagement. No coordination of six vendors plus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Platform tiers. Pick by NGO size.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 the same 11 modules. Tier differences: AI quota, seats, support SLA, customization.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grantees ($1–5M revenue)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$12K–$25K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NGO per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platform, all 11 modules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Mid AI quota (Claude Haiku floor)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&lt;25 users · email 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98932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Often donor-sponsored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38218" y="2971800"/>
            <a:ext cx="3515258" cy="33832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1877" y="31363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2538" y="34747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NGOs ($5–25M revenue)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2538" y="384048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$30K–$60K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612538" y="45720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NGO per year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2538" y="489204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538" y="502920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platform, all 11 modules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2538" y="534924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AI quota (Sonnet on demand)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2538" y="566928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25–100 users · priority support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2538" y="598932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purchase common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36357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10677" y="34747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NGOs / INGOs / networks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10677" y="384048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$60K–$120K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310677" y="45720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tenant per year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10677" y="489204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502920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11 modules + custom config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10677" y="534924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AI agents, top quota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10677" y="566928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100+ users · dedicated CSM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10677" y="598932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SSO, audit export, custom SLAs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ADVISORY + BUNDLES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Advisory makes the platform stick.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consulting layer for transformation engagements. Bundle pricing for multi-product buyers.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 ·  ONE-TIME ENGAGEMENT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318608" cy="8686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337560"/>
            <a:ext cx="64008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47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67048" y="3447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$15K–$25K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776472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 maturity audit; configure platform to current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18608" cy="8686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97680"/>
            <a:ext cx="64008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07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67048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$35K–$65K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736592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mo deploy + change management; SOPs codified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5318608" cy="8686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57800"/>
            <a:ext cx="64008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67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Transformation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67048" y="5367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$65K–$120K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696712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 end-to-end; mirrors Adeso engagement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3008" y="297180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 ·  PLATFORM + ADVISORY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3337560"/>
            <a:ext cx="5318608" cy="8686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3337560"/>
            <a:ext cx="6400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1608" y="3447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Bundle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59975" y="3447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$50K–$80K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61608" y="3776472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grantee · donor-sponsored cohort of 5–15 NGOs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3008" y="4297680"/>
            <a:ext cx="5318608" cy="8686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3008" y="4297680"/>
            <a:ext cx="6400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1608" y="4407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Bundle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59975" y="44074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$80K–$130K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61608" y="4736592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· Standard Platform + Operational Advisory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3008" y="5257800"/>
            <a:ext cx="5318608" cy="8686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3008" y="5257800"/>
            <a:ext cx="6400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1608" y="5367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Bundle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59975" y="5367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$120K–$200K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61608" y="5696712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· Enterprise Platform + Full Transformation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to nine months from discovery to value.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NGO buys $50K SaaS in a week. Sales cycle designed to match how COO + ED + board actually decide.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742389" cy="30175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1742389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1376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14680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146806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sees Adeso demo. Felt-pain validation. Reference call with Adeso 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73909" y="3017520"/>
            <a:ext cx="1742389" cy="30175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3909" y="3017520"/>
            <a:ext cx="1742389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6789" y="3246120"/>
            <a:ext cx="1376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6789" y="3566160"/>
            <a:ext cx="14680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6789" y="4160520"/>
            <a:ext cx="146806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paid Diagnostic Advisory ($15K–$25K). Maturity audit. Adoption roadmap.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07738" y="3017520"/>
            <a:ext cx="1742389" cy="30175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7738" y="3017520"/>
            <a:ext cx="1742389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0618" y="3246120"/>
            <a:ext cx="1376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0618" y="3566160"/>
            <a:ext cx="14680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approval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90618" y="4160520"/>
            <a:ext cx="146806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+ ED present TCO case. CFO objections addressed. Board approves spend.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1568" y="3017520"/>
            <a:ext cx="1742389" cy="30175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1568" y="3017520"/>
            <a:ext cx="1742389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4448" y="3246120"/>
            <a:ext cx="1376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4448" y="3566160"/>
            <a:ext cx="14680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starts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24448" y="4160520"/>
            <a:ext cx="146806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Advisory engagement begins. Modules go live in pre-agreed order.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75397" y="3017520"/>
            <a:ext cx="1742389" cy="30175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75397" y="3017520"/>
            <a:ext cx="1742389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8277" y="3246120"/>
            <a:ext cx="1376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58277" y="3566160"/>
            <a:ext cx="14680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value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58277" y="4160520"/>
            <a:ext cx="146806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 auto-generated from Elevate. SOP register live. Contract gates respected.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09226" y="3017520"/>
            <a:ext cx="1742389" cy="301752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9226" y="3017520"/>
            <a:ext cx="1742389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92106" y="3246120"/>
            <a:ext cx="1376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92106" y="3566160"/>
            <a:ext cx="146806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adoption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92106" y="4160520"/>
            <a:ext cx="146806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in daily use. Old SaaS tools cancelled. Year-2 renewal pre-committed.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audiences. Three asks.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mid-size NGO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4-week Diagnostic Advisory ($15K–$25K). We audit your current stack against your operating reality. You decide whether to deploy Elevate Standard from there.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7315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1188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mid-size NGO grantees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104543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5-to-15 NGO cohort ($50K–$80K per grantee). Donor visibility across all funded grantees. Your money builds operational capacity, not vendor margin.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73152" cy="9144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5488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network or INGO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104543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+ Full Transformation Advisory ($120K–$200K Y1). Multi-tenant deployment across affiliates. Reference architecture is NEAR.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50815" y="6217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market analysis available on request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VERIFICATION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number in this deck is sourced.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claim we make is the verifiable one. Full citation list available with the market analysis document.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PRICING (STITCHED STACK)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Salesforce NPC: Salesforce.com Nonprofit Pack pricing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630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LinkSquares CLM: Bind 2026, Vendr Marketplace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9227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BoardEffect: imBoard 2026 (Diligent property)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2153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ClearPoint Strategy: ClearPoint Strategy publicly listed Professional tier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5079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Onspring: SaaSWorthy 2026 module pricing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Asana Advanced: Asana.com seat pricing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NGO universe: Candid Form 990 dataset 2024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36301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Brazil CSOs: IPEA Mapa das OSCs 2024 (897K active)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3922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India NGOs: NITI Aayog Darpan portal 2023 (187K registered)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4215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adoption gap: Virtuous + Fundraising.AI Q1 2026 (n=400+)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4507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Foundation AI usage: Candid grant-screening survey 2024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OECD ODA decline: OECD DAC April 2026 release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Market Analysis — June 2026.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30-page document with verified pricing, persona research, and competitive landscape. Request via kuja@adeso.org.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Elevate — The operating system for mid-size NGOs</dc:title>
  <dc:subject>Elevate product pitch deck — June 2026</dc:subject>
  <dc:creator>PptxGenJS</dc:creator>
  <cp:lastModifiedBy>PptxGenJS</cp:lastModifiedBy>
  <cp:revision>1</cp:revision>
  <dcterms:created xsi:type="dcterms:W3CDTF">2026-06-18T20:06:23Z</dcterms:created>
  <dcterms:modified xsi:type="dcterms:W3CDTF">2026-06-18T20:06:23Z</dcterms:modified>
</cp:coreProperties>
</file>