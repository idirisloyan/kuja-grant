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 ·  NAIROBI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9728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31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Locally-led funding, at network speed.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products. Built for the Global South.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  ·  June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aid system has been rebuilt in real time.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that define the next decade of locally-led funding.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−23.1%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54864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ODA real-terms decline in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annual decline ever recorded. Germany overtook the US as the #1 donor.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86%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4338218" y="4754880"/>
            <a:ext cx="548640" cy="228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USAID programs terminated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8218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5,341 contracts cancelled · $75.9B in program value · USAID closed July 2025.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154680"/>
            <a:ext cx="3515258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$32B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8036357" y="4754880"/>
            <a:ext cx="54864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48737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foreign aid 2025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36357" y="5276088"/>
            <a:ext cx="35152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~$68B in 2024. Bilateral cuts of 33–56% across UK, Sweden, Canada.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Apr 2026 · Donor Tracker · Reuters · House of Commons Library CBP-10243 · CBC News.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has failed.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pledges. The numbers have not moved.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5272888" cy="283464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Bargain 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funding to local &amp; national actors. Signed by 60+ donors in 2016.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8728" y="3108960"/>
            <a:ext cx="5272888" cy="283464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44488" y="37033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3000" dirty="0"/>
          </a:p>
        </p:txBody>
      </p:sp>
      <p:sp>
        <p:nvSpPr>
          <p:cNvPr id="16" name="Text 14"/>
          <p:cNvSpPr/>
          <p:nvPr/>
        </p:nvSpPr>
        <p:spPr>
          <a:xfrm>
            <a:off x="6644488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direct funding in 2024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4488" y="5623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roughly one-third from 2023 as international actors deprioritized localization.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Development Initiatives — Falling Short: Funding to LNAs (2025); ALNAP GHA Report 2025.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is the operating system for locally-led funding.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371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343400"/>
            <a:ext cx="927480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platform. Four integrated products. Shared customer record, shared Trust Profile, shared AI memory, shared audit chain.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166360"/>
            <a:ext cx="92748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Global South, FOR the Global South. Adeso runs its own operations on it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integrated products on one codebase.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one. Adopt all. The data model is shared either way.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45720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ecosystem connectivity. NGOs publish their Trust Passport; donors discover with AI-grounded recommendations.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NGOs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6064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06064" y="3429000"/>
            <a:ext cx="457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6064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06064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lifecycle. AI-grounded scoring, six-language reporting, hash-anchored audit trail. 35+ AI surfaces in production.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6064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6064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by org type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048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048" y="3429000"/>
            <a:ext cx="457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048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048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mid-size NGOs. Eleven modules replacing 6–10 SaaS tools. Adeso runs on it today.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048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048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+ sponsored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38031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38031" y="3429000"/>
            <a:ext cx="457200" cy="36576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38031" y="3566160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38031" y="4160520"/>
            <a:ext cx="2522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17 finance backbone. Standalone product with opt-in real-time donor visibility via Grant integration.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938031" y="5760720"/>
            <a:ext cx="2613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38031" y="5961888"/>
            <a:ext cx="2613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Donor-sponsored primary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7900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memory  ·  Trust Profile  ·  Audit chain  ·  Customer record  ·  Identity  ·  Six-language parity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1  ·  KUJA GRANT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end-to-end grant lifecycle, AI-grounded.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designs. NGO applies. Reviewers score. Reports are evaluated. Every step grounded with citations.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rubrics, criteria, eligibility — wizard-driven.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with AI co-author drafting from their own profile.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 score per criterion with evidence citations.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029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rules enforced at submit. Audit-anchored decisions.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5532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AI-evaluated against agreement; per-requirement structured signals.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4967935" cy="32918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383280"/>
            <a:ext cx="4419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441929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9000" dirty="0"/>
          </a:p>
        </p:txBody>
      </p:sp>
      <p:sp>
        <p:nvSpPr>
          <p:cNvPr id="27" name="Text 25"/>
          <p:cNvSpPr/>
          <p:nvPr/>
        </p:nvSpPr>
        <p:spPr>
          <a:xfrm>
            <a:off x="6949440" y="4937760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539496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5532120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 ·  Photo-as-evidence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5733288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5934456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6135624"/>
            <a:ext cx="4419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 prod regression  ·  19/19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  ·  KUJA ELEVATE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system for mid-size NGOs.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module families. One platform. Replaces 6–10 stitched SaaS tools.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ClearPoint, Workboard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38218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39386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Asana, Monday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36357" y="3108960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3108960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8211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37525" y="3529584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Salesforce NPC, HubSpot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(CLM)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DocuSign CLM, Ironclad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38218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 Policies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39386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ConvergePoint, PowerDMS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36357" y="3959352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3959352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032504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37525" y="4379976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BoardEffect, Diligent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Foundant, Submittable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38218" y="4809744"/>
            <a:ext cx="3515258" cy="713232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38218" y="4809744"/>
            <a:ext cx="64008" cy="7132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39386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39386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PowerBI / custom dashboards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36357" y="4809744"/>
            <a:ext cx="3515258" cy="713232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6357" y="4809744"/>
            <a:ext cx="6400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7525" y="4882896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37525" y="5230368"/>
            <a:ext cx="3240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Not in incumbent stacks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87044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runs on it today.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reported. Every contract signed. Every board pack generated. Every policy versioned.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ELEVATE WINS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stitched stack costs three times as much.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none of it talks to each other.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943600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54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THE STITCHED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$184K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60120" y="4754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cost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512064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2578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NPC + LinkSquares + BoardEffect + ClearPoint + Onspring + Asana ($129K subscription + $55K implementation). Zero integration. No AI. Six logins.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4693615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154680"/>
            <a:ext cx="4144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ELEVATE STANDARD 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3474720"/>
            <a:ext cx="41449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$30K–$60K</a:t>
            </a:r>
            <a:endParaRPr lang="en-US" sz="7000" dirty="0"/>
          </a:p>
        </p:txBody>
      </p:sp>
      <p:sp>
        <p:nvSpPr>
          <p:cNvPr id="17" name="Text 15"/>
          <p:cNvSpPr/>
          <p:nvPr/>
        </p:nvSpPr>
        <p:spPr>
          <a:xfrm>
            <a:off x="7178040" y="4754880"/>
            <a:ext cx="4144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NGO per year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78040" y="512064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5257800"/>
            <a:ext cx="414497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AI integrated across every module. Single login. Six-language parity. Adeso runs on it today.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One-third to one-quarter the TCO. </a:t>
            </a:r>
            <a:pPr indent="0" marL="0">
              <a:buNone/>
            </a:pPr>
            <a:r>
              <a:rPr lang="en-US" sz="14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AI included. Plus integration. Plus Adeso reference.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21792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Bind 2026 · Vendr Marketplace · imBoard · SaaSWorthy · SmartSuite · G2 · Salesforce / Zeffy. Stitched-stack profile: $10–25M revenue, 100 staff, 15 board.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  ·  KUJA ERP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backbone. Integrated upgrade.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NGO each choose. Both paths are AI-driven. ERP makes the financial data real-time.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84568" y="3063240"/>
            <a:ext cx="4084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+ Kuja ERP  (integrated)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NGO submissions, per criterion,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84568" y="356616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4568" y="416052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91153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54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34640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84568" y="475488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59436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84568" y="5349240"/>
            <a:ext cx="4084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cross-tenant view of the grant-scoped spend across their funded grantees.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pillars. One tamper-evident chain.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funder asks the same question: how do I know? The answer is a URL.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African registries pre-mapped. AI-confidence score on the verification.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38218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38218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8218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38218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live, UN/OFAC/EU fallback. Re-screened on cadence.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36357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6357" y="331012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6357" y="342900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Adverse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36357" y="388620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24-month lookback. Per-finding source citations.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Verification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+ IBAN + microdeposit. Country-specific where the rail exists.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218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 of Interest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38218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signature step. Audit-anchored. OB recusal flow.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36357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36357" y="4818888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6357" y="4937760"/>
            <a:ext cx="3332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Assessment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6357" y="5394960"/>
            <a:ext cx="333237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5-framework. Reusable. Publishable as a tamper-evident Trust Passport.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96188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chain.  </a:t>
            </a:r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governance action links to the previous one. Tamper an entry — every row after breaks.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is universal. Impact is not. The window is open.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nonprofits use AI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9658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429658" y="489204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9658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major organizational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9237" y="3200400"/>
            <a:ext cx="33323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1000" dirty="0"/>
          </a:p>
        </p:txBody>
      </p:sp>
      <p:sp>
        <p:nvSpPr>
          <p:cNvPr id="13" name="Shape 11"/>
          <p:cNvSpPr/>
          <p:nvPr/>
        </p:nvSpPr>
        <p:spPr>
          <a:xfrm>
            <a:off x="8219237" y="4892040"/>
            <a:ext cx="365760" cy="228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9237" y="5029200"/>
            <a:ext cx="31494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foundations NOT yet using AI to screen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bolting AI onto rigid data models. Kuja was built AI-native from day 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Virtuous + Fundraising.AI 2026 · Candid 2024 · Plinth 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gap meets a 150,000-NGO market.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shock is the demand signal.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454298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Form 990 filers (Candid)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897K active CSOs in Brazil (IPEA 2024)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1206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187K NGOs on Darpan India (2023)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band ($1–50M revenue): ~150K–300K globally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68698" y="3017520"/>
            <a:ext cx="3454298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3018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3018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643018" y="4572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3018" y="48920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applied: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3018" y="51206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(Africa, MENA, Asia-Pacific, LatAm)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43018" y="53492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 (stitched-stack pain)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3018" y="5577840"/>
            <a:ext cx="29056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OR donor sponsorship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7317" y="3017520"/>
            <a:ext cx="3454298" cy="32004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29184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 (SAM × ACV)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1637" y="36118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$400M–$2.6B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1637" y="44805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ceiling for Elevate alone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1637" y="4800600"/>
            <a:ext cx="54864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1637" y="493776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2030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71637" y="521208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371637" y="5715000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 needed: &lt;0.5%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has all five — and the platform incumbents would need to rewrite their data models to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customer record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 in module 4 auto-updates the obligation tracker in module 5, surfaces in module 9, rolls into module 10. Stitched stack does none of this without paid integrations.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not AI-bolted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INSIDE every module — extraction, summarization, drafting, evaluation. Incumbents (Submittable, Salesforce Einstein, Bonterra) layer AI onto data models built before the AI 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South-built, six languages parity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FR, AR, SW, SO, ES at the workflow level. Seven African registries pre-mapped. Donor-compliance regimes encoded. Mobile-first.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7288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69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Adeso runs on it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27368" y="4453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user guide is something we operate — not a roadmap. The company building the platform depends on the platform.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+ Advisory together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596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commercial offering that sells the SaaS plus the deployment-and-adoption service as one motion. Buyers don't coordinate six vendors plus a consultant.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motions. Three buyers. Three pricing tiers.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mid-size NGO sales is primary. Donor-sponsored cohorts are secondary. Networks are tertiary.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3515258" cy="502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NGO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45720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Global South NGO ($5M–$25M)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Platform Standard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$30K–$60K / yr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38218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926080"/>
            <a:ext cx="351525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2538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2538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2538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Donor-sponsored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12538" y="4114800"/>
            <a:ext cx="45720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2538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2538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funding grantee cohort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2538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2538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Cohort Bundle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2538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2538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$50K–$80K / grantee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2538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2538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months with foundation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36357" y="292608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6357" y="2926080"/>
            <a:ext cx="3515258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299923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10677" y="3182112"/>
            <a:ext cx="305805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10677" y="3611880"/>
            <a:ext cx="30580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Networks + INGOs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310677" y="4114800"/>
            <a:ext cx="45720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0677" y="4297680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10677" y="4462272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secretariat or INGO HQ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10677" y="4736592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10677" y="4901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 + Custom Advisory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10677" y="5175504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10677" y="534009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$200K+ Year 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10677" y="5614416"/>
            <a:ext cx="305805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10677" y="577900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direct mid-size NGO is the highest-margin customer.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pays everything. CAC is sales + customer success. 3-year LTV mid-point: $300K. LTV/CAC ≥ 4:1.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1752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$130K–$210K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Full Transformation Advisory (one-time)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1752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$40K–$80K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2538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2538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optional Kuja Grant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017520"/>
            <a:ext cx="3515258" cy="24688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1752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246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566160"/>
            <a:ext cx="29666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$45K–$90K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10677" y="47091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value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10677" y="498348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Platform + Grant + optional ERP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LTV: $215K–$380K  ·  Mid: $300K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≥ 4:1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NGO pays everything; only acquisition cost is sales + CS.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Conservative: $7M by 2029. Profitable from H2 2028.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Direct-NGO sales as primary motion. Donor cohorts and networks as compounding layers.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46425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8065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54480" y="3685032"/>
            <a:ext cx="696378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88018" y="36393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6110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54480" y="4306824"/>
            <a:ext cx="197307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4710" y="42611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828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4928616"/>
            <a:ext cx="4062204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53844" y="4882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54480" y="5550408"/>
            <a:ext cx="7253935" cy="365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45575" y="55046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39935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39935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39935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935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39935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on $7M ARR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39935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39935" y="4937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&gt;$12M ARR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Ambitious scenario: $2.4M in 2027, $12M+ in 2029, with $1.5M growth capital injected H2 2026.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ADESO /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Production-deployed today. Adeso runs on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we ship at a pace incumbents cannot match.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5029200" cy="34747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TEST COVERAGE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703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572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50/50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4983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surfaces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5440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91840" y="5852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09067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92608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Adeso's own 9-month operational transformation became Kuja Elevate. We are not selling theory.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7600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493008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co-founded NEAR in 2016. NEAR is the reference architecture for the Networks 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4224528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059936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languages at platform parity. Seven country registries pre-mapped. Mobile-first.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626864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 is integral — not bolted on. Competitors would rewrite their data model to match.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5358384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193792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deploys. 100+ commits in the last sprint.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5925312"/>
            <a:ext cx="164592" cy="16459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760720"/>
            <a:ext cx="51508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tell the truth about risks. NEAR_BACKLOG.md is the open gap list.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the combination.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 verified absent across seven leading grant management systems — Submittable, Foundant (now incl. SmartSimple), Fluxx, Salesforce Grantmaking, Blackbaud, GivingData. Detail in the Kuja Grant Market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6369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78347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(+SmartS.)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93001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07654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2308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36962" y="2286000"/>
            <a:ext cx="11146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1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governance + multi-sig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369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8347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3001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07654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2308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36962" y="274320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127248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729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report 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369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78347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93001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07654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2308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36962" y="312724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511296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5570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369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78347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93001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07654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2308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36962" y="351129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3895344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39410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 / photo accessibility stack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6369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78347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93001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07654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322308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0436962" y="3895344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40080" y="4279392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325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Somali)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6369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978347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093001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207654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22308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436962" y="4279392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663440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9040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6369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978347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93001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8207654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322308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436962" y="4663440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40080" y="5047488"/>
            <a:ext cx="10911535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50932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registry verification (7 countries)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0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486369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978347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093001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8207654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9322308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10436962" y="5047488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0080" y="5431536"/>
            <a:ext cx="10911535" cy="38404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4772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donor visibility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49040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86369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5978347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7093001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207654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9322308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0436962" y="5431536"/>
            <a:ext cx="11146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400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C59"/>
                </a:solidFill>
              </a:rPr>
              <a:t>●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6868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55448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◐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1783080" y="59801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246120" y="59801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4BE"/>
                </a:solidFill>
              </a:rPr>
              <a:t>○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3474720" y="59801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297680" y="5980176"/>
            <a:ext cx="72539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2026. Acknowledged precedents: Glific, Turn.io (WhatsApp middleware); Kobo + CLEAR Global (voice); CommCare (mobile). None do grant lifecycle.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08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011680" y="6400800"/>
            <a:ext cx="7802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V8  ·  Confidential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depends on who you are.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3152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to walk you through our architecture. Then a 6-week tenant pilot.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90-day Grant Pilot ($25K–$50K). Expand to Elevate and ERP.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73152" cy="6858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mid-size NGO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of Elevate Platform Standard. $30K–$60K/yr replaces six tools.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are a growth-stage funder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$1.5M–$2.5M over 18 months. Profitable from 2029 on $7M ARR (Conservative).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65215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— Locally-led funding, at network speed</dc:title>
  <dc:subject>Professional Pitch Deck V9 — June 2026</dc:subject>
  <dc:creator>PptxGenJS</dc:creator>
  <cp:lastModifiedBy>PptxGenJS</cp:lastModifiedBy>
  <cp:revision>1</cp:revision>
  <dcterms:created xsi:type="dcterms:W3CDTF">2026-06-18T19:59:52Z</dcterms:created>
  <dcterms:modified xsi:type="dcterms:W3CDTF">2026-06-18T19:59:52Z</dcterms:modified>
</cp:coreProperties>
</file>